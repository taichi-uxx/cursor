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Yu Gothic"/>
              </a:defRPr>
            </a:pPr>
            <a:r>
              <a:t>田村 太一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Yu Gothic"/>
              </a:defRPr>
            </a:pPr>
            <a:r>
              <a:t>Taichi Tamura  |  Marketing Specialist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事業成長に直結する、広告を中心としたマーケティング支援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Yu Gothic"/>
              </a:defRPr>
            </a:pPr>
            <a:r>
              <a:t>大手代理店での運用経験 × 事業視点の戦略立案 × AI活用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Email: xxxxxxx@xxxxx  |  Tel: xxx-xxxx-xxxx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PROFILE &amp; CAREER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713232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Yu Gothic"/>
              </a:defRPr>
            </a:pPr>
            <a:r>
              <a:t>田村 太一（26歳）</a:t>
            </a:r>
          </a:p>
          <a:p>
            <a:pPr algn="l">
              <a:spcBef>
                <a:spcPts val="400"/>
              </a:spcBef>
              <a:spcAft>
                <a:spcPts val="1000"/>
              </a:spcAft>
              <a:defRPr sz="1300" b="1">
                <a:solidFill>
                  <a:srgbClr val="3B82F6"/>
                </a:solidFill>
                <a:latin typeface="Yu Gothic"/>
              </a:defRPr>
            </a:pPr>
            <a:r>
              <a:t>広告を中心としたマーケティング支援 / AI活用 / データ支援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1E293B"/>
                </a:solidFill>
                <a:latin typeface="Yu Gothic"/>
              </a:defRPr>
            </a:pPr>
          </a:p>
          <a:p>
            <a:pPr algn="l"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株式会社アイレップ（大手総合広告代理店）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デジタル広告運用を担当。1年目の初期からメイン担当として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大規模アカウントの運用に従事。不動産業界を中心に月間2億円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以上の広告予算を運用し、リスティング・ディスプレイ・SNS・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ダイナミック広告・認知広告など幅広い媒体での運用ノウハウを習得。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1E293B"/>
                </a:solidFill>
                <a:latin typeface="Yu Gothic"/>
              </a:defRPr>
            </a:pPr>
          </a:p>
          <a:p>
            <a:pPr algn="l"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REHATCH株式会社（マーケティングSaaS企業）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カスタマーサクセスとして企業のマーケティング支援に従事。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広告運用だけでなく、事業視点での戦略立案・AI活用・データ支援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まで幅広く対応。社員2名・インターン生のマネジメントを経験。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AIを活用した社内業務の効率化推進にも取り組み、業務委託メンバー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Yu Gothic"/>
              </a:defRPr>
            </a:pPr>
            <a:r>
              <a:t>  の面談・ROI管理も担当。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1E293B"/>
                </a:solidFill>
                <a:latin typeface="Yu Gothic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B2A4A"/>
                </a:solidFill>
                <a:latin typeface="Yu Gothic"/>
              </a:defRPr>
            </a:pPr>
            <a:r>
              <a:t>スキル・ツール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Yu Gothic"/>
              </a:defRPr>
            </a:pPr>
            <a:r>
              <a:t>  リスティング / ディスプレイ / SNS広告 / ダイナミック広告 / LPO / CRM・SFA連携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Yu Gothic"/>
              </a:defRPr>
            </a:pPr>
            <a:r>
              <a:t>  ChatGPT / Claude / Claude Code / Cursor / Dify / NotebookLM / Veo3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88920"/>
            <a:ext cx="54864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097280"/>
            <a:ext cx="356616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3474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DC5D0"/>
                </a:solidFill>
                <a:latin typeface="Yu Gothic"/>
              </a:defRPr>
            </a:pPr>
            <a:r>
              <a:t>（写真）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STRENGTHS &amp;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474720" cy="5029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  <a:latin typeface="Yu 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事業視点の戦略立案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2286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単純なCPA改善・CV増加ではなく、</a:t>
            </a:r>
            <a:br/>
            <a:r>
              <a:t>売上・利益に直結するマーケティング</a:t>
            </a:r>
            <a:br/>
            <a:r>
              <a:t>戦略を設計。クライアントの事業構造を</a:t>
            </a:r>
            <a:br/>
            <a:r>
              <a:t>深く理解した上でのアプローチ。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029200"/>
            <a:ext cx="2926080" cy="640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Yu Gothic"/>
              </a:defRPr>
            </a:pPr>
            <a:r>
              <a:t>移管後改善 13/13社 達成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3474720" cy="5029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3716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  <a:latin typeface="Yu Gothic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高度な広告運用力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560320"/>
            <a:ext cx="2286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7432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大手代理店での実務経験を活かした</a:t>
            </a:r>
            <a:br/>
            <a:r>
              <a:t>運用ノウハウ。リスティング・SNS・</a:t>
            </a:r>
            <a:br/>
            <a:r>
              <a:t>ダイナミック広告等の幅広い媒体に対応。</a:t>
            </a:r>
            <a:br/>
            <a:r>
              <a:t>月間2億以上の大規模運用実績。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5029200"/>
            <a:ext cx="2926080" cy="640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074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Yu Gothic"/>
              </a:defRPr>
            </a:pPr>
            <a:r>
              <a:t>月間運用額 2億円以上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474720" cy="5029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  <a:latin typeface="Yu Gothic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AI活用 × マーケティング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560320"/>
            <a:ext cx="2286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7432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ChatGPT・Claude・Cursor等の</a:t>
            </a:r>
            <a:br/>
            <a:r>
              <a:t>AIツールを活用した業務効率化。</a:t>
            </a:r>
            <a:br/>
            <a:r>
              <a:t>データ分析からクリエイティブ制作まで</a:t>
            </a:r>
            <a:br/>
            <a:r>
              <a:t>AIを駆使した支援が可能。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5029200"/>
            <a:ext cx="2926080" cy="640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5074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Yu Gothic"/>
              </a:defRPr>
            </a:pPr>
            <a:r>
              <a:t>AI活用で業務効率を最大化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CASE STUDIES  (1/3)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不動産（売買領域）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運用担当（2名体制） | 月間予算 2億円規模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745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 / SNS / ダイナミック / 認知広告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402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問合せ数：目標・昨対比 130%以上を達成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既存媒体の改善に加え、準顕在層向けの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動画施策や顧客データを活用した機械学習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最適化など新規施策を自ら企画・実行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0972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2618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不動産（法人向け売買領域）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5544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運用担当 | アカウント新規立ち上げ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8745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402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問合せ数：約140%増加を達成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為替変動とリード数の相関関係を独自に発見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為替指標に基づく運用額の動的調整ロジックを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構築し、投資効率を最大化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404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0050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不動産（賃貸管理領域）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2976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運用担当 | アカウント新規立ち上げ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6177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6817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SNS広告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9834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問合せ数：目標・昨対比 120%以上を達成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ゼロからのアカウント設計・構築を担当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マッチタイプ・最適化ポイントの戦略的な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見直しにより、短期間で成果を創出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8404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0050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BtoB（知財系サービス）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2976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6177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SNS広告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834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広告経由リード数・契約数で社内ギネスを達成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業界特有の検索市場構造を深く分析し、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市場特性を最大限活かした運用設計に落とし込み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高いコンバージョン効率を実現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※ 守秘義務の関係上、社名は非公開としております。詳細は個別にご説明いたします。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CASE STUDIES  (2/3)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人材（特化型転職エージェント）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 兼 案件統括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745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SNS / LPO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402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登録CPA：リプレイス後わずか3ヶ月で約50%削減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自社アセットを活用したLP改善を主導し、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CVR 125%に改善。戦略設計から実行まで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一気通貫でプロジェクトを推進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0972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2618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EC（住宅設備・建設資材）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5544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8745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 / SNS / ダイナミック / Instagram運用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402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担当領域経由の売上：260%に伸長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成果に基づき運用費を約4倍まで拡大獲得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潜在〜顕在までのフルファネル施策を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企画・提案から実行まで一気通貫で担当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404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0050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BtoB（SNS拡張ツール）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2976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運用担当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6177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6817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SNS / サイト改善・LPO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9834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広告経由の商談数：1.5倍に伸長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CVR：サイト改善・LPOにより135%に改善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顧客ヒアリング・商談データ・SFデータを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横断的に分析し、運用設計を根本から再構築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840480"/>
            <a:ext cx="548640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0050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店舗系（車整備）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29768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 兼 案件統括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617720"/>
            <a:ext cx="502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リスティング広告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834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CPA：25%改善を達成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車保有人口・高速道路有無・店舗周囲の地形等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の地域特性データを独自に調査・分析し、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エリアごとの配信戦略を精緻に設計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※ 守秘義務の関係上、社名は非公開としております。詳細は個別にご説明いたします。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CASE STUDIES  (3/3)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356616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店舗系（歯科矯正）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20"/>
            <a:ext cx="310896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85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SNS広告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40280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予約CPA：1/3に削減 / 来院CPA：約50%改善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AI技術を活用し動画出演モデル不足を解消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クリエイティブ制作のボトルネックを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テクノロジーで突破した先進的な事例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097280"/>
            <a:ext cx="356616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336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2618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BtoB（領域特化 採用サービス）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874520"/>
            <a:ext cx="310896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19385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 / SNS / 営業支援 / DM / AI活用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240280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リード数 130%・商談数 120%改善を達成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広告領域を超え、営業体制の課題を特定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営業代行施策を企画・実行し、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当施策のみで商談 約50件/月を新規創出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1097280"/>
            <a:ext cx="356616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10972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1000" y="12801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1280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2618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不動産（地域特化 戸建て販売）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 兼 案件統括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1000" y="1874520"/>
            <a:ext cx="310896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19385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 / SNS / 認知 / LINE / IG / WP制作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240280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来店数：145%に増加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広告・SNS・LINE・インフルエンサー・WP制作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などマーケティング全チャネルに横断的に関与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統合的なマーケ施策を設計・ディレクション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840480"/>
            <a:ext cx="356616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005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店舗系（着物）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297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顧客担当 兼 案件統括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617720"/>
            <a:ext cx="310896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817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 / LINE運用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983480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対象ページ CVR：約150%に改善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定量データに加え、定性的なユーザー行動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データも活用したLP改善の仮説検証を設計・実施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データドリブンな改善サイクルを構築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3840480"/>
            <a:ext cx="3566160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23360" y="3840480"/>
            <a:ext cx="6350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51960" y="4023360"/>
            <a:ext cx="36576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519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Yu Gothic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4005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Yu Gothic"/>
              </a:defRPr>
            </a:pPr>
            <a:r>
              <a:t>買取系（商業車）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4297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Yu Gothic"/>
              </a:defRPr>
            </a:pPr>
            <a:r>
              <a:t>運用担当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617720"/>
            <a:ext cx="310896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60" y="46817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リスティング / ディスプレイ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983480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買取単価：20%改善 / 運用費：約3倍に伸長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◆ 市場・商材特性を深く分析した運用設計を構築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問合せ→買取の転換率向上を目的に、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050">
                <a:solidFill>
                  <a:srgbClr val="1E293B"/>
                </a:solidFill>
                <a:latin typeface="Yu Gothic"/>
              </a:defRPr>
            </a:pPr>
            <a:r>
              <a:t>   クリエイティブ・地域・デバイス等を多角的に最適化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Yu Gothic"/>
              </a:defRPr>
            </a:pPr>
            <a:r>
              <a:t>※ 守秘義務の関係上、社名は非公開としております。詳細は個別にご説明いたします。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Yu Gothic"/>
              </a:defRPr>
            </a:pPr>
            <a:r>
              <a:t>SERVICE MENU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2377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63500" cy="2377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広告運用代行・改善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41148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リスティング広告、SNS広告、ディスプレイ広告等の</a:t>
            </a:r>
            <a:br/>
            <a:r>
              <a:t>運用代行および既存アカウントの改善。</a:t>
            </a:r>
            <a:br/>
            <a:r>
              <a:t>媒体選定から入稿・運用・レポーティングまで一貫対応。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1188720"/>
            <a:ext cx="5394960" cy="2377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59" y="1188720"/>
            <a:ext cx="63500" cy="2377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19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マーケティング戦略立案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19" y="2011680"/>
            <a:ext cx="41148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19" y="21945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事業構造の理解に基づくマーケティング戦略の設計。</a:t>
            </a:r>
            <a:br/>
            <a:r>
              <a:t>広告に限らず、CRM/SFA・LP・SEO・SNSなど</a:t>
            </a:r>
            <a:br/>
            <a:r>
              <a:t>統合的なデジタルマーケティング施策を提案。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5394960" cy="2377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3500" cy="2377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データ分析・レポーティング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63440"/>
            <a:ext cx="41148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広告データ・アクセスデータの分析と可視化。</a:t>
            </a:r>
            <a:br/>
            <a:r>
              <a:t>データドリブンな意思決定を支援し、</a:t>
            </a:r>
            <a:br/>
            <a:r>
              <a:t>PDCAサイクルの高速化を実現。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3840480"/>
            <a:ext cx="5394960" cy="2377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3840480"/>
            <a:ext cx="63500" cy="2377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Yu Gothic"/>
              </a:defRPr>
            </a:pPr>
            <a:r>
              <a:t>AI活用コンサルティング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663440"/>
            <a:ext cx="41148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8463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Yu Gothic"/>
              </a:defRPr>
            </a:pPr>
            <a:r>
              <a:t>マーケティング業務におけるAI活用の導入支援。</a:t>
            </a:r>
            <a:br/>
            <a:r>
              <a:t>業務効率化・コスト削減・クリエイティブ制作の</a:t>
            </a:r>
            <a:br/>
            <a:r>
              <a:t>高速化をAIツールで実現。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6400800"/>
            <a:ext cx="5760720" cy="91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Yu Gothic"/>
              </a:defRPr>
            </a:pPr>
            <a:r>
              <a:t>まずはお気軽にご相談ください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