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defRPr sz="1200">
        <a:latin typeface="+mn-lt"/>
        <a:ea typeface="+mn-ea"/>
        <a:cs typeface="+mn-cs"/>
        <a:sym typeface="Calibri"/>
      </a:defRPr>
    </a:lvl1pPr>
    <a:lvl2pPr indent="228600" defTabSz="457200" latinLnBrk="0">
      <a:defRPr sz="1200">
        <a:latin typeface="+mn-lt"/>
        <a:ea typeface="+mn-ea"/>
        <a:cs typeface="+mn-cs"/>
        <a:sym typeface="Calibri"/>
      </a:defRPr>
    </a:lvl2pPr>
    <a:lvl3pPr indent="457200" defTabSz="457200" latinLnBrk="0">
      <a:defRPr sz="1200">
        <a:latin typeface="+mn-lt"/>
        <a:ea typeface="+mn-ea"/>
        <a:cs typeface="+mn-cs"/>
        <a:sym typeface="Calibri"/>
      </a:defRPr>
    </a:lvl3pPr>
    <a:lvl4pPr indent="685800" defTabSz="457200" latinLnBrk="0">
      <a:defRPr sz="1200">
        <a:latin typeface="+mn-lt"/>
        <a:ea typeface="+mn-ea"/>
        <a:cs typeface="+mn-cs"/>
        <a:sym typeface="Calibri"/>
      </a:defRPr>
    </a:lvl4pPr>
    <a:lvl5pPr indent="914400" defTabSz="457200" latinLnBrk="0">
      <a:defRPr sz="1200">
        <a:latin typeface="+mn-lt"/>
        <a:ea typeface="+mn-ea"/>
        <a:cs typeface="+mn-cs"/>
        <a:sym typeface="Calibri"/>
      </a:defRPr>
    </a:lvl5pPr>
    <a:lvl6pPr indent="1143000" defTabSz="457200" latinLnBrk="0">
      <a:defRPr sz="1200">
        <a:latin typeface="+mn-lt"/>
        <a:ea typeface="+mn-ea"/>
        <a:cs typeface="+mn-cs"/>
        <a:sym typeface="Calibri"/>
      </a:defRPr>
    </a:lvl6pPr>
    <a:lvl7pPr indent="1371600" defTabSz="457200" latinLnBrk="0">
      <a:defRPr sz="1200">
        <a:latin typeface="+mn-lt"/>
        <a:ea typeface="+mn-ea"/>
        <a:cs typeface="+mn-cs"/>
        <a:sym typeface="Calibri"/>
      </a:defRPr>
    </a:lvl7pPr>
    <a:lvl8pPr indent="1600200" defTabSz="457200" latinLnBrk="0">
      <a:defRPr sz="1200">
        <a:latin typeface="+mn-lt"/>
        <a:ea typeface="+mn-ea"/>
        <a:cs typeface="+mn-cs"/>
        <a:sym typeface="Calibri"/>
      </a:defRPr>
    </a:lvl8pPr>
    <a:lvl9pPr indent="1828800" defTabSz="457200"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タイトルテキスト"/>
          <p:cNvSpPr txBox="1"/>
          <p:nvPr>
            <p:ph type="title"/>
          </p:nvPr>
        </p:nvSpPr>
        <p:spPr>
          <a:xfrm>
            <a:off x="685800" y="2130425"/>
            <a:ext cx="7772400" cy="1470025"/>
          </a:xfrm>
          <a:prstGeom prst="rect">
            <a:avLst/>
          </a:prstGeom>
        </p:spPr>
        <p:txBody>
          <a:bodyPr/>
          <a:lstStyle/>
          <a:p>
            <a:pPr/>
            <a:r>
              <a:t>タイトルテキスト</a:t>
            </a:r>
          </a:p>
        </p:txBody>
      </p:sp>
      <p:sp>
        <p:nvSpPr>
          <p:cNvPr id="12" name="本文レベル1…"/>
          <p:cNvSpPr txBox="1"/>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pPr/>
            <a:r>
              <a:t>本文レベル1</a:t>
            </a:r>
          </a:p>
          <a:p>
            <a:pPr lvl="1"/>
            <a:r>
              <a:t>本文レベル2</a:t>
            </a:r>
          </a:p>
          <a:p>
            <a:pPr lvl="2"/>
            <a:r>
              <a:t>本文レベル3</a:t>
            </a:r>
          </a:p>
          <a:p>
            <a:pPr lvl="3"/>
            <a:r>
              <a:t>本文レベル4</a:t>
            </a:r>
          </a:p>
          <a:p>
            <a:pPr lvl="4"/>
            <a:r>
              <a:t>本文レベル5</a:t>
            </a:r>
          </a:p>
        </p:txBody>
      </p:sp>
      <p:sp>
        <p:nvSpPr>
          <p:cNvPr id="13"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タイトルテキスト"/>
          <p:cNvSpPr txBox="1"/>
          <p:nvPr>
            <p:ph type="title"/>
          </p:nvPr>
        </p:nvSpPr>
        <p:spPr>
          <a:xfrm>
            <a:off x="457200" y="274638"/>
            <a:ext cx="8229600" cy="1143001"/>
          </a:xfrm>
          <a:prstGeom prst="rect">
            <a:avLst/>
          </a:prstGeom>
        </p:spPr>
        <p:txBody>
          <a:bodyPr/>
          <a:lstStyle/>
          <a:p>
            <a:pPr/>
            <a:r>
              <a:t>タイトルテキスト</a:t>
            </a:r>
          </a:p>
        </p:txBody>
      </p:sp>
      <p:sp>
        <p:nvSpPr>
          <p:cNvPr id="21" name="本文レベル1…"/>
          <p:cNvSpPr txBox="1"/>
          <p:nvPr>
            <p:ph type="body" idx="1"/>
          </p:nvPr>
        </p:nvSpPr>
        <p:spPr>
          <a:xfrm>
            <a:off x="457200" y="1600200"/>
            <a:ext cx="8229600" cy="4525963"/>
          </a:xfrm>
          <a:prstGeom prst="rect">
            <a:avLst/>
          </a:prstGeom>
        </p:spPr>
        <p:txBody>
          <a:bodyPr/>
          <a:lstStyle/>
          <a:p>
            <a:pPr/>
            <a:r>
              <a:t>本文レベル1</a:t>
            </a:r>
          </a:p>
          <a:p>
            <a:pPr lvl="1"/>
            <a:r>
              <a:t>本文レベル2</a:t>
            </a:r>
          </a:p>
          <a:p>
            <a:pPr lvl="2"/>
            <a:r>
              <a:t>本文レベル3</a:t>
            </a:r>
          </a:p>
          <a:p>
            <a:pPr lvl="3"/>
            <a:r>
              <a:t>本文レベル4</a:t>
            </a:r>
          </a:p>
          <a:p>
            <a:pPr lvl="4"/>
            <a:r>
              <a:t>本文レベル5</a:t>
            </a:r>
          </a:p>
        </p:txBody>
      </p:sp>
      <p:sp>
        <p:nvSpPr>
          <p:cNvPr id="22"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タイトルテキスト"/>
          <p:cNvSpPr txBox="1"/>
          <p:nvPr>
            <p:ph type="title"/>
          </p:nvPr>
        </p:nvSpPr>
        <p:spPr>
          <a:xfrm>
            <a:off x="722312" y="4406900"/>
            <a:ext cx="7772401" cy="1362075"/>
          </a:xfrm>
          <a:prstGeom prst="rect">
            <a:avLst/>
          </a:prstGeom>
        </p:spPr>
        <p:txBody>
          <a:bodyPr anchor="t"/>
          <a:lstStyle>
            <a:lvl1pPr algn="l">
              <a:defRPr b="1" cap="all" sz="4000"/>
            </a:lvl1pPr>
          </a:lstStyle>
          <a:p>
            <a:pPr/>
            <a:r>
              <a:t>タイトルテキスト</a:t>
            </a:r>
          </a:p>
        </p:txBody>
      </p:sp>
      <p:sp>
        <p:nvSpPr>
          <p:cNvPr id="30" name="本文レベル1…"/>
          <p:cNvSpPr txBox="1"/>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pPr/>
            <a:r>
              <a:t>本文レベル1</a:t>
            </a:r>
          </a:p>
          <a:p>
            <a:pPr lvl="1"/>
            <a:r>
              <a:t>本文レベル2</a:t>
            </a:r>
          </a:p>
          <a:p>
            <a:pPr lvl="2"/>
            <a:r>
              <a:t>本文レベル3</a:t>
            </a:r>
          </a:p>
          <a:p>
            <a:pPr lvl="3"/>
            <a:r>
              <a:t>本文レベル4</a:t>
            </a:r>
          </a:p>
          <a:p>
            <a:pPr lvl="4"/>
            <a:r>
              <a:t>本文レベル5</a:t>
            </a:r>
          </a:p>
        </p:txBody>
      </p:sp>
      <p:sp>
        <p:nvSpPr>
          <p:cNvPr id="31"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タイトルテキスト"/>
          <p:cNvSpPr txBox="1"/>
          <p:nvPr>
            <p:ph type="title"/>
          </p:nvPr>
        </p:nvSpPr>
        <p:spPr>
          <a:xfrm>
            <a:off x="457200" y="274638"/>
            <a:ext cx="8229600" cy="1143001"/>
          </a:xfrm>
          <a:prstGeom prst="rect">
            <a:avLst/>
          </a:prstGeom>
        </p:spPr>
        <p:txBody>
          <a:bodyPr/>
          <a:lstStyle/>
          <a:p>
            <a:pPr/>
            <a:r>
              <a:t>タイトルテキスト</a:t>
            </a:r>
          </a:p>
        </p:txBody>
      </p:sp>
      <p:sp>
        <p:nvSpPr>
          <p:cNvPr id="39" name="本文レベル1…"/>
          <p:cNvSpPr txBox="1"/>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pPr/>
            <a:r>
              <a:t>本文レベル1</a:t>
            </a:r>
          </a:p>
          <a:p>
            <a:pPr lvl="1"/>
            <a:r>
              <a:t>本文レベル2</a:t>
            </a:r>
          </a:p>
          <a:p>
            <a:pPr lvl="2"/>
            <a:r>
              <a:t>本文レベル3</a:t>
            </a:r>
          </a:p>
          <a:p>
            <a:pPr lvl="3"/>
            <a:r>
              <a:t>本文レベル4</a:t>
            </a:r>
          </a:p>
          <a:p>
            <a:pPr lvl="4"/>
            <a:r>
              <a:t>本文レベル5</a:t>
            </a:r>
          </a:p>
        </p:txBody>
      </p:sp>
      <p:sp>
        <p:nvSpPr>
          <p:cNvPr id="40"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タイトルテキスト"/>
          <p:cNvSpPr txBox="1"/>
          <p:nvPr>
            <p:ph type="title"/>
          </p:nvPr>
        </p:nvSpPr>
        <p:spPr>
          <a:xfrm>
            <a:off x="457200" y="274638"/>
            <a:ext cx="8229600" cy="1143001"/>
          </a:xfrm>
          <a:prstGeom prst="rect">
            <a:avLst/>
          </a:prstGeom>
        </p:spPr>
        <p:txBody>
          <a:bodyPr/>
          <a:lstStyle/>
          <a:p>
            <a:pPr/>
            <a:r>
              <a:t>タイトルテキスト</a:t>
            </a:r>
          </a:p>
        </p:txBody>
      </p:sp>
      <p:sp>
        <p:nvSpPr>
          <p:cNvPr id="48" name="本文レベル1…"/>
          <p:cNvSpPr txBox="1"/>
          <p:nvPr>
            <p:ph type="body" sz="quarter" idx="1"/>
          </p:nvPr>
        </p:nvSpPr>
        <p:spPr>
          <a:xfrm>
            <a:off x="457200" y="1535112"/>
            <a:ext cx="4040188" cy="639763"/>
          </a:xfrm>
          <a:prstGeom prst="rect">
            <a:avLst/>
          </a:prstGeom>
        </p:spPr>
        <p:txBody>
          <a:bodyPr anchor="b"/>
          <a:lstStyle>
            <a:lvl1pPr marL="0" indent="0">
              <a:spcBef>
                <a:spcPts val="500"/>
              </a:spcBef>
              <a:buSzTx/>
              <a:buFontTx/>
              <a:buNone/>
              <a:defRPr b="1" sz="2400"/>
            </a:lvl1pPr>
            <a:lvl2pPr marL="0" indent="457200">
              <a:spcBef>
                <a:spcPts val="500"/>
              </a:spcBef>
              <a:buSzTx/>
              <a:buFontTx/>
              <a:buNone/>
              <a:defRPr b="1" sz="2400"/>
            </a:lvl2pPr>
            <a:lvl3pPr marL="0" indent="914400">
              <a:spcBef>
                <a:spcPts val="500"/>
              </a:spcBef>
              <a:buSzTx/>
              <a:buFontTx/>
              <a:buNone/>
              <a:defRPr b="1" sz="2400"/>
            </a:lvl3pPr>
            <a:lvl4pPr marL="0" indent="1371600">
              <a:spcBef>
                <a:spcPts val="500"/>
              </a:spcBef>
              <a:buSzTx/>
              <a:buFontTx/>
              <a:buNone/>
              <a:defRPr b="1" sz="2400"/>
            </a:lvl4pPr>
            <a:lvl5pPr marL="0" indent="1828800">
              <a:spcBef>
                <a:spcPts val="500"/>
              </a:spcBef>
              <a:buSzTx/>
              <a:buFontTx/>
              <a:buNone/>
              <a:defRPr b="1" sz="2400"/>
            </a:lvl5pPr>
          </a:lstStyle>
          <a:p>
            <a:pPr/>
            <a:r>
              <a:t>本文レベル1</a:t>
            </a:r>
          </a:p>
          <a:p>
            <a:pPr lvl="1"/>
            <a:r>
              <a:t>本文レベル2</a:t>
            </a:r>
          </a:p>
          <a:p>
            <a:pPr lvl="2"/>
            <a:r>
              <a:t>本文レベル3</a:t>
            </a:r>
          </a:p>
          <a:p>
            <a:pPr lvl="3"/>
            <a:r>
              <a:t>本文レベル4</a:t>
            </a:r>
          </a:p>
          <a:p>
            <a:pPr lvl="4"/>
            <a:r>
              <a:t>本文レベル5</a:t>
            </a:r>
          </a:p>
        </p:txBody>
      </p:sp>
      <p:sp>
        <p:nvSpPr>
          <p:cNvPr id="49" name="Text Placeholder 4"/>
          <p:cNvSpPr/>
          <p:nvPr>
            <p:ph type="body" sz="quarter" idx="21"/>
          </p:nvPr>
        </p:nvSpPr>
        <p:spPr>
          <a:xfrm>
            <a:off x="4645025" y="1535112"/>
            <a:ext cx="4041775" cy="639763"/>
          </a:xfrm>
          <a:prstGeom prst="rect">
            <a:avLst/>
          </a:prstGeom>
        </p:spPr>
        <p:txBody>
          <a:bodyPr anchor="b"/>
          <a:lstStyle/>
          <a:p>
            <a:pPr marL="0" indent="0">
              <a:spcBef>
                <a:spcPts val="500"/>
              </a:spcBef>
              <a:buSzTx/>
              <a:buFontTx/>
              <a:buNone/>
              <a:defRPr b="1" sz="2400"/>
            </a:pPr>
          </a:p>
        </p:txBody>
      </p:sp>
      <p:sp>
        <p:nvSpPr>
          <p:cNvPr id="50"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タイトルテキスト"/>
          <p:cNvSpPr txBox="1"/>
          <p:nvPr>
            <p:ph type="title"/>
          </p:nvPr>
        </p:nvSpPr>
        <p:spPr>
          <a:xfrm>
            <a:off x="457200" y="274638"/>
            <a:ext cx="8229600" cy="1143001"/>
          </a:xfrm>
          <a:prstGeom prst="rect">
            <a:avLst/>
          </a:prstGeom>
        </p:spPr>
        <p:txBody>
          <a:bodyPr/>
          <a:lstStyle/>
          <a:p>
            <a:pPr/>
            <a:r>
              <a:t>タイトルテキスト</a:t>
            </a:r>
          </a:p>
        </p:txBody>
      </p:sp>
      <p:sp>
        <p:nvSpPr>
          <p:cNvPr id="58"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タイトルテキスト"/>
          <p:cNvSpPr txBox="1"/>
          <p:nvPr>
            <p:ph type="title"/>
          </p:nvPr>
        </p:nvSpPr>
        <p:spPr>
          <a:xfrm>
            <a:off x="457200" y="273050"/>
            <a:ext cx="3008314" cy="1162050"/>
          </a:xfrm>
          <a:prstGeom prst="rect">
            <a:avLst/>
          </a:prstGeom>
        </p:spPr>
        <p:txBody>
          <a:bodyPr anchor="b"/>
          <a:lstStyle>
            <a:lvl1pPr algn="l">
              <a:defRPr b="1" sz="2000"/>
            </a:lvl1pPr>
          </a:lstStyle>
          <a:p>
            <a:pPr/>
            <a:r>
              <a:t>タイトルテキスト</a:t>
            </a:r>
          </a:p>
        </p:txBody>
      </p:sp>
      <p:sp>
        <p:nvSpPr>
          <p:cNvPr id="73" name="本文レベル1…"/>
          <p:cNvSpPr txBox="1"/>
          <p:nvPr>
            <p:ph type="body" sz="half" idx="1"/>
          </p:nvPr>
        </p:nvSpPr>
        <p:spPr>
          <a:xfrm>
            <a:off x="3575050" y="273050"/>
            <a:ext cx="5111750" cy="5853113"/>
          </a:xfrm>
          <a:prstGeom prst="rect">
            <a:avLst/>
          </a:prstGeom>
        </p:spPr>
        <p:txBody>
          <a:bodyPr/>
          <a:lstStyle/>
          <a:p>
            <a:pPr/>
            <a:r>
              <a:t>本文レベル1</a:t>
            </a:r>
          </a:p>
          <a:p>
            <a:pPr lvl="1"/>
            <a:r>
              <a:t>本文レベル2</a:t>
            </a:r>
          </a:p>
          <a:p>
            <a:pPr lvl="2"/>
            <a:r>
              <a:t>本文レベル3</a:t>
            </a:r>
          </a:p>
          <a:p>
            <a:pPr lvl="3"/>
            <a:r>
              <a:t>本文レベル4</a:t>
            </a:r>
          </a:p>
          <a:p>
            <a:pPr lvl="4"/>
            <a:r>
              <a:t>本文レベル5</a:t>
            </a:r>
          </a:p>
        </p:txBody>
      </p:sp>
      <p:sp>
        <p:nvSpPr>
          <p:cNvPr id="74" name="Text Placeholder 3"/>
          <p:cNvSpPr/>
          <p:nvPr>
            <p:ph type="body" sz="quarter" idx="21"/>
          </p:nvPr>
        </p:nvSpPr>
        <p:spPr>
          <a:xfrm>
            <a:off x="457199" y="1435100"/>
            <a:ext cx="3008315" cy="4691063"/>
          </a:xfrm>
          <a:prstGeom prst="rect">
            <a:avLst/>
          </a:prstGeom>
        </p:spPr>
        <p:txBody>
          <a:bodyPr/>
          <a:lstStyle/>
          <a:p>
            <a:pPr marL="0" indent="0">
              <a:spcBef>
                <a:spcPts val="300"/>
              </a:spcBef>
              <a:buSzTx/>
              <a:buFontTx/>
              <a:buNone/>
              <a:defRPr sz="1400"/>
            </a:pPr>
          </a:p>
        </p:txBody>
      </p:sp>
      <p:sp>
        <p:nvSpPr>
          <p:cNvPr id="75"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タイトルテキスト"/>
          <p:cNvSpPr txBox="1"/>
          <p:nvPr>
            <p:ph type="title"/>
          </p:nvPr>
        </p:nvSpPr>
        <p:spPr>
          <a:xfrm>
            <a:off x="1792288" y="4800600"/>
            <a:ext cx="5486401" cy="566738"/>
          </a:xfrm>
          <a:prstGeom prst="rect">
            <a:avLst/>
          </a:prstGeom>
        </p:spPr>
        <p:txBody>
          <a:bodyPr anchor="b"/>
          <a:lstStyle>
            <a:lvl1pPr algn="l">
              <a:defRPr b="1" sz="2000"/>
            </a:lvl1pPr>
          </a:lstStyle>
          <a:p>
            <a:pPr/>
            <a:r>
              <a:t>タイトルテキスト</a:t>
            </a:r>
          </a:p>
        </p:txBody>
      </p:sp>
      <p:sp>
        <p:nvSpPr>
          <p:cNvPr id="83" name="Picture Placeholder 2"/>
          <p:cNvSpPr/>
          <p:nvPr>
            <p:ph type="pic" sz="half" idx="21"/>
          </p:nvPr>
        </p:nvSpPr>
        <p:spPr>
          <a:xfrm>
            <a:off x="1792288" y="612775"/>
            <a:ext cx="5486401" cy="4114800"/>
          </a:xfrm>
          <a:prstGeom prst="rect">
            <a:avLst/>
          </a:prstGeom>
        </p:spPr>
        <p:txBody>
          <a:bodyPr lIns="91439" rIns="91439">
            <a:noAutofit/>
          </a:bodyPr>
          <a:lstStyle/>
          <a:p>
            <a:pPr/>
          </a:p>
        </p:txBody>
      </p:sp>
      <p:sp>
        <p:nvSpPr>
          <p:cNvPr id="84" name="本文レベル1…"/>
          <p:cNvSpPr txBox="1"/>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pPr/>
            <a:r>
              <a:t>本文レベル1</a:t>
            </a:r>
          </a:p>
          <a:p>
            <a:pPr lvl="1"/>
            <a:r>
              <a:t>本文レベル2</a:t>
            </a:r>
          </a:p>
          <a:p>
            <a:pPr lvl="2"/>
            <a:r>
              <a:t>本文レベル3</a:t>
            </a:r>
          </a:p>
          <a:p>
            <a:pPr lvl="3"/>
            <a:r>
              <a:t>本文レベル4</a:t>
            </a:r>
          </a:p>
          <a:p>
            <a:pPr lvl="4"/>
            <a:r>
              <a:t>本文レベル5</a:t>
            </a:r>
          </a:p>
        </p:txBody>
      </p:sp>
      <p:sp>
        <p:nvSpPr>
          <p:cNvPr id="85"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タイトルテキスト"/>
          <p:cNvSpPr txBox="1"/>
          <p:nvPr>
            <p:ph type="title"/>
          </p:nvPr>
        </p:nvSpPr>
        <p:spPr>
          <a:xfrm>
            <a:off x="608965" y="92074"/>
            <a:ext cx="1096137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タイトルテキスト</a:t>
            </a:r>
          </a:p>
        </p:txBody>
      </p:sp>
      <p:sp>
        <p:nvSpPr>
          <p:cNvPr id="3" name="本文レベル1…"/>
          <p:cNvSpPr txBox="1"/>
          <p:nvPr>
            <p:ph type="body" idx="1"/>
          </p:nvPr>
        </p:nvSpPr>
        <p:spPr>
          <a:xfrm>
            <a:off x="608965" y="1600200"/>
            <a:ext cx="10961370" cy="5257800"/>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本文レベル1</a:t>
            </a:r>
          </a:p>
          <a:p>
            <a:pPr lvl="1"/>
            <a:r>
              <a:t>本文レベル2</a:t>
            </a:r>
          </a:p>
          <a:p>
            <a:pPr lvl="2"/>
            <a:r>
              <a:t>本文レベル3</a:t>
            </a:r>
          </a:p>
          <a:p>
            <a:pPr lvl="3"/>
            <a:r>
              <a:t>本文レベル4</a:t>
            </a:r>
          </a:p>
          <a:p>
            <a:pPr lvl="4"/>
            <a:r>
              <a:t>本文レベル5</a:t>
            </a:r>
          </a:p>
        </p:txBody>
      </p:sp>
      <p:sp>
        <p:nvSpPr>
          <p:cNvPr id="4" name="スライド番号"/>
          <p:cNvSpPr txBox="1"/>
          <p:nvPr>
            <p:ph type="sldNum" sz="quarter" idx="2"/>
          </p:nvPr>
        </p:nvSpPr>
        <p:spPr>
          <a:xfrm>
            <a:off x="8428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1pPr>
      <a:lvl2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2pPr>
      <a:lvl3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3pPr>
      <a:lvl4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4pPr>
      <a:lvl5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5pPr>
      <a:lvl6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6pPr>
      <a:lvl7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7pPr>
      <a:lvl8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8pPr>
      <a:lvl9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9pPr>
    </p:titleStyle>
    <p:bodyStyle>
      <a:lvl1pPr marL="342900" marR="0" indent="-34290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B2A4A"/>
        </a:solidFill>
      </p:bgPr>
    </p:bg>
    <p:spTree>
      <p:nvGrpSpPr>
        <p:cNvPr id="1" name=""/>
        <p:cNvGrpSpPr/>
        <p:nvPr/>
      </p:nvGrpSpPr>
      <p:grpSpPr>
        <a:xfrm>
          <a:off x="0" y="0"/>
          <a:ext cx="0" cy="0"/>
          <a:chOff x="0" y="0"/>
          <a:chExt cx="0" cy="0"/>
        </a:xfrm>
      </p:grpSpPr>
      <p:sp>
        <p:nvSpPr>
          <p:cNvPr id="94" name="Rectangle 1"/>
          <p:cNvSpPr/>
          <p:nvPr/>
        </p:nvSpPr>
        <p:spPr>
          <a:xfrm>
            <a:off x="-1" y="2926079"/>
            <a:ext cx="12191697" cy="50801"/>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5" name="TextBox 2"/>
          <p:cNvSpPr txBox="1"/>
          <p:nvPr/>
        </p:nvSpPr>
        <p:spPr>
          <a:xfrm>
            <a:off x="1417319" y="1371599"/>
            <a:ext cx="9052562" cy="916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5400">
                <a:solidFill>
                  <a:srgbClr val="FFFFFF"/>
                </a:solidFill>
                <a:latin typeface="+mj-lt"/>
                <a:ea typeface="+mj-ea"/>
                <a:cs typeface="+mj-cs"/>
                <a:sym typeface="Helvetica"/>
              </a:defRPr>
            </a:lvl1pPr>
          </a:lstStyle>
          <a:p>
            <a:pPr>
              <a:defRPr b="0">
                <a:latin typeface="游ゴシック体 ボールド"/>
                <a:ea typeface="游ゴシック体 ボールド"/>
                <a:cs typeface="游ゴシック体 ボールド"/>
                <a:sym typeface="游ゴシック体 ボールド"/>
              </a:defRPr>
            </a:pPr>
            <a:r>
              <a:rPr b="1">
                <a:latin typeface="+mj-lt"/>
                <a:ea typeface="+mj-ea"/>
                <a:cs typeface="+mj-cs"/>
                <a:sym typeface="Helvetica"/>
              </a:rPr>
              <a:t>田村 太一</a:t>
            </a:r>
          </a:p>
        </p:txBody>
      </p:sp>
      <p:sp>
        <p:nvSpPr>
          <p:cNvPr id="96" name="TextBox 3"/>
          <p:cNvSpPr txBox="1"/>
          <p:nvPr/>
        </p:nvSpPr>
        <p:spPr>
          <a:xfrm>
            <a:off x="1417319" y="2194560"/>
            <a:ext cx="9052562" cy="3454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000">
                <a:solidFill>
                  <a:srgbClr val="94A3B8"/>
                </a:solidFill>
                <a:latin typeface="游ゴシック体 ミディアム"/>
                <a:ea typeface="游ゴシック体 ミディアム"/>
                <a:cs typeface="游ゴシック体 ミディアム"/>
                <a:sym typeface="游ゴシック体 ミディアム"/>
              </a:defRPr>
            </a:lvl1pPr>
          </a:lstStyle>
          <a:p>
            <a:pPr/>
            <a:r>
              <a:t>Taichi Tamura  |  Marketing Specialist</a:t>
            </a:r>
          </a:p>
        </p:txBody>
      </p:sp>
      <p:sp>
        <p:nvSpPr>
          <p:cNvPr id="97" name="TextBox 4"/>
          <p:cNvSpPr txBox="1"/>
          <p:nvPr/>
        </p:nvSpPr>
        <p:spPr>
          <a:xfrm>
            <a:off x="1417319" y="3474720"/>
            <a:ext cx="9052562" cy="9804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800">
                <a:solidFill>
                  <a:srgbClr val="FFFFFF"/>
                </a:solidFill>
                <a:latin typeface="+mj-lt"/>
                <a:ea typeface="+mj-ea"/>
                <a:cs typeface="+mj-cs"/>
                <a:sym typeface="Helvetica"/>
              </a:defRPr>
            </a:lvl1pPr>
          </a:lstStyle>
          <a:p>
            <a:pPr>
              <a:defRPr b="0">
                <a:latin typeface="游ゴシック体 ボールド"/>
                <a:ea typeface="游ゴシック体 ボールド"/>
                <a:cs typeface="游ゴシック体 ボールド"/>
                <a:sym typeface="游ゴシック体 ボールド"/>
              </a:defRPr>
            </a:pPr>
            <a:r>
              <a:rPr b="1">
                <a:latin typeface="+mj-lt"/>
                <a:ea typeface="+mj-ea"/>
                <a:cs typeface="+mj-cs"/>
                <a:sym typeface="Helvetica"/>
              </a:rPr>
              <a:t>事業成長に直結する、広告を中心としたマーケティング支援</a:t>
            </a:r>
          </a:p>
        </p:txBody>
      </p:sp>
      <p:sp>
        <p:nvSpPr>
          <p:cNvPr id="98" name="TextBox 5"/>
          <p:cNvSpPr txBox="1"/>
          <p:nvPr/>
        </p:nvSpPr>
        <p:spPr>
          <a:xfrm>
            <a:off x="1417319" y="4571999"/>
            <a:ext cx="9052562" cy="332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600">
                <a:solidFill>
                  <a:srgbClr val="94A3B8"/>
                </a:solidFill>
                <a:latin typeface="游ゴシック体 ミディアム"/>
                <a:ea typeface="游ゴシック体 ミディアム"/>
                <a:cs typeface="游ゴシック体 ミディアム"/>
                <a:sym typeface="游ゴシック体 ミディアム"/>
              </a:defRPr>
            </a:pPr>
            <a:r>
              <a:rPr>
                <a:latin typeface="+mj-lt"/>
                <a:ea typeface="+mj-ea"/>
                <a:cs typeface="+mj-cs"/>
                <a:sym typeface="Helvetica"/>
              </a:rPr>
              <a:t>大手代理店での運用経験 </a:t>
            </a:r>
            <a:r>
              <a:t>× </a:t>
            </a:r>
            <a:r>
              <a:rPr>
                <a:latin typeface="+mj-lt"/>
                <a:ea typeface="+mj-ea"/>
                <a:cs typeface="+mj-cs"/>
                <a:sym typeface="Helvetica"/>
              </a:rPr>
              <a:t>事業視点の戦略立案 </a:t>
            </a:r>
            <a:r>
              <a:t>× AI</a:t>
            </a:r>
            <a:r>
              <a:rPr>
                <a:latin typeface="+mj-lt"/>
                <a:ea typeface="+mj-ea"/>
                <a:cs typeface="+mj-cs"/>
                <a:sym typeface="Helvetica"/>
              </a:rPr>
              <a:t>活用</a:t>
            </a:r>
          </a:p>
        </p:txBody>
      </p:sp>
      <p:sp>
        <p:nvSpPr>
          <p:cNvPr id="99" name="TextBox 6"/>
          <p:cNvSpPr txBox="1"/>
          <p:nvPr/>
        </p:nvSpPr>
        <p:spPr>
          <a:xfrm>
            <a:off x="1417319" y="5486400"/>
            <a:ext cx="9052562" cy="26289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300">
                <a:solidFill>
                  <a:srgbClr val="64748B"/>
                </a:solidFill>
                <a:latin typeface="游ゴシック体 ミディアム"/>
                <a:ea typeface="游ゴシック体 ミディアム"/>
                <a:cs typeface="游ゴシック体 ミディアム"/>
                <a:sym typeface="游ゴシック体 ミディアム"/>
              </a:defRPr>
            </a:lvl1pPr>
          </a:lstStyle>
          <a:p>
            <a:pPr/>
            <a:r>
              <a:t>Email: xxxxxxx@xxxxx  |  Tel: xxx-xxxx-xxxx</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1" name="Rectangle 1"/>
          <p:cNvSpPr/>
          <p:nvPr/>
        </p:nvSpPr>
        <p:spPr>
          <a:xfrm>
            <a:off x="-1" y="-1"/>
            <a:ext cx="12191697" cy="822962"/>
          </a:xfrm>
          <a:prstGeom prst="rect">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02" name="TextBox 2"/>
          <p:cNvSpPr txBox="1"/>
          <p:nvPr/>
        </p:nvSpPr>
        <p:spPr>
          <a:xfrm>
            <a:off x="777239" y="137159"/>
            <a:ext cx="9052561" cy="447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800">
                <a:solidFill>
                  <a:srgbClr val="FFFFFF"/>
                </a:solidFill>
                <a:latin typeface="游ゴシック体 ボールド"/>
                <a:ea typeface="游ゴシック体 ボールド"/>
                <a:cs typeface="游ゴシック体 ボールド"/>
                <a:sym typeface="游ゴシック体 ボールド"/>
              </a:defRPr>
            </a:lvl1pPr>
          </a:lstStyle>
          <a:p>
            <a:pPr/>
            <a:r>
              <a:t>PROFILE &amp; CAREER</a:t>
            </a:r>
          </a:p>
        </p:txBody>
      </p:sp>
      <p:sp>
        <p:nvSpPr>
          <p:cNvPr id="103" name="Rectangle 3"/>
          <p:cNvSpPr/>
          <p:nvPr/>
        </p:nvSpPr>
        <p:spPr>
          <a:xfrm>
            <a:off x="548640" y="1097279"/>
            <a:ext cx="7132319" cy="5303522"/>
          </a:xfrm>
          <a:prstGeom prst="rect">
            <a:avLst/>
          </a:prstGeom>
          <a:solidFill>
            <a:srgbClr val="F1F5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04" name="TextBox 4"/>
          <p:cNvSpPr txBox="1"/>
          <p:nvPr/>
        </p:nvSpPr>
        <p:spPr>
          <a:xfrm>
            <a:off x="960119" y="1234439"/>
            <a:ext cx="6309362" cy="51523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solidFill>
                  <a:srgbClr val="1B2A4A"/>
                </a:solidFill>
                <a:latin typeface="游ゴシック体 ボールド"/>
                <a:ea typeface="游ゴシック体 ボールド"/>
                <a:cs typeface="游ゴシック体 ボールド"/>
                <a:sym typeface="游ゴシック体 ボールド"/>
              </a:defRPr>
            </a:pPr>
            <a:r>
              <a:rPr b="1">
                <a:latin typeface="+mj-lt"/>
                <a:ea typeface="+mj-ea"/>
                <a:cs typeface="+mj-cs"/>
                <a:sym typeface="Helvetica"/>
              </a:rPr>
              <a:t>田村 太一（</a:t>
            </a:r>
            <a:r>
              <a:t>26</a:t>
            </a:r>
            <a:r>
              <a:rPr b="1">
                <a:latin typeface="+mj-lt"/>
                <a:ea typeface="+mj-ea"/>
                <a:cs typeface="+mj-cs"/>
                <a:sym typeface="Helvetica"/>
              </a:rPr>
              <a:t>歳）</a:t>
            </a:r>
          </a:p>
          <a:p>
            <a:pPr>
              <a:spcBef>
                <a:spcPts val="1000"/>
              </a:spcBef>
              <a:defRPr sz="1300">
                <a:solidFill>
                  <a:srgbClr val="3B82F6"/>
                </a:solidFill>
                <a:latin typeface="游ゴシック体 ボールド"/>
                <a:ea typeface="游ゴシック体 ボールド"/>
                <a:cs typeface="游ゴシック体 ボールド"/>
                <a:sym typeface="游ゴシック体 ボールド"/>
              </a:defRPr>
            </a:pPr>
            <a:r>
              <a:rPr b="1">
                <a:latin typeface="+mj-lt"/>
                <a:ea typeface="+mj-ea"/>
                <a:cs typeface="+mj-cs"/>
                <a:sym typeface="Helvetica"/>
              </a:rPr>
              <a:t>広告を中心としたマーケティング支援 </a:t>
            </a:r>
            <a:r>
              <a:t>/ AI</a:t>
            </a:r>
            <a:r>
              <a:rPr b="1">
                <a:latin typeface="+mj-lt"/>
                <a:ea typeface="+mj-ea"/>
                <a:cs typeface="+mj-cs"/>
                <a:sym typeface="Helvetica"/>
              </a:rPr>
              <a:t>活用 </a:t>
            </a:r>
            <a:r>
              <a:t>/ </a:t>
            </a:r>
            <a:r>
              <a:rPr b="1">
                <a:latin typeface="+mj-lt"/>
                <a:ea typeface="+mj-ea"/>
                <a:cs typeface="+mj-cs"/>
                <a:sym typeface="Helvetica"/>
              </a:rPr>
              <a:t>データ支援</a:t>
            </a:r>
          </a:p>
          <a:p>
            <a:pPr>
              <a:spcBef>
                <a:spcPts val="600"/>
              </a:spcBef>
              <a:defRPr sz="400">
                <a:solidFill>
                  <a:srgbClr val="1E293B"/>
                </a:solidFill>
                <a:latin typeface="游ゴシック体 ミディアム"/>
                <a:ea typeface="游ゴシック体 ミディアム"/>
                <a:cs typeface="游ゴシック体 ミディアム"/>
                <a:sym typeface="游ゴシック体 ミディアム"/>
              </a:defRPr>
            </a:pPr>
          </a:p>
          <a:p>
            <a:pPr>
              <a:spcBef>
                <a:spcPts val="200"/>
              </a:spcBef>
              <a:defRPr sz="1600">
                <a:solidFill>
                  <a:srgbClr val="1B2A4A"/>
                </a:solidFill>
                <a:latin typeface="游ゴシック体 ボールド"/>
                <a:ea typeface="游ゴシック体 ボールド"/>
                <a:cs typeface="游ゴシック体 ボールド"/>
                <a:sym typeface="游ゴシック体 ボールド"/>
              </a:defRPr>
            </a:pPr>
            <a:r>
              <a:rPr b="1">
                <a:latin typeface="+mj-lt"/>
                <a:ea typeface="+mj-ea"/>
                <a:cs typeface="+mj-cs"/>
                <a:sym typeface="Helvetica"/>
              </a:rPr>
              <a:t>株式会社アイレップ（大手総合広告代理店）</a:t>
            </a:r>
          </a:p>
          <a:p>
            <a:pPr>
              <a:defRPr sz="1200">
                <a:solidFill>
                  <a:srgbClr val="64748B"/>
                </a:solidFill>
                <a:latin typeface="游ゴシック体 ミディアム"/>
                <a:ea typeface="游ゴシック体 ミディアム"/>
                <a:cs typeface="游ゴシック体 ミディアム"/>
                <a:sym typeface="游ゴシック体 ミディアム"/>
              </a:defRPr>
            </a:pPr>
            <a:r>
              <a:rPr>
                <a:latin typeface="+mj-lt"/>
                <a:ea typeface="+mj-ea"/>
                <a:cs typeface="+mj-cs"/>
                <a:sym typeface="Helvetica"/>
              </a:rPr>
              <a:t>  デジタル広告運用を担当。</a:t>
            </a:r>
            <a:r>
              <a:t>1</a:t>
            </a:r>
            <a:r>
              <a:rPr>
                <a:latin typeface="+mj-lt"/>
                <a:ea typeface="+mj-ea"/>
                <a:cs typeface="+mj-cs"/>
                <a:sym typeface="Helvetica"/>
              </a:rPr>
              <a:t>年目の初期からメイン担当として</a:t>
            </a:r>
          </a:p>
          <a:p>
            <a:pPr>
              <a:defRPr sz="1200">
                <a:solidFill>
                  <a:srgbClr val="64748B"/>
                </a:solidFill>
                <a:latin typeface="游ゴシック体 ミディアム"/>
                <a:ea typeface="游ゴシック体 ミディアム"/>
                <a:cs typeface="游ゴシック体 ミディアム"/>
                <a:sym typeface="游ゴシック体 ミディアム"/>
              </a:defRPr>
            </a:pPr>
            <a:r>
              <a:rPr>
                <a:latin typeface="+mj-lt"/>
                <a:ea typeface="+mj-ea"/>
                <a:cs typeface="+mj-cs"/>
                <a:sym typeface="Helvetica"/>
              </a:rPr>
              <a:t>  大規模アカウントの運用に従事。不動産業界を中心に月間</a:t>
            </a:r>
            <a:r>
              <a:t>2</a:t>
            </a:r>
            <a:r>
              <a:rPr>
                <a:latin typeface="+mj-lt"/>
                <a:ea typeface="+mj-ea"/>
                <a:cs typeface="+mj-cs"/>
                <a:sym typeface="Helvetica"/>
              </a:rPr>
              <a:t>億円</a:t>
            </a:r>
          </a:p>
          <a:p>
            <a:pPr>
              <a:defRPr sz="1200">
                <a:solidFill>
                  <a:srgbClr val="64748B"/>
                </a:solidFill>
                <a:latin typeface="游ゴシック体 ミディアム"/>
                <a:ea typeface="游ゴシック体 ミディアム"/>
                <a:cs typeface="游ゴシック体 ミディアム"/>
                <a:sym typeface="游ゴシック体 ミディアム"/>
              </a:defRPr>
            </a:pPr>
            <a:r>
              <a:rPr>
                <a:latin typeface="+mj-lt"/>
                <a:ea typeface="+mj-ea"/>
                <a:cs typeface="+mj-cs"/>
                <a:sym typeface="Helvetica"/>
              </a:rPr>
              <a:t>  以上の広告予算を運用し、リスティング・ディスプレイ・</a:t>
            </a:r>
            <a:r>
              <a:t>SNS</a:t>
            </a:r>
            <a:r>
              <a:rPr>
                <a:latin typeface="+mj-lt"/>
                <a:ea typeface="+mj-ea"/>
                <a:cs typeface="+mj-cs"/>
                <a:sym typeface="Helvetica"/>
              </a:rPr>
              <a:t>・</a:t>
            </a:r>
          </a:p>
          <a:p>
            <a:pPr>
              <a:defRPr sz="1200">
                <a:solidFill>
                  <a:srgbClr val="64748B"/>
                </a:solidFill>
                <a:latin typeface="游ゴシック体 ミディアム"/>
                <a:ea typeface="游ゴシック体 ミディアム"/>
                <a:cs typeface="游ゴシック体 ミディアム"/>
                <a:sym typeface="游ゴシック体 ミディアム"/>
              </a:defRPr>
            </a:pPr>
            <a:r>
              <a:rPr>
                <a:latin typeface="+mj-lt"/>
                <a:ea typeface="+mj-ea"/>
                <a:cs typeface="+mj-cs"/>
                <a:sym typeface="Helvetica"/>
              </a:rPr>
              <a:t>  ダイナミック広告・認知広告など幅広い媒体での運用ノウハウを習得。</a:t>
            </a:r>
          </a:p>
          <a:p>
            <a:pPr>
              <a:spcBef>
                <a:spcPts val="600"/>
              </a:spcBef>
              <a:defRPr sz="400">
                <a:solidFill>
                  <a:srgbClr val="1E293B"/>
                </a:solidFill>
                <a:latin typeface="游ゴシック体 ミディアム"/>
                <a:ea typeface="游ゴシック体 ミディアム"/>
                <a:cs typeface="游ゴシック体 ミディアム"/>
                <a:sym typeface="游ゴシック体 ミディアム"/>
              </a:defRPr>
            </a:pPr>
          </a:p>
          <a:p>
            <a:pPr>
              <a:spcBef>
                <a:spcPts val="200"/>
              </a:spcBef>
              <a:defRPr sz="1600">
                <a:solidFill>
                  <a:srgbClr val="1B2A4A"/>
                </a:solidFill>
                <a:latin typeface="游ゴシック体 ボールド"/>
                <a:ea typeface="游ゴシック体 ボールド"/>
                <a:cs typeface="游ゴシック体 ボールド"/>
                <a:sym typeface="游ゴシック体 ボールド"/>
              </a:defRPr>
            </a:pPr>
            <a:r>
              <a:t>REHATCH</a:t>
            </a:r>
            <a:r>
              <a:rPr b="1">
                <a:latin typeface="+mj-lt"/>
                <a:ea typeface="+mj-ea"/>
                <a:cs typeface="+mj-cs"/>
                <a:sym typeface="Helvetica"/>
              </a:rPr>
              <a:t>株式会社（マーケティング</a:t>
            </a:r>
            <a:r>
              <a:t>SaaS</a:t>
            </a:r>
            <a:r>
              <a:rPr b="1">
                <a:latin typeface="+mj-lt"/>
                <a:ea typeface="+mj-ea"/>
                <a:cs typeface="+mj-cs"/>
                <a:sym typeface="Helvetica"/>
              </a:rPr>
              <a:t>企業）</a:t>
            </a:r>
          </a:p>
          <a:p>
            <a:pPr>
              <a:defRPr sz="1200">
                <a:solidFill>
                  <a:srgbClr val="64748B"/>
                </a:solidFill>
                <a:latin typeface="游ゴシック体 ミディアム"/>
                <a:ea typeface="游ゴシック体 ミディアム"/>
                <a:cs typeface="游ゴシック体 ミディアム"/>
                <a:sym typeface="游ゴシック体 ミディアム"/>
              </a:defRPr>
            </a:pPr>
            <a:r>
              <a:rPr>
                <a:latin typeface="+mj-lt"/>
                <a:ea typeface="+mj-ea"/>
                <a:cs typeface="+mj-cs"/>
                <a:sym typeface="Helvetica"/>
              </a:rPr>
              <a:t>  カスタマーサクセスとして企業のマーケティング支援に従事。</a:t>
            </a:r>
          </a:p>
          <a:p>
            <a:pPr>
              <a:defRPr sz="1200">
                <a:solidFill>
                  <a:srgbClr val="64748B"/>
                </a:solidFill>
                <a:latin typeface="游ゴシック体 ミディアム"/>
                <a:ea typeface="游ゴシック体 ミディアム"/>
                <a:cs typeface="游ゴシック体 ミディアム"/>
                <a:sym typeface="游ゴシック体 ミディアム"/>
              </a:defRPr>
            </a:pPr>
            <a:r>
              <a:rPr>
                <a:latin typeface="+mj-lt"/>
                <a:ea typeface="+mj-ea"/>
                <a:cs typeface="+mj-cs"/>
                <a:sym typeface="Helvetica"/>
              </a:rPr>
              <a:t>  広告運用だけでなく、事業視点での戦略立案・</a:t>
            </a:r>
            <a:r>
              <a:t>AI</a:t>
            </a:r>
            <a:r>
              <a:rPr>
                <a:latin typeface="+mj-lt"/>
                <a:ea typeface="+mj-ea"/>
                <a:cs typeface="+mj-cs"/>
                <a:sym typeface="Helvetica"/>
              </a:rPr>
              <a:t>活用・データ支援</a:t>
            </a:r>
          </a:p>
          <a:p>
            <a:pPr>
              <a:defRPr sz="1200">
                <a:solidFill>
                  <a:srgbClr val="64748B"/>
                </a:solidFill>
                <a:latin typeface="游ゴシック体 ミディアム"/>
                <a:ea typeface="游ゴシック体 ミディアム"/>
                <a:cs typeface="游ゴシック体 ミディアム"/>
                <a:sym typeface="游ゴシック体 ミディアム"/>
              </a:defRPr>
            </a:pPr>
            <a:r>
              <a:rPr>
                <a:latin typeface="+mj-lt"/>
                <a:ea typeface="+mj-ea"/>
                <a:cs typeface="+mj-cs"/>
                <a:sym typeface="Helvetica"/>
              </a:rPr>
              <a:t>  まで幅広く対応。社員</a:t>
            </a:r>
            <a:r>
              <a:t>2</a:t>
            </a:r>
            <a:r>
              <a:rPr>
                <a:latin typeface="+mj-lt"/>
                <a:ea typeface="+mj-ea"/>
                <a:cs typeface="+mj-cs"/>
                <a:sym typeface="Helvetica"/>
              </a:rPr>
              <a:t>名・インターン生のマネジメントを経験。</a:t>
            </a:r>
          </a:p>
          <a:p>
            <a:pPr>
              <a:defRPr sz="1200">
                <a:solidFill>
                  <a:srgbClr val="64748B"/>
                </a:solidFill>
                <a:latin typeface="游ゴシック体 ミディアム"/>
                <a:ea typeface="游ゴシック体 ミディアム"/>
                <a:cs typeface="游ゴシック体 ミディアム"/>
                <a:sym typeface="游ゴシック体 ミディアム"/>
              </a:defRPr>
            </a:pPr>
            <a:r>
              <a:t>  AI</a:t>
            </a:r>
            <a:r>
              <a:rPr>
                <a:latin typeface="+mj-lt"/>
                <a:ea typeface="+mj-ea"/>
                <a:cs typeface="+mj-cs"/>
                <a:sym typeface="Helvetica"/>
              </a:rPr>
              <a:t>を活用した社内業務の効率化推進にも取り組み、業務委託メンバー</a:t>
            </a:r>
          </a:p>
          <a:p>
            <a:pPr>
              <a:defRPr sz="1200">
                <a:solidFill>
                  <a:srgbClr val="64748B"/>
                </a:solidFill>
                <a:latin typeface="游ゴシック体 ミディアム"/>
                <a:ea typeface="游ゴシック体 ミディアム"/>
                <a:cs typeface="游ゴシック体 ミディアム"/>
                <a:sym typeface="游ゴシック体 ミディアム"/>
              </a:defRPr>
            </a:pPr>
            <a:r>
              <a:rPr>
                <a:latin typeface="+mj-lt"/>
                <a:ea typeface="+mj-ea"/>
                <a:cs typeface="+mj-cs"/>
                <a:sym typeface="Helvetica"/>
              </a:rPr>
              <a:t>  の面談・</a:t>
            </a:r>
            <a:r>
              <a:t>ROI</a:t>
            </a:r>
            <a:r>
              <a:rPr>
                <a:latin typeface="+mj-lt"/>
                <a:ea typeface="+mj-ea"/>
                <a:cs typeface="+mj-cs"/>
                <a:sym typeface="Helvetica"/>
              </a:rPr>
              <a:t>管理も担当。</a:t>
            </a:r>
          </a:p>
          <a:p>
            <a:pPr>
              <a:spcBef>
                <a:spcPts val="600"/>
              </a:spcBef>
              <a:defRPr sz="400">
                <a:solidFill>
                  <a:srgbClr val="1E293B"/>
                </a:solidFill>
                <a:latin typeface="游ゴシック体 ミディアム"/>
                <a:ea typeface="游ゴシック体 ミディアム"/>
                <a:cs typeface="游ゴシック体 ミディアム"/>
                <a:sym typeface="游ゴシック体 ミディアム"/>
              </a:defRPr>
            </a:pPr>
          </a:p>
          <a:p>
            <a:pPr>
              <a:spcBef>
                <a:spcPts val="400"/>
              </a:spcBef>
              <a:defRPr sz="1400">
                <a:solidFill>
                  <a:srgbClr val="1B2A4A"/>
                </a:solidFill>
                <a:latin typeface="游ゴシック体 ボールド"/>
                <a:ea typeface="游ゴシック体 ボールド"/>
                <a:cs typeface="游ゴシック体 ボールド"/>
                <a:sym typeface="游ゴシック体 ボールド"/>
              </a:defRPr>
            </a:pPr>
            <a:r>
              <a:rPr b="1">
                <a:latin typeface="+mj-lt"/>
                <a:ea typeface="+mj-ea"/>
                <a:cs typeface="+mj-cs"/>
                <a:sym typeface="Helvetica"/>
              </a:rPr>
              <a:t>スキル・ツール</a:t>
            </a:r>
          </a:p>
          <a:p>
            <a:pPr>
              <a:spcBef>
                <a:spcPts val="200"/>
              </a:spcBef>
              <a:defRPr sz="1100">
                <a:solidFill>
                  <a:srgbClr val="64748B"/>
                </a:solidFill>
                <a:latin typeface="游ゴシック体 ミディアム"/>
                <a:ea typeface="游ゴシック体 ミディアム"/>
                <a:cs typeface="游ゴシック体 ミディアム"/>
                <a:sym typeface="游ゴシック体 ミディアム"/>
              </a:defRPr>
            </a:pPr>
            <a:r>
              <a:rPr>
                <a:latin typeface="+mj-lt"/>
                <a:ea typeface="+mj-ea"/>
                <a:cs typeface="+mj-cs"/>
                <a:sym typeface="Helvetica"/>
              </a:rPr>
              <a:t>  リスティング </a:t>
            </a:r>
            <a:r>
              <a:t>/ </a:t>
            </a:r>
            <a:r>
              <a:rPr>
                <a:latin typeface="+mj-lt"/>
                <a:ea typeface="+mj-ea"/>
                <a:cs typeface="+mj-cs"/>
                <a:sym typeface="Helvetica"/>
              </a:rPr>
              <a:t>ディスプレイ </a:t>
            </a:r>
            <a:r>
              <a:t>/ SNS</a:t>
            </a:r>
            <a:r>
              <a:rPr>
                <a:latin typeface="+mj-lt"/>
                <a:ea typeface="+mj-ea"/>
                <a:cs typeface="+mj-cs"/>
                <a:sym typeface="Helvetica"/>
              </a:rPr>
              <a:t>広告 </a:t>
            </a:r>
            <a:r>
              <a:t>/ </a:t>
            </a:r>
            <a:r>
              <a:rPr>
                <a:latin typeface="+mj-lt"/>
                <a:ea typeface="+mj-ea"/>
                <a:cs typeface="+mj-cs"/>
                <a:sym typeface="Helvetica"/>
              </a:rPr>
              <a:t>ダイナミック広告 </a:t>
            </a:r>
            <a:r>
              <a:t>/ LPO / CRM</a:t>
            </a:r>
            <a:r>
              <a:rPr>
                <a:latin typeface="+mj-lt"/>
                <a:ea typeface="+mj-ea"/>
                <a:cs typeface="+mj-cs"/>
                <a:sym typeface="Helvetica"/>
              </a:rPr>
              <a:t>・</a:t>
            </a:r>
            <a:r>
              <a:t>SFA</a:t>
            </a:r>
            <a:r>
              <a:rPr>
                <a:latin typeface="+mj-lt"/>
                <a:ea typeface="+mj-ea"/>
                <a:cs typeface="+mj-cs"/>
                <a:sym typeface="Helvetica"/>
              </a:rPr>
              <a:t>連携</a:t>
            </a:r>
          </a:p>
          <a:p>
            <a:pPr>
              <a:defRPr sz="1100">
                <a:solidFill>
                  <a:srgbClr val="64748B"/>
                </a:solidFill>
                <a:latin typeface="游ゴシック体 ミディアム"/>
                <a:ea typeface="游ゴシック体 ミディアム"/>
                <a:cs typeface="游ゴシック体 ミディアム"/>
                <a:sym typeface="游ゴシック体 ミディアム"/>
              </a:defRPr>
            </a:pPr>
            <a:r>
              <a:t>  ChatGPT / Claude / Claude Code / Cursor / Dify / NotebookLM / Veo3</a:t>
            </a:r>
          </a:p>
        </p:txBody>
      </p:sp>
      <p:sp>
        <p:nvSpPr>
          <p:cNvPr id="105" name="Rectangle 5"/>
          <p:cNvSpPr/>
          <p:nvPr/>
        </p:nvSpPr>
        <p:spPr>
          <a:xfrm>
            <a:off x="914400" y="2788920"/>
            <a:ext cx="5486400" cy="25401"/>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06" name="Rectangle 6"/>
          <p:cNvSpPr/>
          <p:nvPr/>
        </p:nvSpPr>
        <p:spPr>
          <a:xfrm>
            <a:off x="8046719" y="1097279"/>
            <a:ext cx="3566160" cy="5303522"/>
          </a:xfrm>
          <a:prstGeom prst="rect">
            <a:avLst/>
          </a:prstGeom>
          <a:solidFill>
            <a:srgbClr val="F1F5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07" name="TextBox 7"/>
          <p:cNvSpPr txBox="1"/>
          <p:nvPr/>
        </p:nvSpPr>
        <p:spPr>
          <a:xfrm>
            <a:off x="8092439" y="3474720"/>
            <a:ext cx="3474720" cy="2946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600">
                <a:solidFill>
                  <a:srgbClr val="BDC5D0"/>
                </a:solidFill>
                <a:latin typeface="+mj-lt"/>
                <a:ea typeface="+mj-ea"/>
                <a:cs typeface="+mj-cs"/>
                <a:sym typeface="Helvetica"/>
              </a:defRPr>
            </a:lvl1pPr>
          </a:lstStyle>
          <a:p>
            <a:pPr>
              <a:defRPr>
                <a:latin typeface="游ゴシック体 ミディアム"/>
                <a:ea typeface="游ゴシック体 ミディアム"/>
                <a:cs typeface="游ゴシック体 ミディアム"/>
                <a:sym typeface="游ゴシック体 ミディアム"/>
              </a:defRPr>
            </a:pPr>
            <a:r>
              <a:rPr>
                <a:latin typeface="+mj-lt"/>
                <a:ea typeface="+mj-ea"/>
                <a:cs typeface="+mj-cs"/>
                <a:sym typeface="Helvetica"/>
              </a:rPr>
              <a:t>（写真）</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9" name="Rectangle 1"/>
          <p:cNvSpPr/>
          <p:nvPr/>
        </p:nvSpPr>
        <p:spPr>
          <a:xfrm>
            <a:off x="-1" y="-1"/>
            <a:ext cx="12191697" cy="822962"/>
          </a:xfrm>
          <a:prstGeom prst="rect">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10" name="TextBox 2"/>
          <p:cNvSpPr txBox="1"/>
          <p:nvPr/>
        </p:nvSpPr>
        <p:spPr>
          <a:xfrm>
            <a:off x="777239" y="137159"/>
            <a:ext cx="9052561" cy="447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800">
                <a:solidFill>
                  <a:srgbClr val="FFFFFF"/>
                </a:solidFill>
                <a:latin typeface="游ゴシック体 ボールド"/>
                <a:ea typeface="游ゴシック体 ボールド"/>
                <a:cs typeface="游ゴシック体 ボールド"/>
                <a:sym typeface="游ゴシック体 ボールド"/>
              </a:defRPr>
            </a:lvl1pPr>
          </a:lstStyle>
          <a:p>
            <a:pPr/>
            <a:r>
              <a:t>STRENGTHS &amp; VALUE</a:t>
            </a:r>
          </a:p>
        </p:txBody>
      </p:sp>
      <p:sp>
        <p:nvSpPr>
          <p:cNvPr id="111" name="Rectangle 3"/>
          <p:cNvSpPr/>
          <p:nvPr/>
        </p:nvSpPr>
        <p:spPr>
          <a:xfrm>
            <a:off x="548639" y="1188719"/>
            <a:ext cx="3474722" cy="5029201"/>
          </a:xfrm>
          <a:prstGeom prst="rect">
            <a:avLst/>
          </a:prstGeom>
          <a:solidFill>
            <a:srgbClr val="F1F5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12" name="TextBox 4"/>
          <p:cNvSpPr txBox="1"/>
          <p:nvPr/>
        </p:nvSpPr>
        <p:spPr>
          <a:xfrm>
            <a:off x="868680" y="1371599"/>
            <a:ext cx="822961" cy="548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3600">
                <a:solidFill>
                  <a:srgbClr val="3B82F6"/>
                </a:solidFill>
                <a:latin typeface="游ゴシック体 ボールド"/>
                <a:ea typeface="游ゴシック体 ボールド"/>
                <a:cs typeface="游ゴシック体 ボールド"/>
                <a:sym typeface="游ゴシック体 ボールド"/>
              </a:defRPr>
            </a:lvl1pPr>
          </a:lstStyle>
          <a:p>
            <a:pPr/>
            <a:r>
              <a:t>01</a:t>
            </a:r>
          </a:p>
        </p:txBody>
      </p:sp>
      <p:sp>
        <p:nvSpPr>
          <p:cNvPr id="113" name="TextBox 5"/>
          <p:cNvSpPr txBox="1"/>
          <p:nvPr/>
        </p:nvSpPr>
        <p:spPr>
          <a:xfrm>
            <a:off x="868679" y="2011679"/>
            <a:ext cx="2834642" cy="34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1B2A4A"/>
                </a:solidFill>
                <a:latin typeface="+mj-lt"/>
                <a:ea typeface="+mj-ea"/>
                <a:cs typeface="+mj-cs"/>
                <a:sym typeface="Helvetica"/>
              </a:defRPr>
            </a:lvl1pPr>
          </a:lstStyle>
          <a:p>
            <a:pPr>
              <a:defRPr b="0">
                <a:latin typeface="游ゴシック体 ボールド"/>
                <a:ea typeface="游ゴシック体 ボールド"/>
                <a:cs typeface="游ゴシック体 ボールド"/>
                <a:sym typeface="游ゴシック体 ボールド"/>
              </a:defRPr>
            </a:pPr>
            <a:r>
              <a:rPr b="1">
                <a:latin typeface="+mj-lt"/>
                <a:ea typeface="+mj-ea"/>
                <a:cs typeface="+mj-cs"/>
                <a:sym typeface="Helvetica"/>
              </a:rPr>
              <a:t>事業視点の戦略立案</a:t>
            </a:r>
          </a:p>
        </p:txBody>
      </p:sp>
      <p:sp>
        <p:nvSpPr>
          <p:cNvPr id="114" name="Rectangle 6"/>
          <p:cNvSpPr/>
          <p:nvPr/>
        </p:nvSpPr>
        <p:spPr>
          <a:xfrm>
            <a:off x="822960" y="2560320"/>
            <a:ext cx="2286001" cy="38101"/>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15" name="TextBox 7"/>
          <p:cNvSpPr txBox="1"/>
          <p:nvPr/>
        </p:nvSpPr>
        <p:spPr>
          <a:xfrm>
            <a:off x="868679" y="2743200"/>
            <a:ext cx="2834642" cy="1628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300">
                <a:solidFill>
                  <a:srgbClr val="64748B"/>
                </a:solidFill>
                <a:latin typeface="游ゴシック体 ミディアム"/>
                <a:ea typeface="游ゴシック体 ミディアム"/>
                <a:cs typeface="游ゴシック体 ミディアム"/>
                <a:sym typeface="游ゴシック体 ミディアム"/>
              </a:defRPr>
            </a:pPr>
            <a:r>
              <a:rPr>
                <a:latin typeface="+mj-lt"/>
                <a:ea typeface="+mj-ea"/>
                <a:cs typeface="+mj-cs"/>
                <a:sym typeface="Helvetica"/>
              </a:rPr>
              <a:t>単純な</a:t>
            </a:r>
            <a:r>
              <a:t>CPA</a:t>
            </a:r>
            <a:r>
              <a:rPr>
                <a:latin typeface="+mj-lt"/>
                <a:ea typeface="+mj-ea"/>
                <a:cs typeface="+mj-cs"/>
                <a:sym typeface="Helvetica"/>
              </a:rPr>
              <a:t>改善・</a:t>
            </a:r>
            <a:r>
              <a:t>CV</a:t>
            </a:r>
            <a:r>
              <a:rPr>
                <a:latin typeface="+mj-lt"/>
                <a:ea typeface="+mj-ea"/>
                <a:cs typeface="+mj-cs"/>
                <a:sym typeface="Helvetica"/>
              </a:rPr>
              <a:t>増加ではなく、</a:t>
            </a:r>
            <a:br>
              <a:rPr>
                <a:latin typeface="+mj-lt"/>
                <a:ea typeface="+mj-ea"/>
                <a:cs typeface="+mj-cs"/>
                <a:sym typeface="Helvetica"/>
              </a:rPr>
            </a:br>
            <a:r>
              <a:rPr>
                <a:latin typeface="+mj-lt"/>
                <a:ea typeface="+mj-ea"/>
                <a:cs typeface="+mj-cs"/>
                <a:sym typeface="Helvetica"/>
              </a:rPr>
              <a:t>売上・利益に直結するマーケティング</a:t>
            </a:r>
            <a:br>
              <a:rPr>
                <a:latin typeface="+mj-lt"/>
                <a:ea typeface="+mj-ea"/>
                <a:cs typeface="+mj-cs"/>
                <a:sym typeface="Helvetica"/>
              </a:rPr>
            </a:br>
            <a:r>
              <a:rPr>
                <a:latin typeface="+mj-lt"/>
                <a:ea typeface="+mj-ea"/>
                <a:cs typeface="+mj-cs"/>
                <a:sym typeface="Helvetica"/>
              </a:rPr>
              <a:t>戦略を設計。クライアントの事業構造を</a:t>
            </a:r>
            <a:br>
              <a:rPr>
                <a:latin typeface="+mj-lt"/>
                <a:ea typeface="+mj-ea"/>
                <a:cs typeface="+mj-cs"/>
                <a:sym typeface="Helvetica"/>
              </a:rPr>
            </a:br>
            <a:r>
              <a:rPr>
                <a:latin typeface="+mj-lt"/>
                <a:ea typeface="+mj-ea"/>
                <a:cs typeface="+mj-cs"/>
                <a:sym typeface="Helvetica"/>
              </a:rPr>
              <a:t>深く理解した上でのアプローチ。</a:t>
            </a:r>
          </a:p>
        </p:txBody>
      </p:sp>
      <p:sp>
        <p:nvSpPr>
          <p:cNvPr id="116" name="Rectangle 8"/>
          <p:cNvSpPr/>
          <p:nvPr/>
        </p:nvSpPr>
        <p:spPr>
          <a:xfrm>
            <a:off x="822959" y="5029199"/>
            <a:ext cx="2926082" cy="640082"/>
          </a:xfrm>
          <a:prstGeom prst="rect">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17" name="TextBox 9"/>
          <p:cNvSpPr txBox="1"/>
          <p:nvPr/>
        </p:nvSpPr>
        <p:spPr>
          <a:xfrm>
            <a:off x="868679" y="5074920"/>
            <a:ext cx="2834642" cy="294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1300">
                <a:solidFill>
                  <a:srgbClr val="FFFFFF"/>
                </a:solidFill>
                <a:latin typeface="游ゴシック体 ボールド"/>
                <a:ea typeface="游ゴシック体 ボールド"/>
                <a:cs typeface="游ゴシック体 ボールド"/>
                <a:sym typeface="游ゴシック体 ボールド"/>
              </a:defRPr>
            </a:pPr>
            <a:r>
              <a:rPr b="1">
                <a:latin typeface="+mj-lt"/>
                <a:ea typeface="+mj-ea"/>
                <a:cs typeface="+mj-cs"/>
                <a:sym typeface="Helvetica"/>
              </a:rPr>
              <a:t>移管後改善 </a:t>
            </a:r>
            <a:r>
              <a:t>13/13</a:t>
            </a:r>
            <a:r>
              <a:rPr b="1">
                <a:latin typeface="+mj-lt"/>
                <a:ea typeface="+mj-ea"/>
                <a:cs typeface="+mj-cs"/>
                <a:sym typeface="Helvetica"/>
              </a:rPr>
              <a:t>社 達成</a:t>
            </a:r>
          </a:p>
        </p:txBody>
      </p:sp>
      <p:sp>
        <p:nvSpPr>
          <p:cNvPr id="118" name="Rectangle 10"/>
          <p:cNvSpPr/>
          <p:nvPr/>
        </p:nvSpPr>
        <p:spPr>
          <a:xfrm>
            <a:off x="4389120" y="1188719"/>
            <a:ext cx="3474721" cy="5029201"/>
          </a:xfrm>
          <a:prstGeom prst="rect">
            <a:avLst/>
          </a:prstGeom>
          <a:solidFill>
            <a:srgbClr val="F1F5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19" name="TextBox 11"/>
          <p:cNvSpPr txBox="1"/>
          <p:nvPr/>
        </p:nvSpPr>
        <p:spPr>
          <a:xfrm>
            <a:off x="4709160" y="1371599"/>
            <a:ext cx="822961" cy="548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3600">
                <a:solidFill>
                  <a:srgbClr val="3B82F6"/>
                </a:solidFill>
                <a:latin typeface="游ゴシック体 ボールド"/>
                <a:ea typeface="游ゴシック体 ボールド"/>
                <a:cs typeface="游ゴシック体 ボールド"/>
                <a:sym typeface="游ゴシック体 ボールド"/>
              </a:defRPr>
            </a:lvl1pPr>
          </a:lstStyle>
          <a:p>
            <a:pPr/>
            <a:r>
              <a:t>02</a:t>
            </a:r>
          </a:p>
        </p:txBody>
      </p:sp>
      <p:sp>
        <p:nvSpPr>
          <p:cNvPr id="120" name="TextBox 12"/>
          <p:cNvSpPr txBox="1"/>
          <p:nvPr/>
        </p:nvSpPr>
        <p:spPr>
          <a:xfrm>
            <a:off x="4709160" y="2011679"/>
            <a:ext cx="2834641" cy="34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1B2A4A"/>
                </a:solidFill>
                <a:latin typeface="+mj-lt"/>
                <a:ea typeface="+mj-ea"/>
                <a:cs typeface="+mj-cs"/>
                <a:sym typeface="Helvetica"/>
              </a:defRPr>
            </a:lvl1pPr>
          </a:lstStyle>
          <a:p>
            <a:pPr>
              <a:defRPr b="0">
                <a:latin typeface="游ゴシック体 ボールド"/>
                <a:ea typeface="游ゴシック体 ボールド"/>
                <a:cs typeface="游ゴシック体 ボールド"/>
                <a:sym typeface="游ゴシック体 ボールド"/>
              </a:defRPr>
            </a:pPr>
            <a:r>
              <a:rPr b="1">
                <a:latin typeface="+mj-lt"/>
                <a:ea typeface="+mj-ea"/>
                <a:cs typeface="+mj-cs"/>
                <a:sym typeface="Helvetica"/>
              </a:rPr>
              <a:t>高度な広告運用力</a:t>
            </a:r>
          </a:p>
        </p:txBody>
      </p:sp>
      <p:sp>
        <p:nvSpPr>
          <p:cNvPr id="121" name="Rectangle 13"/>
          <p:cNvSpPr/>
          <p:nvPr/>
        </p:nvSpPr>
        <p:spPr>
          <a:xfrm>
            <a:off x="4663440" y="2560320"/>
            <a:ext cx="2286001" cy="38101"/>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22" name="TextBox 14"/>
          <p:cNvSpPr txBox="1"/>
          <p:nvPr/>
        </p:nvSpPr>
        <p:spPr>
          <a:xfrm>
            <a:off x="4709160" y="2743200"/>
            <a:ext cx="2834641" cy="1628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300">
                <a:solidFill>
                  <a:srgbClr val="64748B"/>
                </a:solidFill>
                <a:latin typeface="游ゴシック体 ミディアム"/>
                <a:ea typeface="游ゴシック体 ミディアム"/>
                <a:cs typeface="游ゴシック体 ミディアム"/>
                <a:sym typeface="游ゴシック体 ミディアム"/>
              </a:defRPr>
            </a:pPr>
            <a:r>
              <a:rPr>
                <a:latin typeface="+mj-lt"/>
                <a:ea typeface="+mj-ea"/>
                <a:cs typeface="+mj-cs"/>
                <a:sym typeface="Helvetica"/>
              </a:rPr>
              <a:t>大手代理店での実務経験を活かした</a:t>
            </a:r>
            <a:br>
              <a:rPr>
                <a:latin typeface="+mj-lt"/>
                <a:ea typeface="+mj-ea"/>
                <a:cs typeface="+mj-cs"/>
                <a:sym typeface="Helvetica"/>
              </a:rPr>
            </a:br>
            <a:r>
              <a:rPr>
                <a:latin typeface="+mj-lt"/>
                <a:ea typeface="+mj-ea"/>
                <a:cs typeface="+mj-cs"/>
                <a:sym typeface="Helvetica"/>
              </a:rPr>
              <a:t>運用ノウハウ。リスティング・</a:t>
            </a:r>
            <a:r>
              <a:t>SNS</a:t>
            </a:r>
            <a:r>
              <a:rPr>
                <a:latin typeface="+mj-lt"/>
                <a:ea typeface="+mj-ea"/>
                <a:cs typeface="+mj-cs"/>
                <a:sym typeface="Helvetica"/>
              </a:rPr>
              <a:t>・</a:t>
            </a:r>
            <a:br>
              <a:rPr>
                <a:latin typeface="+mj-lt"/>
                <a:ea typeface="+mj-ea"/>
                <a:cs typeface="+mj-cs"/>
                <a:sym typeface="Helvetica"/>
              </a:rPr>
            </a:br>
            <a:r>
              <a:rPr>
                <a:latin typeface="+mj-lt"/>
                <a:ea typeface="+mj-ea"/>
                <a:cs typeface="+mj-cs"/>
                <a:sym typeface="Helvetica"/>
              </a:rPr>
              <a:t>ダイナミック広告等の幅広い媒体に対応。</a:t>
            </a:r>
            <a:br>
              <a:rPr>
                <a:latin typeface="+mj-lt"/>
                <a:ea typeface="+mj-ea"/>
                <a:cs typeface="+mj-cs"/>
                <a:sym typeface="Helvetica"/>
              </a:rPr>
            </a:br>
            <a:r>
              <a:rPr>
                <a:latin typeface="+mj-lt"/>
                <a:ea typeface="+mj-ea"/>
                <a:cs typeface="+mj-cs"/>
                <a:sym typeface="Helvetica"/>
              </a:rPr>
              <a:t>月間</a:t>
            </a:r>
            <a:r>
              <a:t>2</a:t>
            </a:r>
            <a:r>
              <a:rPr>
                <a:latin typeface="+mj-lt"/>
                <a:ea typeface="+mj-ea"/>
                <a:cs typeface="+mj-cs"/>
                <a:sym typeface="Helvetica"/>
              </a:rPr>
              <a:t>億以上の大規模運用実績。</a:t>
            </a:r>
          </a:p>
        </p:txBody>
      </p:sp>
      <p:sp>
        <p:nvSpPr>
          <p:cNvPr id="123" name="Rectangle 15"/>
          <p:cNvSpPr/>
          <p:nvPr/>
        </p:nvSpPr>
        <p:spPr>
          <a:xfrm>
            <a:off x="4663440" y="5029199"/>
            <a:ext cx="2926081" cy="640082"/>
          </a:xfrm>
          <a:prstGeom prst="rect">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24" name="TextBox 16"/>
          <p:cNvSpPr txBox="1"/>
          <p:nvPr/>
        </p:nvSpPr>
        <p:spPr>
          <a:xfrm>
            <a:off x="4709160" y="5074920"/>
            <a:ext cx="2834641" cy="294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1300">
                <a:solidFill>
                  <a:srgbClr val="FFFFFF"/>
                </a:solidFill>
                <a:latin typeface="游ゴシック体 ボールド"/>
                <a:ea typeface="游ゴシック体 ボールド"/>
                <a:cs typeface="游ゴシック体 ボールド"/>
                <a:sym typeface="游ゴシック体 ボールド"/>
              </a:defRPr>
            </a:pPr>
            <a:r>
              <a:rPr b="1">
                <a:latin typeface="+mj-lt"/>
                <a:ea typeface="+mj-ea"/>
                <a:cs typeface="+mj-cs"/>
                <a:sym typeface="Helvetica"/>
              </a:rPr>
              <a:t>月間運用額 </a:t>
            </a:r>
            <a:r>
              <a:t>2</a:t>
            </a:r>
            <a:r>
              <a:rPr b="1">
                <a:latin typeface="+mj-lt"/>
                <a:ea typeface="+mj-ea"/>
                <a:cs typeface="+mj-cs"/>
                <a:sym typeface="Helvetica"/>
              </a:rPr>
              <a:t>億円以上</a:t>
            </a:r>
          </a:p>
        </p:txBody>
      </p:sp>
      <p:sp>
        <p:nvSpPr>
          <p:cNvPr id="125" name="Rectangle 17"/>
          <p:cNvSpPr/>
          <p:nvPr/>
        </p:nvSpPr>
        <p:spPr>
          <a:xfrm>
            <a:off x="8229599" y="1188719"/>
            <a:ext cx="3474722" cy="5029201"/>
          </a:xfrm>
          <a:prstGeom prst="rect">
            <a:avLst/>
          </a:prstGeom>
          <a:solidFill>
            <a:srgbClr val="F1F5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26" name="TextBox 18"/>
          <p:cNvSpPr txBox="1"/>
          <p:nvPr/>
        </p:nvSpPr>
        <p:spPr>
          <a:xfrm>
            <a:off x="8549639" y="1371599"/>
            <a:ext cx="822961" cy="548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3600">
                <a:solidFill>
                  <a:srgbClr val="3B82F6"/>
                </a:solidFill>
                <a:latin typeface="游ゴシック体 ボールド"/>
                <a:ea typeface="游ゴシック体 ボールド"/>
                <a:cs typeface="游ゴシック体 ボールド"/>
                <a:sym typeface="游ゴシック体 ボールド"/>
              </a:defRPr>
            </a:lvl1pPr>
          </a:lstStyle>
          <a:p>
            <a:pPr/>
            <a:r>
              <a:t>03</a:t>
            </a:r>
          </a:p>
        </p:txBody>
      </p:sp>
      <p:sp>
        <p:nvSpPr>
          <p:cNvPr id="127" name="TextBox 19"/>
          <p:cNvSpPr txBox="1"/>
          <p:nvPr/>
        </p:nvSpPr>
        <p:spPr>
          <a:xfrm>
            <a:off x="8549639" y="2011679"/>
            <a:ext cx="2834641" cy="777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000">
                <a:solidFill>
                  <a:srgbClr val="1B2A4A"/>
                </a:solidFill>
                <a:latin typeface="游ゴシック体 ボールド"/>
                <a:ea typeface="游ゴシック体 ボールド"/>
                <a:cs typeface="游ゴシック体 ボールド"/>
                <a:sym typeface="游ゴシック体 ボールド"/>
              </a:defRPr>
            </a:pPr>
            <a:r>
              <a:t>AI</a:t>
            </a:r>
            <a:r>
              <a:rPr b="1">
                <a:latin typeface="+mj-lt"/>
                <a:ea typeface="+mj-ea"/>
                <a:cs typeface="+mj-cs"/>
                <a:sym typeface="Helvetica"/>
              </a:rPr>
              <a:t>活用 </a:t>
            </a:r>
            <a:r>
              <a:t>× </a:t>
            </a:r>
            <a:r>
              <a:rPr b="1">
                <a:latin typeface="+mj-lt"/>
                <a:ea typeface="+mj-ea"/>
                <a:cs typeface="+mj-cs"/>
                <a:sym typeface="Helvetica"/>
              </a:rPr>
              <a:t>マーケティング</a:t>
            </a:r>
          </a:p>
        </p:txBody>
      </p:sp>
      <p:sp>
        <p:nvSpPr>
          <p:cNvPr id="128" name="Rectangle 20"/>
          <p:cNvSpPr/>
          <p:nvPr/>
        </p:nvSpPr>
        <p:spPr>
          <a:xfrm>
            <a:off x="8503919" y="2560320"/>
            <a:ext cx="2286001" cy="38101"/>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29" name="TextBox 21"/>
          <p:cNvSpPr txBox="1"/>
          <p:nvPr/>
        </p:nvSpPr>
        <p:spPr>
          <a:xfrm>
            <a:off x="8549639" y="2743200"/>
            <a:ext cx="2834641" cy="1374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300">
                <a:solidFill>
                  <a:srgbClr val="64748B"/>
                </a:solidFill>
                <a:latin typeface="游ゴシック体 ミディアム"/>
                <a:ea typeface="游ゴシック体 ミディアム"/>
                <a:cs typeface="游ゴシック体 ミディアム"/>
                <a:sym typeface="游ゴシック体 ミディアム"/>
              </a:defRPr>
            </a:pPr>
            <a:r>
              <a:t>ChatGPT</a:t>
            </a:r>
            <a:r>
              <a:rPr>
                <a:latin typeface="+mj-lt"/>
                <a:ea typeface="+mj-ea"/>
                <a:cs typeface="+mj-cs"/>
                <a:sym typeface="Helvetica"/>
              </a:rPr>
              <a:t>・</a:t>
            </a:r>
            <a:r>
              <a:t>Claude</a:t>
            </a:r>
            <a:r>
              <a:rPr>
                <a:latin typeface="+mj-lt"/>
                <a:ea typeface="+mj-ea"/>
                <a:cs typeface="+mj-cs"/>
                <a:sym typeface="Helvetica"/>
              </a:rPr>
              <a:t>・</a:t>
            </a:r>
            <a:r>
              <a:t>Cursor</a:t>
            </a:r>
            <a:r>
              <a:rPr>
                <a:latin typeface="+mj-lt"/>
                <a:ea typeface="+mj-ea"/>
                <a:cs typeface="+mj-cs"/>
                <a:sym typeface="Helvetica"/>
              </a:rPr>
              <a:t>等の</a:t>
            </a:r>
            <a:br>
              <a:rPr>
                <a:latin typeface="+mj-lt"/>
                <a:ea typeface="+mj-ea"/>
                <a:cs typeface="+mj-cs"/>
                <a:sym typeface="Helvetica"/>
              </a:rPr>
            </a:br>
            <a:r>
              <a:t>AI</a:t>
            </a:r>
            <a:r>
              <a:rPr>
                <a:latin typeface="+mj-lt"/>
                <a:ea typeface="+mj-ea"/>
                <a:cs typeface="+mj-cs"/>
                <a:sym typeface="Helvetica"/>
              </a:rPr>
              <a:t>ツールを活用した業務効率化。</a:t>
            </a:r>
            <a:br>
              <a:rPr>
                <a:latin typeface="+mj-lt"/>
                <a:ea typeface="+mj-ea"/>
                <a:cs typeface="+mj-cs"/>
                <a:sym typeface="Helvetica"/>
              </a:rPr>
            </a:br>
            <a:r>
              <a:rPr>
                <a:latin typeface="+mj-lt"/>
                <a:ea typeface="+mj-ea"/>
                <a:cs typeface="+mj-cs"/>
                <a:sym typeface="Helvetica"/>
              </a:rPr>
              <a:t>データ分析からクリエイティブ制作まで</a:t>
            </a:r>
            <a:br>
              <a:rPr>
                <a:latin typeface="+mj-lt"/>
                <a:ea typeface="+mj-ea"/>
                <a:cs typeface="+mj-cs"/>
                <a:sym typeface="Helvetica"/>
              </a:rPr>
            </a:br>
            <a:r>
              <a:t>AI</a:t>
            </a:r>
            <a:r>
              <a:rPr>
                <a:latin typeface="+mj-lt"/>
                <a:ea typeface="+mj-ea"/>
                <a:cs typeface="+mj-cs"/>
                <a:sym typeface="Helvetica"/>
              </a:rPr>
              <a:t>を駆使した支援が可能。</a:t>
            </a:r>
          </a:p>
        </p:txBody>
      </p:sp>
      <p:sp>
        <p:nvSpPr>
          <p:cNvPr id="130" name="Rectangle 22"/>
          <p:cNvSpPr/>
          <p:nvPr/>
        </p:nvSpPr>
        <p:spPr>
          <a:xfrm>
            <a:off x="8503919" y="5029199"/>
            <a:ext cx="2926081" cy="640082"/>
          </a:xfrm>
          <a:prstGeom prst="rect">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31" name="TextBox 23"/>
          <p:cNvSpPr txBox="1"/>
          <p:nvPr/>
        </p:nvSpPr>
        <p:spPr>
          <a:xfrm>
            <a:off x="8549639" y="5074920"/>
            <a:ext cx="2834641" cy="26289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1300">
                <a:solidFill>
                  <a:srgbClr val="FFFFFF"/>
                </a:solidFill>
                <a:latin typeface="游ゴシック体 ボールド"/>
                <a:ea typeface="游ゴシック体 ボールド"/>
                <a:cs typeface="游ゴシック体 ボールド"/>
                <a:sym typeface="游ゴシック体 ボールド"/>
              </a:defRPr>
            </a:pPr>
            <a:r>
              <a:t>AI</a:t>
            </a:r>
            <a:r>
              <a:rPr b="1">
                <a:latin typeface="+mj-lt"/>
                <a:ea typeface="+mj-ea"/>
                <a:cs typeface="+mj-cs"/>
                <a:sym typeface="Helvetica"/>
              </a:rPr>
              <a:t>活用で業務効率を最大化</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3" name="Rectangle 1"/>
          <p:cNvSpPr/>
          <p:nvPr/>
        </p:nvSpPr>
        <p:spPr>
          <a:xfrm>
            <a:off x="-1" y="0"/>
            <a:ext cx="12188954" cy="685800"/>
          </a:xfrm>
          <a:prstGeom prst="rect">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34" name="TextBox 2"/>
          <p:cNvSpPr txBox="1"/>
          <p:nvPr/>
        </p:nvSpPr>
        <p:spPr>
          <a:xfrm>
            <a:off x="457200" y="164591"/>
            <a:ext cx="73152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FFFFF"/>
                </a:solidFill>
                <a:latin typeface="游ゴシック体 ボールド"/>
                <a:ea typeface="游ゴシック体 ボールド"/>
                <a:cs typeface="游ゴシック体 ボールド"/>
                <a:sym typeface="游ゴシック体 ボールド"/>
              </a:defRPr>
            </a:lvl1pPr>
          </a:lstStyle>
          <a:p>
            <a:pPr/>
            <a:r>
              <a:t>CASE STUDIES</a:t>
            </a:r>
          </a:p>
        </p:txBody>
      </p:sp>
      <p:sp>
        <p:nvSpPr>
          <p:cNvPr id="135" name="TextBox 3"/>
          <p:cNvSpPr txBox="1"/>
          <p:nvPr/>
        </p:nvSpPr>
        <p:spPr>
          <a:xfrm>
            <a:off x="10058400" y="164591"/>
            <a:ext cx="18288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FFFFFF"/>
                </a:solidFill>
                <a:latin typeface="游ゴシック体 ボールド"/>
                <a:ea typeface="游ゴシック体 ボールド"/>
                <a:cs typeface="游ゴシック体 ボールド"/>
                <a:sym typeface="游ゴシック体 ボールド"/>
              </a:defRPr>
            </a:lvl1pPr>
          </a:lstStyle>
          <a:p>
            <a:pPr/>
            <a:r>
              <a:t>GROUP</a:t>
            </a:r>
          </a:p>
        </p:txBody>
      </p:sp>
      <p:sp>
        <p:nvSpPr>
          <p:cNvPr id="136" name="Rectangle 4"/>
          <p:cNvSpPr/>
          <p:nvPr/>
        </p:nvSpPr>
        <p:spPr>
          <a:xfrm>
            <a:off x="0" y="685800"/>
            <a:ext cx="5029200" cy="6172200"/>
          </a:xfrm>
          <a:prstGeom prst="rect">
            <a:avLst/>
          </a:prstGeom>
          <a:solidFill>
            <a:srgbClr val="DBEAFE"/>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37" name="Rectangle 5"/>
          <p:cNvSpPr/>
          <p:nvPr/>
        </p:nvSpPr>
        <p:spPr>
          <a:xfrm>
            <a:off x="-1" y="685800"/>
            <a:ext cx="137162" cy="6172200"/>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38" name="Isosceles Triangle 6"/>
          <p:cNvSpPr/>
          <p:nvPr/>
        </p:nvSpPr>
        <p:spPr>
          <a:xfrm>
            <a:off x="1691639" y="1371600"/>
            <a:ext cx="1645921" cy="740664"/>
          </a:xfrm>
          <a:prstGeom prst="triangle">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39" name="Rectangle 7"/>
          <p:cNvSpPr/>
          <p:nvPr/>
        </p:nvSpPr>
        <p:spPr>
          <a:xfrm>
            <a:off x="1815083" y="2112264"/>
            <a:ext cx="1399033" cy="905257"/>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40" name="Rectangle 8"/>
          <p:cNvSpPr/>
          <p:nvPr/>
        </p:nvSpPr>
        <p:spPr>
          <a:xfrm>
            <a:off x="2317088" y="2490825"/>
            <a:ext cx="395021" cy="526695"/>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41" name="TextBox 9"/>
          <p:cNvSpPr txBox="1"/>
          <p:nvPr/>
        </p:nvSpPr>
        <p:spPr>
          <a:xfrm>
            <a:off x="548640" y="4023359"/>
            <a:ext cx="411480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200">
                <a:solidFill>
                  <a:srgbClr val="3B82F6"/>
                </a:solidFill>
                <a:latin typeface="游ゴシック体 ボールド"/>
                <a:ea typeface="游ゴシック体 ボールド"/>
                <a:cs typeface="游ゴシック体 ボールド"/>
                <a:sym typeface="游ゴシック体 ボールド"/>
              </a:defRPr>
            </a:lvl1pPr>
          </a:lstStyle>
          <a:p>
            <a:pPr/>
            <a:r>
              <a:t>REAL  ESTATE  /  4 CASES</a:t>
            </a:r>
          </a:p>
        </p:txBody>
      </p:sp>
      <p:sp>
        <p:nvSpPr>
          <p:cNvPr id="142" name="TextBox 10"/>
          <p:cNvSpPr txBox="1"/>
          <p:nvPr/>
        </p:nvSpPr>
        <p:spPr>
          <a:xfrm>
            <a:off x="548640" y="4434840"/>
            <a:ext cx="4114801"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4400">
                <a:solidFill>
                  <a:srgbClr val="1B2A4A"/>
                </a:solidFill>
                <a:latin typeface="游ゴシック体 ボールド"/>
                <a:ea typeface="游ゴシック体 ボールド"/>
                <a:cs typeface="游ゴシック体 ボールド"/>
                <a:sym typeface="游ゴシック体 ボールド"/>
              </a:defRPr>
            </a:lvl1pPr>
          </a:lstStyle>
          <a:p>
            <a:pPr/>
            <a:r>
              <a:t>不動産</a:t>
            </a:r>
          </a:p>
        </p:txBody>
      </p:sp>
      <p:sp>
        <p:nvSpPr>
          <p:cNvPr id="143" name="Rectangle 11"/>
          <p:cNvSpPr/>
          <p:nvPr/>
        </p:nvSpPr>
        <p:spPr>
          <a:xfrm>
            <a:off x="2285999" y="5532120"/>
            <a:ext cx="640082" cy="45721"/>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44" name="TextBox 12"/>
          <p:cNvSpPr txBox="1"/>
          <p:nvPr/>
        </p:nvSpPr>
        <p:spPr>
          <a:xfrm>
            <a:off x="5486399" y="914399"/>
            <a:ext cx="630936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4748B"/>
                </a:solidFill>
                <a:latin typeface="游ゴシック体 ボールド"/>
                <a:ea typeface="游ゴシック体 ボールド"/>
                <a:cs typeface="游ゴシック体 ボールド"/>
                <a:sym typeface="游ゴシック体 ボールド"/>
              </a:defRPr>
            </a:lvl1pPr>
          </a:lstStyle>
          <a:p>
            <a:pPr/>
            <a:r>
              <a:t>CASES IN THIS GROUP</a:t>
            </a:r>
          </a:p>
        </p:txBody>
      </p:sp>
      <p:sp>
        <p:nvSpPr>
          <p:cNvPr id="145" name="Rectangle 13"/>
          <p:cNvSpPr/>
          <p:nvPr/>
        </p:nvSpPr>
        <p:spPr>
          <a:xfrm>
            <a:off x="5486399" y="1234439"/>
            <a:ext cx="6309362" cy="18289"/>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46" name="Rectangle 14"/>
          <p:cNvSpPr/>
          <p:nvPr/>
        </p:nvSpPr>
        <p:spPr>
          <a:xfrm>
            <a:off x="5486399" y="1463039"/>
            <a:ext cx="640082" cy="640081"/>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47" name="TextBox 15"/>
          <p:cNvSpPr txBox="1"/>
          <p:nvPr/>
        </p:nvSpPr>
        <p:spPr>
          <a:xfrm>
            <a:off x="5486399" y="1668780"/>
            <a:ext cx="640082"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FFFFFF"/>
                </a:solidFill>
                <a:latin typeface="游ゴシック体 ボールド"/>
                <a:ea typeface="游ゴシック体 ボールド"/>
                <a:cs typeface="游ゴシック体 ボールド"/>
                <a:sym typeface="游ゴシック体 ボールド"/>
              </a:defRPr>
            </a:lvl1pPr>
          </a:lstStyle>
          <a:p>
            <a:pPr/>
            <a:r>
              <a:t>01</a:t>
            </a:r>
          </a:p>
        </p:txBody>
      </p:sp>
      <p:sp>
        <p:nvSpPr>
          <p:cNvPr id="148" name="TextBox 16"/>
          <p:cNvSpPr txBox="1"/>
          <p:nvPr/>
        </p:nvSpPr>
        <p:spPr>
          <a:xfrm>
            <a:off x="6263640" y="1463039"/>
            <a:ext cx="5532121" cy="1714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1B2A4A"/>
                </a:solidFill>
                <a:latin typeface="游ゴシック体 ボールド"/>
                <a:ea typeface="游ゴシック体 ボールド"/>
                <a:cs typeface="游ゴシック体 ボールド"/>
                <a:sym typeface="游ゴシック体 ボールド"/>
              </a:defRPr>
            </a:lvl1pPr>
          </a:lstStyle>
          <a:p>
            <a:pPr/>
            <a:r>
              <a:t>不動産（売買領域）大規模運用</a:t>
            </a:r>
          </a:p>
        </p:txBody>
      </p:sp>
      <p:sp>
        <p:nvSpPr>
          <p:cNvPr id="149" name="TextBox 17"/>
          <p:cNvSpPr txBox="1"/>
          <p:nvPr/>
        </p:nvSpPr>
        <p:spPr>
          <a:xfrm>
            <a:off x="6263640" y="1783079"/>
            <a:ext cx="5532121" cy="1460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3B82F6"/>
                </a:solidFill>
                <a:latin typeface="游ゴシック体 ボールド"/>
                <a:ea typeface="游ゴシック体 ボールド"/>
                <a:cs typeface="游ゴシック体 ボールド"/>
                <a:sym typeface="游ゴシック体 ボールド"/>
              </a:defRPr>
            </a:lvl1pPr>
          </a:lstStyle>
          <a:p>
            <a:pPr/>
            <a:r>
              <a:t>問合せ +130%  |  月2億円規模</a:t>
            </a:r>
          </a:p>
        </p:txBody>
      </p:sp>
      <p:sp>
        <p:nvSpPr>
          <p:cNvPr id="150" name="Rectangle 18"/>
          <p:cNvSpPr/>
          <p:nvPr/>
        </p:nvSpPr>
        <p:spPr>
          <a:xfrm>
            <a:off x="5486399" y="2606039"/>
            <a:ext cx="640082" cy="640081"/>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51" name="TextBox 19"/>
          <p:cNvSpPr txBox="1"/>
          <p:nvPr/>
        </p:nvSpPr>
        <p:spPr>
          <a:xfrm>
            <a:off x="5486399" y="2811780"/>
            <a:ext cx="640082"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FFFFFF"/>
                </a:solidFill>
                <a:latin typeface="游ゴシック体 ボールド"/>
                <a:ea typeface="游ゴシック体 ボールド"/>
                <a:cs typeface="游ゴシック体 ボールド"/>
                <a:sym typeface="游ゴシック体 ボールド"/>
              </a:defRPr>
            </a:lvl1pPr>
          </a:lstStyle>
          <a:p>
            <a:pPr/>
            <a:r>
              <a:t>02</a:t>
            </a:r>
          </a:p>
        </p:txBody>
      </p:sp>
      <p:sp>
        <p:nvSpPr>
          <p:cNvPr id="152" name="TextBox 20"/>
          <p:cNvSpPr txBox="1"/>
          <p:nvPr/>
        </p:nvSpPr>
        <p:spPr>
          <a:xfrm>
            <a:off x="6263640" y="2606039"/>
            <a:ext cx="5532121" cy="1714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1B2A4A"/>
                </a:solidFill>
                <a:latin typeface="游ゴシック体 ボールド"/>
                <a:ea typeface="游ゴシック体 ボールド"/>
                <a:cs typeface="游ゴシック体 ボールド"/>
                <a:sym typeface="游ゴシック体 ボールド"/>
              </a:defRPr>
            </a:lvl1pPr>
          </a:lstStyle>
          <a:p>
            <a:pPr/>
            <a:r>
              <a:t>不動産（法人向け売買）</a:t>
            </a:r>
          </a:p>
        </p:txBody>
      </p:sp>
      <p:sp>
        <p:nvSpPr>
          <p:cNvPr id="153" name="TextBox 21"/>
          <p:cNvSpPr txBox="1"/>
          <p:nvPr/>
        </p:nvSpPr>
        <p:spPr>
          <a:xfrm>
            <a:off x="6263640" y="2926079"/>
            <a:ext cx="5532121" cy="1460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3B82F6"/>
                </a:solidFill>
                <a:latin typeface="游ゴシック体 ボールド"/>
                <a:ea typeface="游ゴシック体 ボールド"/>
                <a:cs typeface="游ゴシック体 ボールド"/>
                <a:sym typeface="游ゴシック体 ボールド"/>
              </a:defRPr>
            </a:lvl1pPr>
          </a:lstStyle>
          <a:p>
            <a:pPr/>
            <a:r>
              <a:t>問合せ +140%  |  為替連動ロジック</a:t>
            </a:r>
          </a:p>
        </p:txBody>
      </p:sp>
      <p:sp>
        <p:nvSpPr>
          <p:cNvPr id="154" name="Rectangle 22"/>
          <p:cNvSpPr/>
          <p:nvPr/>
        </p:nvSpPr>
        <p:spPr>
          <a:xfrm>
            <a:off x="5486399" y="3749040"/>
            <a:ext cx="640082" cy="640081"/>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55" name="TextBox 23"/>
          <p:cNvSpPr txBox="1"/>
          <p:nvPr/>
        </p:nvSpPr>
        <p:spPr>
          <a:xfrm>
            <a:off x="5486399" y="3954780"/>
            <a:ext cx="640082"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FFFFFF"/>
                </a:solidFill>
                <a:latin typeface="游ゴシック体 ボールド"/>
                <a:ea typeface="游ゴシック体 ボールド"/>
                <a:cs typeface="游ゴシック体 ボールド"/>
                <a:sym typeface="游ゴシック体 ボールド"/>
              </a:defRPr>
            </a:lvl1pPr>
          </a:lstStyle>
          <a:p>
            <a:pPr/>
            <a:r>
              <a:t>03</a:t>
            </a:r>
          </a:p>
        </p:txBody>
      </p:sp>
      <p:sp>
        <p:nvSpPr>
          <p:cNvPr id="156" name="TextBox 24"/>
          <p:cNvSpPr txBox="1"/>
          <p:nvPr/>
        </p:nvSpPr>
        <p:spPr>
          <a:xfrm>
            <a:off x="6263640" y="3749040"/>
            <a:ext cx="5532121" cy="1714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1B2A4A"/>
                </a:solidFill>
                <a:latin typeface="游ゴシック体 ボールド"/>
                <a:ea typeface="游ゴシック体 ボールド"/>
                <a:cs typeface="游ゴシック体 ボールド"/>
                <a:sym typeface="游ゴシック体 ボールド"/>
              </a:defRPr>
            </a:lvl1pPr>
          </a:lstStyle>
          <a:p>
            <a:pPr/>
            <a:r>
              <a:t>不動産（賃貸管理）</a:t>
            </a:r>
          </a:p>
        </p:txBody>
      </p:sp>
      <p:sp>
        <p:nvSpPr>
          <p:cNvPr id="157" name="TextBox 25"/>
          <p:cNvSpPr txBox="1"/>
          <p:nvPr/>
        </p:nvSpPr>
        <p:spPr>
          <a:xfrm>
            <a:off x="6263640" y="4069079"/>
            <a:ext cx="5532121" cy="1460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3B82F6"/>
                </a:solidFill>
                <a:latin typeface="游ゴシック体 ボールド"/>
                <a:ea typeface="游ゴシック体 ボールド"/>
                <a:cs typeface="游ゴシック体 ボールド"/>
                <a:sym typeface="游ゴシック体 ボールド"/>
              </a:defRPr>
            </a:lvl1pPr>
          </a:lstStyle>
          <a:p>
            <a:pPr/>
            <a:r>
              <a:t>問合せ +120%  |  新規立ち上げ</a:t>
            </a:r>
          </a:p>
        </p:txBody>
      </p:sp>
      <p:sp>
        <p:nvSpPr>
          <p:cNvPr id="158" name="Rectangle 26"/>
          <p:cNvSpPr/>
          <p:nvPr/>
        </p:nvSpPr>
        <p:spPr>
          <a:xfrm>
            <a:off x="5486399" y="4892040"/>
            <a:ext cx="640082" cy="640081"/>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59" name="TextBox 27"/>
          <p:cNvSpPr txBox="1"/>
          <p:nvPr/>
        </p:nvSpPr>
        <p:spPr>
          <a:xfrm>
            <a:off x="5486399" y="5097780"/>
            <a:ext cx="640082"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FFFFFF"/>
                </a:solidFill>
                <a:latin typeface="游ゴシック体 ボールド"/>
                <a:ea typeface="游ゴシック体 ボールド"/>
                <a:cs typeface="游ゴシック体 ボールド"/>
                <a:sym typeface="游ゴシック体 ボールド"/>
              </a:defRPr>
            </a:lvl1pPr>
          </a:lstStyle>
          <a:p>
            <a:pPr/>
            <a:r>
              <a:t>04</a:t>
            </a:r>
          </a:p>
        </p:txBody>
      </p:sp>
      <p:sp>
        <p:nvSpPr>
          <p:cNvPr id="160" name="TextBox 28"/>
          <p:cNvSpPr txBox="1"/>
          <p:nvPr/>
        </p:nvSpPr>
        <p:spPr>
          <a:xfrm>
            <a:off x="6263640" y="4892040"/>
            <a:ext cx="5532121" cy="1714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1B2A4A"/>
                </a:solidFill>
                <a:latin typeface="游ゴシック体 ボールド"/>
                <a:ea typeface="游ゴシック体 ボールド"/>
                <a:cs typeface="游ゴシック体 ボールド"/>
                <a:sym typeface="游ゴシック体 ボールド"/>
              </a:defRPr>
            </a:lvl1pPr>
          </a:lstStyle>
          <a:p>
            <a:pPr/>
            <a:r>
              <a:t>不動産（地域特化 戸建て）</a:t>
            </a:r>
          </a:p>
        </p:txBody>
      </p:sp>
      <p:sp>
        <p:nvSpPr>
          <p:cNvPr id="161" name="TextBox 29"/>
          <p:cNvSpPr txBox="1"/>
          <p:nvPr/>
        </p:nvSpPr>
        <p:spPr>
          <a:xfrm>
            <a:off x="6263640" y="5212079"/>
            <a:ext cx="5532121" cy="1460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3B82F6"/>
                </a:solidFill>
                <a:latin typeface="游ゴシック体 ボールド"/>
                <a:ea typeface="游ゴシック体 ボールド"/>
                <a:cs typeface="游ゴシック体 ボールド"/>
                <a:sym typeface="游ゴシック体 ボールド"/>
              </a:defRPr>
            </a:lvl1pPr>
          </a:lstStyle>
          <a:p>
            <a:pPr/>
            <a:r>
              <a:t>来店 145%  |  全6チャネル統合</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3" name="Rectangle 1"/>
          <p:cNvSpPr/>
          <p:nvPr/>
        </p:nvSpPr>
        <p:spPr>
          <a:xfrm>
            <a:off x="-1" y="0"/>
            <a:ext cx="12188954" cy="685800"/>
          </a:xfrm>
          <a:prstGeom prst="rect">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64" name="TextBox 2"/>
          <p:cNvSpPr txBox="1"/>
          <p:nvPr/>
        </p:nvSpPr>
        <p:spPr>
          <a:xfrm>
            <a:off x="457200" y="164591"/>
            <a:ext cx="73152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FFFFF"/>
                </a:solidFill>
                <a:latin typeface="游ゴシック体 ボールド"/>
                <a:ea typeface="游ゴシック体 ボールド"/>
                <a:cs typeface="游ゴシック体 ボールド"/>
                <a:sym typeface="游ゴシック体 ボールド"/>
              </a:defRPr>
            </a:lvl1pPr>
          </a:lstStyle>
          <a:p>
            <a:pPr/>
            <a:r>
              <a:t>CASE STUDIES</a:t>
            </a:r>
          </a:p>
        </p:txBody>
      </p:sp>
      <p:sp>
        <p:nvSpPr>
          <p:cNvPr id="165" name="TextBox 3"/>
          <p:cNvSpPr txBox="1"/>
          <p:nvPr/>
        </p:nvSpPr>
        <p:spPr>
          <a:xfrm>
            <a:off x="10058400" y="164591"/>
            <a:ext cx="18288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FFFFFF"/>
                </a:solidFill>
                <a:latin typeface="游ゴシック体 ボールド"/>
                <a:ea typeface="游ゴシック体 ボールド"/>
                <a:cs typeface="游ゴシック体 ボールド"/>
                <a:sym typeface="游ゴシック体 ボールド"/>
              </a:defRPr>
            </a:lvl1pPr>
          </a:lstStyle>
          <a:p>
            <a:pPr/>
            <a:r>
              <a:t>01 / 13</a:t>
            </a:r>
          </a:p>
        </p:txBody>
      </p:sp>
      <p:sp>
        <p:nvSpPr>
          <p:cNvPr id="166" name="TextBox 4"/>
          <p:cNvSpPr txBox="1"/>
          <p:nvPr/>
        </p:nvSpPr>
        <p:spPr>
          <a:xfrm>
            <a:off x="457200" y="868680"/>
            <a:ext cx="7772400"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400">
                <a:solidFill>
                  <a:srgbClr val="1B2A4A"/>
                </a:solidFill>
                <a:latin typeface="游ゴシック体 ボールド"/>
                <a:ea typeface="游ゴシック体 ボールド"/>
                <a:cs typeface="游ゴシック体 ボールド"/>
                <a:sym typeface="游ゴシック体 ボールド"/>
              </a:defRPr>
            </a:lvl1pPr>
          </a:lstStyle>
          <a:p>
            <a:pPr/>
            <a:r>
              <a:t>不動産（売買領域）</a:t>
            </a:r>
          </a:p>
        </p:txBody>
      </p:sp>
      <p:sp>
        <p:nvSpPr>
          <p:cNvPr id="167" name="TextBox 5"/>
          <p:cNvSpPr txBox="1"/>
          <p:nvPr/>
        </p:nvSpPr>
        <p:spPr>
          <a:xfrm>
            <a:off x="457200" y="1325880"/>
            <a:ext cx="77724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4748B"/>
                </a:solidFill>
                <a:latin typeface="游ゴシック体 ミディアム"/>
                <a:ea typeface="游ゴシック体 ミディアム"/>
                <a:cs typeface="游ゴシック体 ミディアム"/>
                <a:sym typeface="游ゴシック体 ミディアム"/>
              </a:defRPr>
            </a:lvl1pPr>
          </a:lstStyle>
          <a:p>
            <a:pPr/>
            <a:r>
              <a:t>運用担当（2名体制）  |  月間予算 2億円規模   |   リスティング / DSP / SNS / ダイナミック / 認知広告</a:t>
            </a:r>
          </a:p>
        </p:txBody>
      </p:sp>
      <p:sp>
        <p:nvSpPr>
          <p:cNvPr id="168" name="Rectangle 6"/>
          <p:cNvSpPr/>
          <p:nvPr/>
        </p:nvSpPr>
        <p:spPr>
          <a:xfrm>
            <a:off x="457200" y="1645920"/>
            <a:ext cx="457200" cy="45721"/>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69" name="Rectangle 7"/>
          <p:cNvSpPr/>
          <p:nvPr/>
        </p:nvSpPr>
        <p:spPr>
          <a:xfrm>
            <a:off x="914399" y="1645920"/>
            <a:ext cx="10789922"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70" name="Oval 8"/>
          <p:cNvSpPr/>
          <p:nvPr/>
        </p:nvSpPr>
        <p:spPr>
          <a:xfrm>
            <a:off x="457199" y="1874518"/>
            <a:ext cx="274322" cy="274321"/>
          </a:xfrm>
          <a:prstGeom prst="ellipse">
            <a:avLst/>
          </a:prstGeom>
          <a:solidFill>
            <a:srgbClr val="EF4444"/>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71" name="TextBox 9"/>
          <p:cNvSpPr txBox="1"/>
          <p:nvPr/>
        </p:nvSpPr>
        <p:spPr>
          <a:xfrm>
            <a:off x="457199" y="1948178"/>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01</a:t>
            </a:r>
          </a:p>
        </p:txBody>
      </p:sp>
      <p:sp>
        <p:nvSpPr>
          <p:cNvPr id="172" name="TextBox 10"/>
          <p:cNvSpPr txBox="1"/>
          <p:nvPr/>
        </p:nvSpPr>
        <p:spPr>
          <a:xfrm>
            <a:off x="822960" y="1856231"/>
            <a:ext cx="3657601"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課題</a:t>
            </a:r>
          </a:p>
        </p:txBody>
      </p:sp>
      <p:sp>
        <p:nvSpPr>
          <p:cNvPr id="173" name="Rectangle 11"/>
          <p:cNvSpPr/>
          <p:nvPr/>
        </p:nvSpPr>
        <p:spPr>
          <a:xfrm>
            <a:off x="822960" y="2148838"/>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74" name="TextBox 12"/>
          <p:cNvSpPr txBox="1"/>
          <p:nvPr/>
        </p:nvSpPr>
        <p:spPr>
          <a:xfrm>
            <a:off x="594359" y="2331720"/>
            <a:ext cx="5074922" cy="4057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30000"/>
              </a:lnSpc>
              <a:defRPr sz="1100">
                <a:solidFill>
                  <a:srgbClr val="334455"/>
                </a:solidFill>
                <a:latin typeface="游ゴシック体 ミディアム"/>
                <a:ea typeface="游ゴシック体 ミディアム"/>
                <a:cs typeface="游ゴシック体 ミディアム"/>
                <a:sym typeface="游ゴシック体 ミディアム"/>
              </a:defRPr>
            </a:pPr>
            <a:r>
              <a:t>大規模アカウントで既存媒体の改善余地が限定的。</a:t>
            </a:r>
          </a:p>
          <a:p>
            <a:pPr>
              <a:lnSpc>
                <a:spcPct val="130000"/>
              </a:lnSpc>
              <a:defRPr sz="1100">
                <a:solidFill>
                  <a:srgbClr val="334455"/>
                </a:solidFill>
                <a:latin typeface="游ゴシック体 ミディアム"/>
                <a:ea typeface="游ゴシック体 ミディアム"/>
                <a:cs typeface="游ゴシック体 ミディアム"/>
                <a:sym typeface="游ゴシック体 ミディアム"/>
              </a:defRPr>
            </a:pPr>
            <a:r>
              <a:t>更なる伸長には新たな打ち手の創出が必要だった。</a:t>
            </a:r>
          </a:p>
        </p:txBody>
      </p:sp>
      <p:sp>
        <p:nvSpPr>
          <p:cNvPr id="175" name="Oval 13"/>
          <p:cNvSpPr/>
          <p:nvPr/>
        </p:nvSpPr>
        <p:spPr>
          <a:xfrm>
            <a:off x="457199" y="3246120"/>
            <a:ext cx="274322" cy="274321"/>
          </a:xfrm>
          <a:prstGeom prst="ellipse">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76" name="TextBox 14"/>
          <p:cNvSpPr txBox="1"/>
          <p:nvPr/>
        </p:nvSpPr>
        <p:spPr>
          <a:xfrm>
            <a:off x="457199" y="3319780"/>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02</a:t>
            </a:r>
          </a:p>
        </p:txBody>
      </p:sp>
      <p:sp>
        <p:nvSpPr>
          <p:cNvPr id="177" name="TextBox 15"/>
          <p:cNvSpPr txBox="1"/>
          <p:nvPr/>
        </p:nvSpPr>
        <p:spPr>
          <a:xfrm>
            <a:off x="822960" y="3227832"/>
            <a:ext cx="3657601"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アプローチ</a:t>
            </a:r>
          </a:p>
        </p:txBody>
      </p:sp>
      <p:sp>
        <p:nvSpPr>
          <p:cNvPr id="178" name="Rectangle 16"/>
          <p:cNvSpPr/>
          <p:nvPr/>
        </p:nvSpPr>
        <p:spPr>
          <a:xfrm>
            <a:off x="822960" y="3520440"/>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79" name="TextBox 17"/>
          <p:cNvSpPr txBox="1"/>
          <p:nvPr/>
        </p:nvSpPr>
        <p:spPr>
          <a:xfrm>
            <a:off x="594359" y="3703320"/>
            <a:ext cx="5074922" cy="4057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0000"/>
              </a:lnSpc>
              <a:defRPr sz="1100">
                <a:solidFill>
                  <a:srgbClr val="334455"/>
                </a:solidFill>
                <a:latin typeface="游ゴシック体 ミディアム"/>
                <a:ea typeface="游ゴシック体 ミディアム"/>
                <a:cs typeface="游ゴシック体 ミディアム"/>
                <a:sym typeface="游ゴシック体 ミディアム"/>
              </a:defRPr>
            </a:lvl1pPr>
          </a:lstStyle>
          <a:p>
            <a:pPr/>
            <a:r>
              <a:t>準顕在層向けの動画施策を新規企画。あわせて顧客データを活用した機械学習最適化を導入し、媒体ミックスを再設計。広告主に提案・自ら実行までを完遂。</a:t>
            </a:r>
          </a:p>
        </p:txBody>
      </p:sp>
      <p:sp>
        <p:nvSpPr>
          <p:cNvPr id="180" name="Oval 18"/>
          <p:cNvSpPr/>
          <p:nvPr/>
        </p:nvSpPr>
        <p:spPr>
          <a:xfrm>
            <a:off x="457199" y="5029199"/>
            <a:ext cx="274322" cy="274322"/>
          </a:xfrm>
          <a:prstGeom prst="ellipse">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81" name="TextBox 19"/>
          <p:cNvSpPr txBox="1"/>
          <p:nvPr/>
        </p:nvSpPr>
        <p:spPr>
          <a:xfrm>
            <a:off x="457199" y="5102859"/>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03</a:t>
            </a:r>
          </a:p>
        </p:txBody>
      </p:sp>
      <p:sp>
        <p:nvSpPr>
          <p:cNvPr id="182" name="TextBox 20"/>
          <p:cNvSpPr txBox="1"/>
          <p:nvPr/>
        </p:nvSpPr>
        <p:spPr>
          <a:xfrm>
            <a:off x="822960" y="5010911"/>
            <a:ext cx="36576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成果</a:t>
            </a:r>
          </a:p>
        </p:txBody>
      </p:sp>
      <p:sp>
        <p:nvSpPr>
          <p:cNvPr id="183" name="Rectangle 21"/>
          <p:cNvSpPr/>
          <p:nvPr/>
        </p:nvSpPr>
        <p:spPr>
          <a:xfrm>
            <a:off x="822960" y="5303520"/>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84" name="Rounded Rectangle 22"/>
          <p:cNvSpPr/>
          <p:nvPr/>
        </p:nvSpPr>
        <p:spPr>
          <a:xfrm>
            <a:off x="594359" y="5486400"/>
            <a:ext cx="2468881" cy="960120"/>
          </a:xfrm>
          <a:prstGeom prst="roundRect">
            <a:avLst>
              <a:gd name="adj" fmla="val 12000"/>
            </a:avLst>
          </a:prstGeom>
          <a:solidFill>
            <a:srgbClr val="D1FAE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85" name="TextBox 23"/>
          <p:cNvSpPr txBox="1"/>
          <p:nvPr/>
        </p:nvSpPr>
        <p:spPr>
          <a:xfrm>
            <a:off x="594359" y="5643879"/>
            <a:ext cx="246888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10B981"/>
                </a:solidFill>
                <a:latin typeface="游ゴシック体 ボールド"/>
                <a:ea typeface="游ゴシック体 ボールド"/>
                <a:cs typeface="游ゴシック体 ボールド"/>
                <a:sym typeface="游ゴシック体 ボールド"/>
              </a:defRPr>
            </a:lvl1pPr>
          </a:lstStyle>
          <a:p>
            <a:pPr/>
            <a:r>
              <a:t>+130%</a:t>
            </a:r>
          </a:p>
        </p:txBody>
      </p:sp>
      <p:sp>
        <p:nvSpPr>
          <p:cNvPr id="186" name="TextBox 24"/>
          <p:cNvSpPr txBox="1"/>
          <p:nvPr/>
        </p:nvSpPr>
        <p:spPr>
          <a:xfrm>
            <a:off x="594359" y="6154420"/>
            <a:ext cx="24688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64748B"/>
                </a:solidFill>
                <a:latin typeface="游ゴシック体 ミディアム"/>
                <a:ea typeface="游ゴシック体 ミディアム"/>
                <a:cs typeface="游ゴシック体 ミディアム"/>
                <a:sym typeface="游ゴシック体 ミディアム"/>
              </a:defRPr>
            </a:lvl1pPr>
          </a:lstStyle>
          <a:p>
            <a:pPr/>
            <a:r>
              <a:t>問合せ数</a:t>
            </a:r>
          </a:p>
        </p:txBody>
      </p:sp>
      <p:sp>
        <p:nvSpPr>
          <p:cNvPr id="187" name="Rounded Rectangle 25"/>
          <p:cNvSpPr/>
          <p:nvPr/>
        </p:nvSpPr>
        <p:spPr>
          <a:xfrm>
            <a:off x="3200400" y="5486400"/>
            <a:ext cx="2468880" cy="960120"/>
          </a:xfrm>
          <a:prstGeom prst="roundRect">
            <a:avLst>
              <a:gd name="adj" fmla="val 12000"/>
            </a:avLst>
          </a:prstGeom>
          <a:solidFill>
            <a:srgbClr val="D1FAE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88" name="TextBox 26"/>
          <p:cNvSpPr txBox="1"/>
          <p:nvPr/>
        </p:nvSpPr>
        <p:spPr>
          <a:xfrm>
            <a:off x="3200399" y="5643879"/>
            <a:ext cx="246888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1B2A4A"/>
                </a:solidFill>
                <a:latin typeface="游ゴシック体 ボールド"/>
                <a:ea typeface="游ゴシック体 ボールド"/>
                <a:cs typeface="游ゴシック体 ボールド"/>
                <a:sym typeface="游ゴシック体 ボールド"/>
              </a:defRPr>
            </a:lvl1pPr>
          </a:lstStyle>
          <a:p>
            <a:pPr/>
            <a:r>
              <a:t>¥2億</a:t>
            </a:r>
          </a:p>
        </p:txBody>
      </p:sp>
      <p:sp>
        <p:nvSpPr>
          <p:cNvPr id="189" name="TextBox 27"/>
          <p:cNvSpPr txBox="1"/>
          <p:nvPr/>
        </p:nvSpPr>
        <p:spPr>
          <a:xfrm>
            <a:off x="3200399" y="6154420"/>
            <a:ext cx="24688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64748B"/>
                </a:solidFill>
                <a:latin typeface="游ゴシック体 ミディアム"/>
                <a:ea typeface="游ゴシック体 ミディアム"/>
                <a:cs typeface="游ゴシック体 ミディアム"/>
                <a:sym typeface="游ゴシック体 ミディアム"/>
              </a:defRPr>
            </a:lvl1pPr>
          </a:lstStyle>
          <a:p>
            <a:pPr/>
            <a:r>
              <a:t>月間運用予算</a:t>
            </a:r>
          </a:p>
        </p:txBody>
      </p:sp>
      <p:sp>
        <p:nvSpPr>
          <p:cNvPr id="190" name="Rounded Rectangle 28"/>
          <p:cNvSpPr/>
          <p:nvPr/>
        </p:nvSpPr>
        <p:spPr>
          <a:xfrm>
            <a:off x="5943600" y="1828800"/>
            <a:ext cx="5852160" cy="4572000"/>
          </a:xfrm>
          <a:prstGeom prst="roundRect">
            <a:avLst>
              <a:gd name="adj" fmla="val 12000"/>
            </a:avLst>
          </a:prstGeom>
          <a:solidFill>
            <a:srgbClr val="F1F5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91" name="TextBox 29"/>
          <p:cNvSpPr txBox="1"/>
          <p:nvPr/>
        </p:nvSpPr>
        <p:spPr>
          <a:xfrm>
            <a:off x="6217920" y="1965960"/>
            <a:ext cx="5303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4748B"/>
                </a:solidFill>
                <a:latin typeface="游ゴシック体 ボールド"/>
                <a:ea typeface="游ゴシック体 ボールド"/>
                <a:cs typeface="游ゴシック体 ボールド"/>
                <a:sym typeface="游ゴシック体 ボールド"/>
              </a:defRPr>
            </a:lvl1pPr>
          </a:lstStyle>
          <a:p>
            <a:pPr/>
            <a:r>
              <a:t>施策の図解</a:t>
            </a:r>
          </a:p>
        </p:txBody>
      </p:sp>
      <p:sp>
        <p:nvSpPr>
          <p:cNvPr id="192" name="Rectangle 30"/>
          <p:cNvSpPr/>
          <p:nvPr/>
        </p:nvSpPr>
        <p:spPr>
          <a:xfrm>
            <a:off x="6217920" y="2285999"/>
            <a:ext cx="365761" cy="36578"/>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93" name="TextBox 31"/>
          <p:cNvSpPr txBox="1"/>
          <p:nvPr/>
        </p:nvSpPr>
        <p:spPr>
          <a:xfrm>
            <a:off x="6217920" y="2423160"/>
            <a:ext cx="5303521" cy="1460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1B2A4A"/>
                </a:solidFill>
                <a:latin typeface="游ゴシック体 ボールド"/>
                <a:ea typeface="游ゴシック体 ボールド"/>
                <a:cs typeface="游ゴシック体 ボールド"/>
                <a:sym typeface="游ゴシック体 ボールド"/>
              </a:defRPr>
            </a:lvl1pPr>
          </a:lstStyle>
          <a:p>
            <a:pPr/>
            <a:r>
              <a:t>準顕在層向け動画 × 顧客データ機械学習最適化</a:t>
            </a:r>
          </a:p>
        </p:txBody>
      </p:sp>
      <p:sp>
        <p:nvSpPr>
          <p:cNvPr id="194" name="Trapezoid 32"/>
          <p:cNvSpPr/>
          <p:nvPr/>
        </p:nvSpPr>
        <p:spPr>
          <a:xfrm rot="10800000">
            <a:off x="6400800" y="2834639"/>
            <a:ext cx="2560321" cy="5486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157" y="0"/>
                </a:lnTo>
                <a:lnTo>
                  <a:pt x="20443" y="0"/>
                </a:lnTo>
                <a:lnTo>
                  <a:pt x="21600" y="21600"/>
                </a:lnTo>
                <a:close/>
              </a:path>
            </a:pathLst>
          </a:custGeom>
          <a:solidFill>
            <a:srgbClr val="DBEAFE"/>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95" name="TextBox 33"/>
          <p:cNvSpPr txBox="1"/>
          <p:nvPr/>
        </p:nvSpPr>
        <p:spPr>
          <a:xfrm>
            <a:off x="6400799" y="3035935"/>
            <a:ext cx="2560322" cy="14605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1B2A4A"/>
                </a:solidFill>
                <a:latin typeface="游ゴシック体 ボールド"/>
                <a:ea typeface="游ゴシック体 ボールド"/>
                <a:cs typeface="游ゴシック体 ボールド"/>
                <a:sym typeface="游ゴシック体 ボールド"/>
              </a:defRPr>
            </a:lvl1pPr>
          </a:lstStyle>
          <a:p>
            <a:pPr/>
            <a:r>
              <a:t>潜在層</a:t>
            </a:r>
          </a:p>
        </p:txBody>
      </p:sp>
      <p:sp>
        <p:nvSpPr>
          <p:cNvPr id="196" name="Trapezoid 34"/>
          <p:cNvSpPr/>
          <p:nvPr/>
        </p:nvSpPr>
        <p:spPr>
          <a:xfrm rot="10800000">
            <a:off x="6675120" y="3520440"/>
            <a:ext cx="2011680" cy="5486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473" y="0"/>
                </a:lnTo>
                <a:lnTo>
                  <a:pt x="20127" y="0"/>
                </a:lnTo>
                <a:lnTo>
                  <a:pt x="21600" y="21600"/>
                </a:lnTo>
                <a:close/>
              </a:path>
            </a:pathLst>
          </a:custGeom>
          <a:solidFill>
            <a:srgbClr val="FEF3C7"/>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97" name="TextBox 35"/>
          <p:cNvSpPr txBox="1"/>
          <p:nvPr/>
        </p:nvSpPr>
        <p:spPr>
          <a:xfrm>
            <a:off x="6675119" y="3721735"/>
            <a:ext cx="2011680" cy="1460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59E0B"/>
                </a:solidFill>
                <a:latin typeface="游ゴシック体 ボールド"/>
                <a:ea typeface="游ゴシック体 ボールド"/>
                <a:cs typeface="游ゴシック体 ボールド"/>
                <a:sym typeface="游ゴシック体 ボールド"/>
              </a:defRPr>
            </a:lvl1pPr>
          </a:lstStyle>
          <a:p>
            <a:pPr/>
            <a:r>
              <a:t>準顕在層</a:t>
            </a:r>
          </a:p>
        </p:txBody>
      </p:sp>
      <p:sp>
        <p:nvSpPr>
          <p:cNvPr id="198" name="Trapezoid 36"/>
          <p:cNvSpPr/>
          <p:nvPr/>
        </p:nvSpPr>
        <p:spPr>
          <a:xfrm rot="10800000">
            <a:off x="6949440" y="4206240"/>
            <a:ext cx="1463041" cy="5486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025" y="0"/>
                </a:lnTo>
                <a:lnTo>
                  <a:pt x="19575" y="0"/>
                </a:lnTo>
                <a:lnTo>
                  <a:pt x="21600" y="21600"/>
                </a:lnTo>
                <a:close/>
              </a:path>
            </a:pathLst>
          </a:custGeom>
          <a:solidFill>
            <a:srgbClr val="D1FAE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99" name="TextBox 37"/>
          <p:cNvSpPr txBox="1"/>
          <p:nvPr/>
        </p:nvSpPr>
        <p:spPr>
          <a:xfrm>
            <a:off x="6949440" y="4407535"/>
            <a:ext cx="1463041" cy="1460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10B981"/>
                </a:solidFill>
                <a:latin typeface="游ゴシック体 ボールド"/>
                <a:ea typeface="游ゴシック体 ボールド"/>
                <a:cs typeface="游ゴシック体 ボールド"/>
                <a:sym typeface="游ゴシック体 ボールド"/>
              </a:defRPr>
            </a:lvl1pPr>
          </a:lstStyle>
          <a:p>
            <a:pPr/>
            <a:r>
              <a:t>CV（問合せ）</a:t>
            </a:r>
          </a:p>
        </p:txBody>
      </p:sp>
      <p:sp>
        <p:nvSpPr>
          <p:cNvPr id="200" name="TextBox 38"/>
          <p:cNvSpPr txBox="1"/>
          <p:nvPr/>
        </p:nvSpPr>
        <p:spPr>
          <a:xfrm>
            <a:off x="9326880" y="2697479"/>
            <a:ext cx="210312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3B82F6"/>
                </a:solidFill>
                <a:latin typeface="游ゴシック体 ボールド"/>
                <a:ea typeface="游ゴシック体 ボールド"/>
                <a:cs typeface="游ゴシック体 ボールド"/>
                <a:sym typeface="游ゴシック体 ボールド"/>
              </a:defRPr>
            </a:lvl1pPr>
          </a:lstStyle>
          <a:p>
            <a:pPr/>
            <a:r>
              <a:t>⚡ 新規施策</a:t>
            </a:r>
          </a:p>
        </p:txBody>
      </p:sp>
      <p:sp>
        <p:nvSpPr>
          <p:cNvPr id="201" name="Rounded Rectangle 39"/>
          <p:cNvSpPr/>
          <p:nvPr/>
        </p:nvSpPr>
        <p:spPr>
          <a:xfrm>
            <a:off x="9326880" y="2971800"/>
            <a:ext cx="2103121" cy="502920"/>
          </a:xfrm>
          <a:prstGeom prst="roundRect">
            <a:avLst>
              <a:gd name="adj" fmla="val 12000"/>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02" name="TextBox 40"/>
          <p:cNvSpPr txBox="1"/>
          <p:nvPr/>
        </p:nvSpPr>
        <p:spPr>
          <a:xfrm>
            <a:off x="9326880" y="3115309"/>
            <a:ext cx="210312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FFFFF"/>
                </a:solidFill>
                <a:latin typeface="游ゴシック体 ボールド"/>
                <a:ea typeface="游ゴシック体 ボールド"/>
                <a:cs typeface="游ゴシック体 ボールド"/>
                <a:sym typeface="游ゴシック体 ボールド"/>
              </a:defRPr>
            </a:lvl1pPr>
          </a:lstStyle>
          <a:p>
            <a:pPr/>
            <a:r>
              <a:t>🎬  準顕在向け動画施策</a:t>
            </a:r>
          </a:p>
        </p:txBody>
      </p:sp>
      <p:sp>
        <p:nvSpPr>
          <p:cNvPr id="203" name="Rounded Rectangle 41"/>
          <p:cNvSpPr/>
          <p:nvPr/>
        </p:nvSpPr>
        <p:spPr>
          <a:xfrm>
            <a:off x="9326880" y="3547871"/>
            <a:ext cx="2103121" cy="502921"/>
          </a:xfrm>
          <a:prstGeom prst="roundRect">
            <a:avLst>
              <a:gd name="adj" fmla="val 12000"/>
            </a:avLst>
          </a:prstGeom>
          <a:solidFill>
            <a:srgbClr val="8B5C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04" name="TextBox 42"/>
          <p:cNvSpPr txBox="1"/>
          <p:nvPr/>
        </p:nvSpPr>
        <p:spPr>
          <a:xfrm>
            <a:off x="9326880" y="3691381"/>
            <a:ext cx="210312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FFFFF"/>
                </a:solidFill>
                <a:latin typeface="游ゴシック体 ボールド"/>
                <a:ea typeface="游ゴシック体 ボールド"/>
                <a:cs typeface="游ゴシック体 ボールド"/>
                <a:sym typeface="游ゴシック体 ボールド"/>
              </a:defRPr>
            </a:lvl1pPr>
          </a:lstStyle>
          <a:p>
            <a:pPr/>
            <a:r>
              <a:t>🤖  顧客データ × ML 最適化</a:t>
            </a:r>
          </a:p>
        </p:txBody>
      </p:sp>
      <p:sp>
        <p:nvSpPr>
          <p:cNvPr id="205" name="Rounded Rectangle 43"/>
          <p:cNvSpPr/>
          <p:nvPr/>
        </p:nvSpPr>
        <p:spPr>
          <a:xfrm>
            <a:off x="9326880" y="4123944"/>
            <a:ext cx="2103121" cy="502920"/>
          </a:xfrm>
          <a:prstGeom prst="roundRect">
            <a:avLst>
              <a:gd name="adj" fmla="val 12000"/>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06" name="TextBox 44"/>
          <p:cNvSpPr txBox="1"/>
          <p:nvPr/>
        </p:nvSpPr>
        <p:spPr>
          <a:xfrm>
            <a:off x="9326880" y="4267453"/>
            <a:ext cx="210312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FFFFF"/>
                </a:solidFill>
                <a:latin typeface="游ゴシック体 ボールド"/>
                <a:ea typeface="游ゴシック体 ボールド"/>
                <a:cs typeface="游ゴシック体 ボールド"/>
                <a:sym typeface="游ゴシック体 ボールド"/>
              </a:defRPr>
            </a:lvl1pPr>
          </a:lstStyle>
          <a:p>
            <a:pPr/>
            <a:r>
              <a:t>🎯  媒体ミックス再設計</a:t>
            </a:r>
          </a:p>
        </p:txBody>
      </p:sp>
      <p:sp>
        <p:nvSpPr>
          <p:cNvPr id="207" name="Left Arrow 45"/>
          <p:cNvSpPr/>
          <p:nvPr/>
        </p:nvSpPr>
        <p:spPr>
          <a:xfrm>
            <a:off x="9006840" y="3657600"/>
            <a:ext cx="320041" cy="228600"/>
          </a:xfrm>
          <a:prstGeom prst="leftArrow">
            <a:avLst>
              <a:gd name="adj1" fmla="val 50000"/>
              <a:gd name="adj2" fmla="val 50000"/>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08" name="Rounded Rectangle 46"/>
          <p:cNvSpPr/>
          <p:nvPr/>
        </p:nvSpPr>
        <p:spPr>
          <a:xfrm>
            <a:off x="6309359" y="4892040"/>
            <a:ext cx="5120641" cy="777241"/>
          </a:xfrm>
          <a:prstGeom prst="roundRect">
            <a:avLst>
              <a:gd name="adj" fmla="val 12000"/>
            </a:avLst>
          </a:prstGeom>
          <a:solidFill>
            <a:srgbClr val="F1F5F9"/>
          </a:solidFill>
          <a:ln>
            <a:solidFill>
              <a:srgbClr val="E2E8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09" name="TextBox 47"/>
          <p:cNvSpPr txBox="1"/>
          <p:nvPr/>
        </p:nvSpPr>
        <p:spPr>
          <a:xfrm>
            <a:off x="6400799" y="4983479"/>
            <a:ext cx="493776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64748B"/>
                </a:solidFill>
                <a:latin typeface="游ゴシック体 ボールド"/>
                <a:ea typeface="游ゴシック体 ボールド"/>
                <a:cs typeface="游ゴシック体 ボールド"/>
                <a:sym typeface="游ゴシック体 ボールド"/>
              </a:defRPr>
            </a:lvl1pPr>
          </a:lstStyle>
          <a:p>
            <a:pPr/>
            <a:r>
              <a:t>スケール感</a:t>
            </a:r>
          </a:p>
        </p:txBody>
      </p:sp>
      <p:sp>
        <p:nvSpPr>
          <p:cNvPr id="210" name="TextBox 48"/>
          <p:cNvSpPr txBox="1"/>
          <p:nvPr/>
        </p:nvSpPr>
        <p:spPr>
          <a:xfrm>
            <a:off x="6400799" y="5344795"/>
            <a:ext cx="4937762" cy="14605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1B2A4A"/>
                </a:solidFill>
                <a:latin typeface="游ゴシック体 ボールド"/>
                <a:ea typeface="游ゴシック体 ボールド"/>
                <a:cs typeface="游ゴシック体 ボールド"/>
                <a:sym typeface="游ゴシック体 ボールド"/>
              </a:defRPr>
            </a:lvl1pPr>
          </a:lstStyle>
          <a:p>
            <a:pPr/>
            <a:r>
              <a:t>月間予算  ¥2億規模  ／  並行運用  5媒体  ／  運用期間  数年スパン</a:t>
            </a:r>
          </a:p>
        </p:txBody>
      </p:sp>
      <p:sp>
        <p:nvSpPr>
          <p:cNvPr id="211" name="Rounded Rectangle 49"/>
          <p:cNvSpPr/>
          <p:nvPr/>
        </p:nvSpPr>
        <p:spPr>
          <a:xfrm>
            <a:off x="6217920" y="5806440"/>
            <a:ext cx="5303521" cy="502921"/>
          </a:xfrm>
          <a:prstGeom prst="roundRect">
            <a:avLst>
              <a:gd name="adj" fmla="val 12000"/>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12" name="TextBox 50"/>
          <p:cNvSpPr txBox="1"/>
          <p:nvPr/>
        </p:nvSpPr>
        <p:spPr>
          <a:xfrm>
            <a:off x="6217920" y="5994399"/>
            <a:ext cx="5303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FFFFF"/>
                </a:solidFill>
                <a:latin typeface="游ゴシック体 ボールド"/>
                <a:ea typeface="游ゴシック体 ボールド"/>
                <a:cs typeface="游ゴシック体 ボールド"/>
                <a:sym typeface="游ゴシック体 ボールド"/>
              </a:defRPr>
            </a:lvl1pPr>
          </a:lstStyle>
          <a:p>
            <a:pPr/>
            <a:r>
              <a:t>月間運用予算 2億円規模  |  メイン媒体5種（リスティング / DSP / SNS / DA / 認知）</a:t>
            </a:r>
          </a:p>
        </p:txBody>
      </p:sp>
      <p:sp>
        <p:nvSpPr>
          <p:cNvPr id="213" name="TextBox 51"/>
          <p:cNvSpPr txBox="1"/>
          <p:nvPr/>
        </p:nvSpPr>
        <p:spPr>
          <a:xfrm>
            <a:off x="457199" y="6565392"/>
            <a:ext cx="112471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94A3B8"/>
                </a:solidFill>
                <a:latin typeface="游ゴシック体 ミディアム"/>
                <a:ea typeface="游ゴシック体 ミディアム"/>
                <a:cs typeface="游ゴシック体 ミディアム"/>
                <a:sym typeface="游ゴシック体 ミディアム"/>
              </a:defRPr>
            </a:lvl1pPr>
          </a:lstStyle>
          <a:p>
            <a:pPr/>
            <a:r>
              <a:t>※ 守秘義務の関係上、社名は非公開としております。詳細は個別にご説明いたします。</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5" name="Rectangle 1"/>
          <p:cNvSpPr/>
          <p:nvPr/>
        </p:nvSpPr>
        <p:spPr>
          <a:xfrm>
            <a:off x="-1" y="0"/>
            <a:ext cx="12188954" cy="685800"/>
          </a:xfrm>
          <a:prstGeom prst="rect">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16" name="TextBox 2"/>
          <p:cNvSpPr txBox="1"/>
          <p:nvPr/>
        </p:nvSpPr>
        <p:spPr>
          <a:xfrm>
            <a:off x="457200" y="164591"/>
            <a:ext cx="73152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FFFFF"/>
                </a:solidFill>
                <a:latin typeface="游ゴシック体 ボールド"/>
                <a:ea typeface="游ゴシック体 ボールド"/>
                <a:cs typeface="游ゴシック体 ボールド"/>
                <a:sym typeface="游ゴシック体 ボールド"/>
              </a:defRPr>
            </a:lvl1pPr>
          </a:lstStyle>
          <a:p>
            <a:pPr/>
            <a:r>
              <a:t>CASE STUDIES</a:t>
            </a:r>
          </a:p>
        </p:txBody>
      </p:sp>
      <p:sp>
        <p:nvSpPr>
          <p:cNvPr id="217" name="TextBox 3"/>
          <p:cNvSpPr txBox="1"/>
          <p:nvPr/>
        </p:nvSpPr>
        <p:spPr>
          <a:xfrm>
            <a:off x="10058400" y="164591"/>
            <a:ext cx="18288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FFFFFF"/>
                </a:solidFill>
                <a:latin typeface="游ゴシック体 ボールド"/>
                <a:ea typeface="游ゴシック体 ボールド"/>
                <a:cs typeface="游ゴシック体 ボールド"/>
                <a:sym typeface="游ゴシック体 ボールド"/>
              </a:defRPr>
            </a:lvl1pPr>
          </a:lstStyle>
          <a:p>
            <a:pPr/>
            <a:r>
              <a:t>02 / 13</a:t>
            </a:r>
          </a:p>
        </p:txBody>
      </p:sp>
      <p:sp>
        <p:nvSpPr>
          <p:cNvPr id="218" name="TextBox 4"/>
          <p:cNvSpPr txBox="1"/>
          <p:nvPr/>
        </p:nvSpPr>
        <p:spPr>
          <a:xfrm>
            <a:off x="457200" y="868680"/>
            <a:ext cx="7772400"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400">
                <a:solidFill>
                  <a:srgbClr val="1B2A4A"/>
                </a:solidFill>
                <a:latin typeface="游ゴシック体 ボールド"/>
                <a:ea typeface="游ゴシック体 ボールド"/>
                <a:cs typeface="游ゴシック体 ボールド"/>
                <a:sym typeface="游ゴシック体 ボールド"/>
              </a:defRPr>
            </a:lvl1pPr>
          </a:lstStyle>
          <a:p>
            <a:pPr/>
            <a:r>
              <a:t>不動産（法人向け売買領域）</a:t>
            </a:r>
          </a:p>
        </p:txBody>
      </p:sp>
      <p:sp>
        <p:nvSpPr>
          <p:cNvPr id="219" name="TextBox 5"/>
          <p:cNvSpPr txBox="1"/>
          <p:nvPr/>
        </p:nvSpPr>
        <p:spPr>
          <a:xfrm>
            <a:off x="457200" y="1325880"/>
            <a:ext cx="77724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4748B"/>
                </a:solidFill>
                <a:latin typeface="游ゴシック体 ミディアム"/>
                <a:ea typeface="游ゴシック体 ミディアム"/>
                <a:cs typeface="游ゴシック体 ミディアム"/>
                <a:sym typeface="游ゴシック体 ミディアム"/>
              </a:defRPr>
            </a:lvl1pPr>
          </a:lstStyle>
          <a:p>
            <a:pPr/>
            <a:r>
              <a:t>運用担当  |  アカウント新規立ち上げ   |   リスティング / ディスプレイ</a:t>
            </a:r>
          </a:p>
        </p:txBody>
      </p:sp>
      <p:sp>
        <p:nvSpPr>
          <p:cNvPr id="220" name="Rectangle 6"/>
          <p:cNvSpPr/>
          <p:nvPr/>
        </p:nvSpPr>
        <p:spPr>
          <a:xfrm>
            <a:off x="457200" y="1645920"/>
            <a:ext cx="457200" cy="45721"/>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21" name="Rectangle 7"/>
          <p:cNvSpPr/>
          <p:nvPr/>
        </p:nvSpPr>
        <p:spPr>
          <a:xfrm>
            <a:off x="914399" y="1645920"/>
            <a:ext cx="10789922"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22" name="Oval 8"/>
          <p:cNvSpPr/>
          <p:nvPr/>
        </p:nvSpPr>
        <p:spPr>
          <a:xfrm>
            <a:off x="457199" y="1874518"/>
            <a:ext cx="274322" cy="274321"/>
          </a:xfrm>
          <a:prstGeom prst="ellipse">
            <a:avLst/>
          </a:prstGeom>
          <a:solidFill>
            <a:srgbClr val="EF4444"/>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23" name="TextBox 9"/>
          <p:cNvSpPr txBox="1"/>
          <p:nvPr/>
        </p:nvSpPr>
        <p:spPr>
          <a:xfrm>
            <a:off x="457199" y="1948178"/>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01</a:t>
            </a:r>
          </a:p>
        </p:txBody>
      </p:sp>
      <p:sp>
        <p:nvSpPr>
          <p:cNvPr id="224" name="TextBox 10"/>
          <p:cNvSpPr txBox="1"/>
          <p:nvPr/>
        </p:nvSpPr>
        <p:spPr>
          <a:xfrm>
            <a:off x="822960" y="1856231"/>
            <a:ext cx="3657601"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課題</a:t>
            </a:r>
          </a:p>
        </p:txBody>
      </p:sp>
      <p:sp>
        <p:nvSpPr>
          <p:cNvPr id="225" name="Rectangle 11"/>
          <p:cNvSpPr/>
          <p:nvPr/>
        </p:nvSpPr>
        <p:spPr>
          <a:xfrm>
            <a:off x="822960" y="2148838"/>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26" name="TextBox 12"/>
          <p:cNvSpPr txBox="1"/>
          <p:nvPr/>
        </p:nvSpPr>
        <p:spPr>
          <a:xfrm>
            <a:off x="594359" y="2331720"/>
            <a:ext cx="5074922" cy="4057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0000"/>
              </a:lnSpc>
              <a:defRPr sz="1100">
                <a:solidFill>
                  <a:srgbClr val="334455"/>
                </a:solidFill>
                <a:latin typeface="游ゴシック体 ミディアム"/>
                <a:ea typeface="游ゴシック体 ミディアム"/>
                <a:cs typeface="游ゴシック体 ミディアム"/>
                <a:sym typeface="游ゴシック体 ミディアム"/>
              </a:defRPr>
            </a:lvl1pPr>
          </a:lstStyle>
          <a:p>
            <a:pPr/>
            <a:r>
              <a:t>法人向け不動産は購入意向の変動要因が複雑。一般的な運用設計だけでは安定した投資効率を出しにくかった。</a:t>
            </a:r>
          </a:p>
        </p:txBody>
      </p:sp>
      <p:sp>
        <p:nvSpPr>
          <p:cNvPr id="227" name="Oval 13"/>
          <p:cNvSpPr/>
          <p:nvPr/>
        </p:nvSpPr>
        <p:spPr>
          <a:xfrm>
            <a:off x="457199" y="3246120"/>
            <a:ext cx="274322" cy="274321"/>
          </a:xfrm>
          <a:prstGeom prst="ellipse">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28" name="TextBox 14"/>
          <p:cNvSpPr txBox="1"/>
          <p:nvPr/>
        </p:nvSpPr>
        <p:spPr>
          <a:xfrm>
            <a:off x="457199" y="3319780"/>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02</a:t>
            </a:r>
          </a:p>
        </p:txBody>
      </p:sp>
      <p:sp>
        <p:nvSpPr>
          <p:cNvPr id="229" name="TextBox 15"/>
          <p:cNvSpPr txBox="1"/>
          <p:nvPr/>
        </p:nvSpPr>
        <p:spPr>
          <a:xfrm>
            <a:off x="822960" y="3227832"/>
            <a:ext cx="3657601"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アプローチ</a:t>
            </a:r>
          </a:p>
        </p:txBody>
      </p:sp>
      <p:sp>
        <p:nvSpPr>
          <p:cNvPr id="230" name="Rectangle 16"/>
          <p:cNvSpPr/>
          <p:nvPr/>
        </p:nvSpPr>
        <p:spPr>
          <a:xfrm>
            <a:off x="822960" y="3520440"/>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31" name="TextBox 17"/>
          <p:cNvSpPr txBox="1"/>
          <p:nvPr/>
        </p:nvSpPr>
        <p:spPr>
          <a:xfrm>
            <a:off x="594359" y="3703320"/>
            <a:ext cx="5074922" cy="4057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0000"/>
              </a:lnSpc>
              <a:defRPr sz="1100">
                <a:solidFill>
                  <a:srgbClr val="334455"/>
                </a:solidFill>
                <a:latin typeface="游ゴシック体 ミディアム"/>
                <a:ea typeface="游ゴシック体 ミディアム"/>
                <a:cs typeface="游ゴシック体 ミディアム"/>
                <a:sym typeface="游ゴシック体 ミディアム"/>
              </a:defRPr>
            </a:lvl1pPr>
          </a:lstStyle>
          <a:p>
            <a:pPr/>
            <a:r>
              <a:t>為替変動とリード数の相関関係を独自に発見。為替指標に基づき運用額を動的に調整するロジックを構築し、投資効率を最大化。</a:t>
            </a:r>
          </a:p>
        </p:txBody>
      </p:sp>
      <p:sp>
        <p:nvSpPr>
          <p:cNvPr id="232" name="Oval 18"/>
          <p:cNvSpPr/>
          <p:nvPr/>
        </p:nvSpPr>
        <p:spPr>
          <a:xfrm>
            <a:off x="457199" y="5029199"/>
            <a:ext cx="274322" cy="274322"/>
          </a:xfrm>
          <a:prstGeom prst="ellipse">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33" name="TextBox 19"/>
          <p:cNvSpPr txBox="1"/>
          <p:nvPr/>
        </p:nvSpPr>
        <p:spPr>
          <a:xfrm>
            <a:off x="457199" y="5102859"/>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03</a:t>
            </a:r>
          </a:p>
        </p:txBody>
      </p:sp>
      <p:sp>
        <p:nvSpPr>
          <p:cNvPr id="234" name="TextBox 20"/>
          <p:cNvSpPr txBox="1"/>
          <p:nvPr/>
        </p:nvSpPr>
        <p:spPr>
          <a:xfrm>
            <a:off x="822960" y="5010911"/>
            <a:ext cx="36576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成果</a:t>
            </a:r>
          </a:p>
        </p:txBody>
      </p:sp>
      <p:sp>
        <p:nvSpPr>
          <p:cNvPr id="235" name="Rectangle 21"/>
          <p:cNvSpPr/>
          <p:nvPr/>
        </p:nvSpPr>
        <p:spPr>
          <a:xfrm>
            <a:off x="822960" y="5303520"/>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36" name="Rounded Rectangle 22"/>
          <p:cNvSpPr/>
          <p:nvPr/>
        </p:nvSpPr>
        <p:spPr>
          <a:xfrm>
            <a:off x="594359" y="5486400"/>
            <a:ext cx="2468881" cy="960120"/>
          </a:xfrm>
          <a:prstGeom prst="roundRect">
            <a:avLst>
              <a:gd name="adj" fmla="val 12000"/>
            </a:avLst>
          </a:prstGeom>
          <a:solidFill>
            <a:srgbClr val="D1FAE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37" name="TextBox 23"/>
          <p:cNvSpPr txBox="1"/>
          <p:nvPr/>
        </p:nvSpPr>
        <p:spPr>
          <a:xfrm>
            <a:off x="594359" y="5643879"/>
            <a:ext cx="246888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10B981"/>
                </a:solidFill>
                <a:latin typeface="游ゴシック体 ボールド"/>
                <a:ea typeface="游ゴシック体 ボールド"/>
                <a:cs typeface="游ゴシック体 ボールド"/>
                <a:sym typeface="游ゴシック体 ボールド"/>
              </a:defRPr>
            </a:lvl1pPr>
          </a:lstStyle>
          <a:p>
            <a:pPr/>
            <a:r>
              <a:t>+140%</a:t>
            </a:r>
          </a:p>
        </p:txBody>
      </p:sp>
      <p:sp>
        <p:nvSpPr>
          <p:cNvPr id="238" name="TextBox 24"/>
          <p:cNvSpPr txBox="1"/>
          <p:nvPr/>
        </p:nvSpPr>
        <p:spPr>
          <a:xfrm>
            <a:off x="594359" y="6154420"/>
            <a:ext cx="24688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64748B"/>
                </a:solidFill>
                <a:latin typeface="游ゴシック体 ミディアム"/>
                <a:ea typeface="游ゴシック体 ミディアム"/>
                <a:cs typeface="游ゴシック体 ミディアム"/>
                <a:sym typeface="游ゴシック体 ミディアム"/>
              </a:defRPr>
            </a:lvl1pPr>
          </a:lstStyle>
          <a:p>
            <a:pPr/>
            <a:r>
              <a:t>問合せ数</a:t>
            </a:r>
          </a:p>
        </p:txBody>
      </p:sp>
      <p:sp>
        <p:nvSpPr>
          <p:cNvPr id="239" name="Rounded Rectangle 25"/>
          <p:cNvSpPr/>
          <p:nvPr/>
        </p:nvSpPr>
        <p:spPr>
          <a:xfrm>
            <a:off x="3200400" y="5486400"/>
            <a:ext cx="2468880" cy="960120"/>
          </a:xfrm>
          <a:prstGeom prst="roundRect">
            <a:avLst>
              <a:gd name="adj" fmla="val 12000"/>
            </a:avLst>
          </a:prstGeom>
          <a:solidFill>
            <a:srgbClr val="D1FAE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40" name="TextBox 26"/>
          <p:cNvSpPr txBox="1"/>
          <p:nvPr/>
        </p:nvSpPr>
        <p:spPr>
          <a:xfrm>
            <a:off x="3200399" y="5643879"/>
            <a:ext cx="246888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F59E0B"/>
                </a:solidFill>
                <a:latin typeface="游ゴシック体 ボールド"/>
                <a:ea typeface="游ゴシック体 ボールド"/>
                <a:cs typeface="游ゴシック体 ボールド"/>
                <a:sym typeface="游ゴシック体 ボールド"/>
              </a:defRPr>
            </a:lvl1pPr>
          </a:lstStyle>
          <a:p>
            <a:pPr/>
            <a:r>
              <a:t>独自</a:t>
            </a:r>
          </a:p>
        </p:txBody>
      </p:sp>
      <p:sp>
        <p:nvSpPr>
          <p:cNvPr id="241" name="TextBox 27"/>
          <p:cNvSpPr txBox="1"/>
          <p:nvPr/>
        </p:nvSpPr>
        <p:spPr>
          <a:xfrm>
            <a:off x="3200399" y="6154420"/>
            <a:ext cx="24688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64748B"/>
                </a:solidFill>
                <a:latin typeface="游ゴシック体 ミディアム"/>
                <a:ea typeface="游ゴシック体 ミディアム"/>
                <a:cs typeface="游ゴシック体 ミディアム"/>
                <a:sym typeface="游ゴシック体 ミディアム"/>
              </a:defRPr>
            </a:lvl1pPr>
          </a:lstStyle>
          <a:p>
            <a:pPr/>
            <a:r>
              <a:t>相関分析ロジック</a:t>
            </a:r>
          </a:p>
        </p:txBody>
      </p:sp>
      <p:sp>
        <p:nvSpPr>
          <p:cNvPr id="242" name="Rounded Rectangle 28"/>
          <p:cNvSpPr/>
          <p:nvPr/>
        </p:nvSpPr>
        <p:spPr>
          <a:xfrm>
            <a:off x="5943600" y="1828800"/>
            <a:ext cx="5852160" cy="4572000"/>
          </a:xfrm>
          <a:prstGeom prst="roundRect">
            <a:avLst>
              <a:gd name="adj" fmla="val 12000"/>
            </a:avLst>
          </a:prstGeom>
          <a:solidFill>
            <a:srgbClr val="F1F5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43" name="TextBox 29"/>
          <p:cNvSpPr txBox="1"/>
          <p:nvPr/>
        </p:nvSpPr>
        <p:spPr>
          <a:xfrm>
            <a:off x="6217920" y="1965960"/>
            <a:ext cx="5303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4748B"/>
                </a:solidFill>
                <a:latin typeface="游ゴシック体 ボールド"/>
                <a:ea typeface="游ゴシック体 ボールド"/>
                <a:cs typeface="游ゴシック体 ボールド"/>
                <a:sym typeface="游ゴシック体 ボールド"/>
              </a:defRPr>
            </a:lvl1pPr>
          </a:lstStyle>
          <a:p>
            <a:pPr/>
            <a:r>
              <a:t>施策の図解</a:t>
            </a:r>
          </a:p>
        </p:txBody>
      </p:sp>
      <p:sp>
        <p:nvSpPr>
          <p:cNvPr id="244" name="Rectangle 30"/>
          <p:cNvSpPr/>
          <p:nvPr/>
        </p:nvSpPr>
        <p:spPr>
          <a:xfrm>
            <a:off x="6217920" y="2285999"/>
            <a:ext cx="365761" cy="36578"/>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45" name="TextBox 31"/>
          <p:cNvSpPr txBox="1"/>
          <p:nvPr/>
        </p:nvSpPr>
        <p:spPr>
          <a:xfrm>
            <a:off x="6217920" y="2423160"/>
            <a:ext cx="5303521" cy="1460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1B2A4A"/>
                </a:solidFill>
                <a:latin typeface="游ゴシック体 ボールド"/>
                <a:ea typeface="游ゴシック体 ボールド"/>
                <a:cs typeface="游ゴシック体 ボールド"/>
                <a:sym typeface="游ゴシック体 ボールド"/>
              </a:defRPr>
            </a:lvl1pPr>
          </a:lstStyle>
          <a:p>
            <a:pPr/>
            <a:r>
              <a:t>為替指標連動 × 運用額の動的調整ロジック</a:t>
            </a:r>
          </a:p>
        </p:txBody>
      </p:sp>
      <p:sp>
        <p:nvSpPr>
          <p:cNvPr id="246" name="TextBox 32"/>
          <p:cNvSpPr txBox="1"/>
          <p:nvPr/>
        </p:nvSpPr>
        <p:spPr>
          <a:xfrm>
            <a:off x="6309359" y="2788920"/>
            <a:ext cx="237744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F59E0B"/>
                </a:solidFill>
                <a:latin typeface="游ゴシック体 ボールド"/>
                <a:ea typeface="游ゴシック体 ボールド"/>
                <a:cs typeface="游ゴシック体 ボールド"/>
                <a:sym typeface="游ゴシック体 ボールド"/>
              </a:defRPr>
            </a:lvl1pPr>
          </a:lstStyle>
          <a:p>
            <a:pPr/>
            <a:r>
              <a:t>💡 独自発見の相関</a:t>
            </a:r>
          </a:p>
        </p:txBody>
      </p:sp>
      <p:sp>
        <p:nvSpPr>
          <p:cNvPr id="247" name="Rounded Rectangle 33"/>
          <p:cNvSpPr/>
          <p:nvPr/>
        </p:nvSpPr>
        <p:spPr>
          <a:xfrm>
            <a:off x="6309359" y="3063239"/>
            <a:ext cx="2377441" cy="2286001"/>
          </a:xfrm>
          <a:prstGeom prst="roundRect">
            <a:avLst>
              <a:gd name="adj" fmla="val 12000"/>
            </a:avLst>
          </a:prstGeom>
          <a:solidFill>
            <a:srgbClr val="FFFFFF"/>
          </a:solidFill>
          <a:ln w="12700">
            <a:solidFill>
              <a:srgbClr val="E2E8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48" name="TextBox 34"/>
          <p:cNvSpPr txBox="1"/>
          <p:nvPr/>
        </p:nvSpPr>
        <p:spPr>
          <a:xfrm>
            <a:off x="6446520" y="3154679"/>
            <a:ext cx="21031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334455"/>
                </a:solidFill>
                <a:latin typeface="游ゴシック体 ボールド"/>
                <a:ea typeface="游ゴシック体 ボールド"/>
                <a:cs typeface="游ゴシック体 ボールド"/>
                <a:sym typeface="游ゴシック体 ボールド"/>
              </a:defRPr>
            </a:lvl1pPr>
          </a:lstStyle>
          <a:p>
            <a:pPr/>
            <a:r>
              <a:t>為替（¥/$）</a:t>
            </a:r>
          </a:p>
        </p:txBody>
      </p:sp>
      <p:sp>
        <p:nvSpPr>
          <p:cNvPr id="249" name="Rectangle 35"/>
          <p:cNvSpPr/>
          <p:nvPr/>
        </p:nvSpPr>
        <p:spPr>
          <a:xfrm>
            <a:off x="6537959" y="3703320"/>
            <a:ext cx="256033" cy="228601"/>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50" name="Rectangle 36"/>
          <p:cNvSpPr/>
          <p:nvPr/>
        </p:nvSpPr>
        <p:spPr>
          <a:xfrm>
            <a:off x="6903719" y="3520440"/>
            <a:ext cx="256033" cy="411481"/>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51" name="Rectangle 37"/>
          <p:cNvSpPr/>
          <p:nvPr/>
        </p:nvSpPr>
        <p:spPr>
          <a:xfrm>
            <a:off x="7269480" y="3611879"/>
            <a:ext cx="256033" cy="320041"/>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52" name="Rectangle 38"/>
          <p:cNvSpPr/>
          <p:nvPr/>
        </p:nvSpPr>
        <p:spPr>
          <a:xfrm>
            <a:off x="7635240" y="3337559"/>
            <a:ext cx="256033" cy="594361"/>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53" name="Rectangle 39"/>
          <p:cNvSpPr/>
          <p:nvPr/>
        </p:nvSpPr>
        <p:spPr>
          <a:xfrm>
            <a:off x="8001000" y="3154679"/>
            <a:ext cx="256032" cy="777241"/>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54" name="TextBox 40"/>
          <p:cNvSpPr txBox="1"/>
          <p:nvPr/>
        </p:nvSpPr>
        <p:spPr>
          <a:xfrm>
            <a:off x="6446520" y="4069079"/>
            <a:ext cx="21031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10B981"/>
                </a:solidFill>
                <a:latin typeface="游ゴシック体 ボールド"/>
                <a:ea typeface="游ゴシック体 ボールド"/>
                <a:cs typeface="游ゴシック体 ボールド"/>
                <a:sym typeface="游ゴシック体 ボールド"/>
              </a:defRPr>
            </a:lvl1pPr>
          </a:lstStyle>
          <a:p>
            <a:pPr/>
            <a:r>
              <a:t>リード数</a:t>
            </a:r>
          </a:p>
        </p:txBody>
      </p:sp>
      <p:sp>
        <p:nvSpPr>
          <p:cNvPr id="255" name="Oval 41"/>
          <p:cNvSpPr/>
          <p:nvPr/>
        </p:nvSpPr>
        <p:spPr>
          <a:xfrm>
            <a:off x="6611111" y="3611879"/>
            <a:ext cx="118873" cy="118873"/>
          </a:xfrm>
          <a:prstGeom prst="ellipse">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56" name="Oval 42"/>
          <p:cNvSpPr/>
          <p:nvPr/>
        </p:nvSpPr>
        <p:spPr>
          <a:xfrm>
            <a:off x="6976871" y="3428999"/>
            <a:ext cx="118873" cy="118874"/>
          </a:xfrm>
          <a:prstGeom prst="ellipse">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57" name="Oval 43"/>
          <p:cNvSpPr/>
          <p:nvPr/>
        </p:nvSpPr>
        <p:spPr>
          <a:xfrm>
            <a:off x="7342631" y="3520440"/>
            <a:ext cx="118873" cy="118873"/>
          </a:xfrm>
          <a:prstGeom prst="ellipse">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58" name="Oval 44"/>
          <p:cNvSpPr/>
          <p:nvPr/>
        </p:nvSpPr>
        <p:spPr>
          <a:xfrm>
            <a:off x="7708392" y="3246120"/>
            <a:ext cx="118873" cy="118873"/>
          </a:xfrm>
          <a:prstGeom prst="ellipse">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59" name="Oval 45"/>
          <p:cNvSpPr/>
          <p:nvPr/>
        </p:nvSpPr>
        <p:spPr>
          <a:xfrm>
            <a:off x="8074152" y="3063239"/>
            <a:ext cx="118873" cy="118873"/>
          </a:xfrm>
          <a:prstGeom prst="ellipse">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60" name="TextBox 46"/>
          <p:cNvSpPr txBox="1"/>
          <p:nvPr/>
        </p:nvSpPr>
        <p:spPr>
          <a:xfrm>
            <a:off x="6446520" y="4937759"/>
            <a:ext cx="2103121" cy="1460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EF4444"/>
                </a:solidFill>
                <a:latin typeface="游ゴシック体 ボールド"/>
                <a:ea typeface="游ゴシック体 ボールド"/>
                <a:cs typeface="游ゴシック体 ボールド"/>
                <a:sym typeface="游ゴシック体 ボールド"/>
              </a:defRPr>
            </a:lvl1pPr>
          </a:lstStyle>
          <a:p>
            <a:pPr/>
            <a:r>
              <a:t>為替↑  ⇒  リード↑</a:t>
            </a:r>
          </a:p>
        </p:txBody>
      </p:sp>
      <p:sp>
        <p:nvSpPr>
          <p:cNvPr id="261" name="Right Arrow 47"/>
          <p:cNvSpPr/>
          <p:nvPr/>
        </p:nvSpPr>
        <p:spPr>
          <a:xfrm>
            <a:off x="8759952" y="3931920"/>
            <a:ext cx="292609" cy="365761"/>
          </a:xfrm>
          <a:prstGeom prst="rightArrow">
            <a:avLst>
              <a:gd name="adj1" fmla="val 50000"/>
              <a:gd name="adj2" fmla="val 50000"/>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62" name="TextBox 48"/>
          <p:cNvSpPr txBox="1"/>
          <p:nvPr/>
        </p:nvSpPr>
        <p:spPr>
          <a:xfrm>
            <a:off x="9144000" y="2788920"/>
            <a:ext cx="2286000" cy="1417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3B82F6"/>
                </a:solidFill>
                <a:latin typeface="游ゴシック体 ボールド"/>
                <a:ea typeface="游ゴシック体 ボールド"/>
                <a:cs typeface="游ゴシック体 ボールド"/>
                <a:sym typeface="游ゴシック体 ボールド"/>
              </a:defRPr>
            </a:lvl1pPr>
          </a:lstStyle>
          <a:p>
            <a:pPr/>
            <a:r>
              <a:t>⚙ 動的調整ロジック</a:t>
            </a:r>
          </a:p>
        </p:txBody>
      </p:sp>
      <p:sp>
        <p:nvSpPr>
          <p:cNvPr id="263" name="Rounded Rectangle 49"/>
          <p:cNvSpPr/>
          <p:nvPr/>
        </p:nvSpPr>
        <p:spPr>
          <a:xfrm>
            <a:off x="9144000" y="3063239"/>
            <a:ext cx="2286000" cy="2286001"/>
          </a:xfrm>
          <a:prstGeom prst="roundRect">
            <a:avLst>
              <a:gd name="adj" fmla="val 12000"/>
            </a:avLst>
          </a:prstGeom>
          <a:solidFill>
            <a:srgbClr val="FFFFFF"/>
          </a:solidFill>
          <a:ln w="12700">
            <a:solidFill>
              <a:srgbClr val="E2E8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64" name="Rounded Rectangle 50"/>
          <p:cNvSpPr/>
          <p:nvPr/>
        </p:nvSpPr>
        <p:spPr>
          <a:xfrm>
            <a:off x="9253728" y="3200400"/>
            <a:ext cx="1005841" cy="457200"/>
          </a:xfrm>
          <a:prstGeom prst="roundRect">
            <a:avLst>
              <a:gd name="adj" fmla="val 12000"/>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65" name="TextBox 51"/>
          <p:cNvSpPr txBox="1"/>
          <p:nvPr/>
        </p:nvSpPr>
        <p:spPr>
          <a:xfrm>
            <a:off x="9253728" y="3365499"/>
            <a:ext cx="10058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為替 高水準</a:t>
            </a:r>
          </a:p>
        </p:txBody>
      </p:sp>
      <p:sp>
        <p:nvSpPr>
          <p:cNvPr id="266" name="Right Arrow 52"/>
          <p:cNvSpPr/>
          <p:nvPr/>
        </p:nvSpPr>
        <p:spPr>
          <a:xfrm>
            <a:off x="10296143" y="3310128"/>
            <a:ext cx="256033" cy="237745"/>
          </a:xfrm>
          <a:prstGeom prst="rightArrow">
            <a:avLst>
              <a:gd name="adj1" fmla="val 50000"/>
              <a:gd name="adj2" fmla="val 50000"/>
            </a:avLst>
          </a:prstGeom>
          <a:solidFill>
            <a:srgbClr val="94A3B8"/>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67" name="Rounded Rectangle 53"/>
          <p:cNvSpPr/>
          <p:nvPr/>
        </p:nvSpPr>
        <p:spPr>
          <a:xfrm>
            <a:off x="10588752" y="3200400"/>
            <a:ext cx="731521" cy="457200"/>
          </a:xfrm>
          <a:prstGeom prst="roundRect">
            <a:avLst>
              <a:gd name="adj" fmla="val 12000"/>
            </a:avLst>
          </a:prstGeom>
          <a:solidFill>
            <a:srgbClr val="FFFFFF"/>
          </a:solidFill>
          <a:ln w="19050">
            <a:solidFill>
              <a:srgbClr val="10B981"/>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68" name="TextBox 54"/>
          <p:cNvSpPr txBox="1"/>
          <p:nvPr/>
        </p:nvSpPr>
        <p:spPr>
          <a:xfrm>
            <a:off x="10588752" y="3365499"/>
            <a:ext cx="731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10B981"/>
                </a:solidFill>
                <a:latin typeface="游ゴシック体 ボールド"/>
                <a:ea typeface="游ゴシック体 ボールド"/>
                <a:cs typeface="游ゴシック体 ボールド"/>
                <a:sym typeface="游ゴシック体 ボールド"/>
              </a:defRPr>
            </a:lvl1pPr>
          </a:lstStyle>
          <a:p>
            <a:pPr/>
            <a:r>
              <a:t>運用額 拡大</a:t>
            </a:r>
          </a:p>
        </p:txBody>
      </p:sp>
      <p:sp>
        <p:nvSpPr>
          <p:cNvPr id="269" name="Rounded Rectangle 55"/>
          <p:cNvSpPr/>
          <p:nvPr/>
        </p:nvSpPr>
        <p:spPr>
          <a:xfrm>
            <a:off x="9253728" y="3858767"/>
            <a:ext cx="1005841" cy="457201"/>
          </a:xfrm>
          <a:prstGeom prst="roundRect">
            <a:avLst>
              <a:gd name="adj" fmla="val 12000"/>
            </a:avLst>
          </a:prstGeom>
          <a:solidFill>
            <a:srgbClr val="F59E0B"/>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70" name="TextBox 56"/>
          <p:cNvSpPr txBox="1"/>
          <p:nvPr/>
        </p:nvSpPr>
        <p:spPr>
          <a:xfrm>
            <a:off x="9253728" y="4023867"/>
            <a:ext cx="10058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為替 中水準</a:t>
            </a:r>
          </a:p>
        </p:txBody>
      </p:sp>
      <p:sp>
        <p:nvSpPr>
          <p:cNvPr id="271" name="Right Arrow 57"/>
          <p:cNvSpPr/>
          <p:nvPr/>
        </p:nvSpPr>
        <p:spPr>
          <a:xfrm>
            <a:off x="10296143" y="3968496"/>
            <a:ext cx="256033" cy="237745"/>
          </a:xfrm>
          <a:prstGeom prst="rightArrow">
            <a:avLst>
              <a:gd name="adj1" fmla="val 50000"/>
              <a:gd name="adj2" fmla="val 50000"/>
            </a:avLst>
          </a:prstGeom>
          <a:solidFill>
            <a:srgbClr val="94A3B8"/>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72" name="Rounded Rectangle 58"/>
          <p:cNvSpPr/>
          <p:nvPr/>
        </p:nvSpPr>
        <p:spPr>
          <a:xfrm>
            <a:off x="10588752" y="3858767"/>
            <a:ext cx="731521" cy="457201"/>
          </a:xfrm>
          <a:prstGeom prst="roundRect">
            <a:avLst>
              <a:gd name="adj" fmla="val 12000"/>
            </a:avLst>
          </a:prstGeom>
          <a:solidFill>
            <a:srgbClr val="FFFFFF"/>
          </a:solidFill>
          <a:ln w="19050">
            <a:solidFill>
              <a:srgbClr val="F59E0B"/>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73" name="TextBox 59"/>
          <p:cNvSpPr txBox="1"/>
          <p:nvPr/>
        </p:nvSpPr>
        <p:spPr>
          <a:xfrm>
            <a:off x="10588752" y="4023867"/>
            <a:ext cx="731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59E0B"/>
                </a:solidFill>
                <a:latin typeface="游ゴシック体 ボールド"/>
                <a:ea typeface="游ゴシック体 ボールド"/>
                <a:cs typeface="游ゴシック体 ボールド"/>
                <a:sym typeface="游ゴシック体 ボールド"/>
              </a:defRPr>
            </a:lvl1pPr>
          </a:lstStyle>
          <a:p>
            <a:pPr/>
            <a:r>
              <a:t>運用額 維持</a:t>
            </a:r>
          </a:p>
        </p:txBody>
      </p:sp>
      <p:sp>
        <p:nvSpPr>
          <p:cNvPr id="274" name="Rounded Rectangle 60"/>
          <p:cNvSpPr/>
          <p:nvPr/>
        </p:nvSpPr>
        <p:spPr>
          <a:xfrm>
            <a:off x="9253728" y="4517135"/>
            <a:ext cx="1005841" cy="457201"/>
          </a:xfrm>
          <a:prstGeom prst="roundRect">
            <a:avLst>
              <a:gd name="adj" fmla="val 12000"/>
            </a:avLst>
          </a:prstGeom>
          <a:solidFill>
            <a:srgbClr val="EF4444"/>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75" name="TextBox 61"/>
          <p:cNvSpPr txBox="1"/>
          <p:nvPr/>
        </p:nvSpPr>
        <p:spPr>
          <a:xfrm>
            <a:off x="9253728" y="4682235"/>
            <a:ext cx="10058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為替 低水準</a:t>
            </a:r>
          </a:p>
        </p:txBody>
      </p:sp>
      <p:sp>
        <p:nvSpPr>
          <p:cNvPr id="276" name="Right Arrow 62"/>
          <p:cNvSpPr/>
          <p:nvPr/>
        </p:nvSpPr>
        <p:spPr>
          <a:xfrm>
            <a:off x="10296143" y="4626864"/>
            <a:ext cx="256033" cy="237745"/>
          </a:xfrm>
          <a:prstGeom prst="rightArrow">
            <a:avLst>
              <a:gd name="adj1" fmla="val 50000"/>
              <a:gd name="adj2" fmla="val 50000"/>
            </a:avLst>
          </a:prstGeom>
          <a:solidFill>
            <a:srgbClr val="94A3B8"/>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77" name="Rounded Rectangle 63"/>
          <p:cNvSpPr/>
          <p:nvPr/>
        </p:nvSpPr>
        <p:spPr>
          <a:xfrm>
            <a:off x="10588752" y="4517135"/>
            <a:ext cx="731521" cy="457201"/>
          </a:xfrm>
          <a:prstGeom prst="roundRect">
            <a:avLst>
              <a:gd name="adj" fmla="val 12000"/>
            </a:avLst>
          </a:prstGeom>
          <a:solidFill>
            <a:srgbClr val="FFFFFF"/>
          </a:solidFill>
          <a:ln w="19050">
            <a:solidFill>
              <a:srgbClr val="EF4444"/>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78" name="TextBox 64"/>
          <p:cNvSpPr txBox="1"/>
          <p:nvPr/>
        </p:nvSpPr>
        <p:spPr>
          <a:xfrm>
            <a:off x="10588752" y="4682235"/>
            <a:ext cx="731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EF4444"/>
                </a:solidFill>
                <a:latin typeface="游ゴシック体 ボールド"/>
                <a:ea typeface="游ゴシック体 ボールド"/>
                <a:cs typeface="游ゴシック体 ボールド"/>
                <a:sym typeface="游ゴシック体 ボールド"/>
              </a:defRPr>
            </a:lvl1pPr>
          </a:lstStyle>
          <a:p>
            <a:pPr/>
            <a:r>
              <a:t>運用額 抑制</a:t>
            </a:r>
          </a:p>
        </p:txBody>
      </p:sp>
      <p:sp>
        <p:nvSpPr>
          <p:cNvPr id="279" name="Rounded Rectangle 65"/>
          <p:cNvSpPr/>
          <p:nvPr/>
        </p:nvSpPr>
        <p:spPr>
          <a:xfrm>
            <a:off x="6217920" y="5806440"/>
            <a:ext cx="5303521" cy="502921"/>
          </a:xfrm>
          <a:prstGeom prst="roundRect">
            <a:avLst>
              <a:gd name="adj" fmla="val 12000"/>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80" name="TextBox 66"/>
          <p:cNvSpPr txBox="1"/>
          <p:nvPr/>
        </p:nvSpPr>
        <p:spPr>
          <a:xfrm>
            <a:off x="6217920" y="5994399"/>
            <a:ext cx="5303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FFFFF"/>
                </a:solidFill>
                <a:latin typeface="游ゴシック体 ボールド"/>
                <a:ea typeface="游ゴシック体 ボールド"/>
                <a:cs typeface="游ゴシック体 ボールド"/>
                <a:sym typeface="游ゴシック体 ボールド"/>
              </a:defRPr>
            </a:lvl1pPr>
          </a:lstStyle>
          <a:p>
            <a:pPr/>
            <a:r>
              <a:t>法人不動産 × 為替感応度の高い顧客特性を独自に発見し、投資効率を最大化</a:t>
            </a:r>
          </a:p>
        </p:txBody>
      </p:sp>
      <p:sp>
        <p:nvSpPr>
          <p:cNvPr id="281" name="TextBox 67"/>
          <p:cNvSpPr txBox="1"/>
          <p:nvPr/>
        </p:nvSpPr>
        <p:spPr>
          <a:xfrm>
            <a:off x="457199" y="6565392"/>
            <a:ext cx="112471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94A3B8"/>
                </a:solidFill>
                <a:latin typeface="游ゴシック体 ミディアム"/>
                <a:ea typeface="游ゴシック体 ミディアム"/>
                <a:cs typeface="游ゴシック体 ミディアム"/>
                <a:sym typeface="游ゴシック体 ミディアム"/>
              </a:defRPr>
            </a:lvl1pPr>
          </a:lstStyle>
          <a:p>
            <a:pPr/>
            <a:r>
              <a:t>※ 守秘義務の関係上、社名は非公開としております。詳細は個別にご説明いたします。</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3" name="Rectangle 1"/>
          <p:cNvSpPr/>
          <p:nvPr/>
        </p:nvSpPr>
        <p:spPr>
          <a:xfrm>
            <a:off x="-1" y="0"/>
            <a:ext cx="12188954" cy="685800"/>
          </a:xfrm>
          <a:prstGeom prst="rect">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84" name="TextBox 2"/>
          <p:cNvSpPr txBox="1"/>
          <p:nvPr/>
        </p:nvSpPr>
        <p:spPr>
          <a:xfrm>
            <a:off x="457200" y="164591"/>
            <a:ext cx="73152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FFFFF"/>
                </a:solidFill>
                <a:latin typeface="游ゴシック体 ボールド"/>
                <a:ea typeface="游ゴシック体 ボールド"/>
                <a:cs typeface="游ゴシック体 ボールド"/>
                <a:sym typeface="游ゴシック体 ボールド"/>
              </a:defRPr>
            </a:lvl1pPr>
          </a:lstStyle>
          <a:p>
            <a:pPr/>
            <a:r>
              <a:t>CASE STUDIES</a:t>
            </a:r>
          </a:p>
        </p:txBody>
      </p:sp>
      <p:sp>
        <p:nvSpPr>
          <p:cNvPr id="285" name="TextBox 3"/>
          <p:cNvSpPr txBox="1"/>
          <p:nvPr/>
        </p:nvSpPr>
        <p:spPr>
          <a:xfrm>
            <a:off x="10058400" y="164591"/>
            <a:ext cx="18288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FFFFFF"/>
                </a:solidFill>
                <a:latin typeface="游ゴシック体 ボールド"/>
                <a:ea typeface="游ゴシック体 ボールド"/>
                <a:cs typeface="游ゴシック体 ボールド"/>
                <a:sym typeface="游ゴシック体 ボールド"/>
              </a:defRPr>
            </a:lvl1pPr>
          </a:lstStyle>
          <a:p>
            <a:pPr/>
            <a:r>
              <a:t>03 / 13</a:t>
            </a:r>
          </a:p>
        </p:txBody>
      </p:sp>
      <p:sp>
        <p:nvSpPr>
          <p:cNvPr id="286" name="TextBox 4"/>
          <p:cNvSpPr txBox="1"/>
          <p:nvPr/>
        </p:nvSpPr>
        <p:spPr>
          <a:xfrm>
            <a:off x="457200" y="868680"/>
            <a:ext cx="7772400"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400">
                <a:solidFill>
                  <a:srgbClr val="1B2A4A"/>
                </a:solidFill>
                <a:latin typeface="游ゴシック体 ボールド"/>
                <a:ea typeface="游ゴシック体 ボールド"/>
                <a:cs typeface="游ゴシック体 ボールド"/>
                <a:sym typeface="游ゴシック体 ボールド"/>
              </a:defRPr>
            </a:lvl1pPr>
          </a:lstStyle>
          <a:p>
            <a:pPr/>
            <a:r>
              <a:t>不動産（賃貸管理領域）</a:t>
            </a:r>
          </a:p>
        </p:txBody>
      </p:sp>
      <p:sp>
        <p:nvSpPr>
          <p:cNvPr id="287" name="TextBox 5"/>
          <p:cNvSpPr txBox="1"/>
          <p:nvPr/>
        </p:nvSpPr>
        <p:spPr>
          <a:xfrm>
            <a:off x="457200" y="1325880"/>
            <a:ext cx="77724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4748B"/>
                </a:solidFill>
                <a:latin typeface="游ゴシック体 ミディアム"/>
                <a:ea typeface="游ゴシック体 ミディアム"/>
                <a:cs typeface="游ゴシック体 ミディアム"/>
                <a:sym typeface="游ゴシック体 ミディアム"/>
              </a:defRPr>
            </a:lvl1pPr>
          </a:lstStyle>
          <a:p>
            <a:pPr/>
            <a:r>
              <a:t>運用担当  |  アカウント新規立ち上げ   |   リスティング / SNS広告</a:t>
            </a:r>
          </a:p>
        </p:txBody>
      </p:sp>
      <p:sp>
        <p:nvSpPr>
          <p:cNvPr id="288" name="Rectangle 6"/>
          <p:cNvSpPr/>
          <p:nvPr/>
        </p:nvSpPr>
        <p:spPr>
          <a:xfrm>
            <a:off x="457200" y="1645920"/>
            <a:ext cx="457200" cy="45721"/>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89" name="Rectangle 7"/>
          <p:cNvSpPr/>
          <p:nvPr/>
        </p:nvSpPr>
        <p:spPr>
          <a:xfrm>
            <a:off x="914399" y="1645920"/>
            <a:ext cx="10789922"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90" name="Oval 8"/>
          <p:cNvSpPr/>
          <p:nvPr/>
        </p:nvSpPr>
        <p:spPr>
          <a:xfrm>
            <a:off x="457199" y="1874518"/>
            <a:ext cx="274322" cy="274321"/>
          </a:xfrm>
          <a:prstGeom prst="ellipse">
            <a:avLst/>
          </a:prstGeom>
          <a:solidFill>
            <a:srgbClr val="EF4444"/>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91" name="TextBox 9"/>
          <p:cNvSpPr txBox="1"/>
          <p:nvPr/>
        </p:nvSpPr>
        <p:spPr>
          <a:xfrm>
            <a:off x="457199" y="1948178"/>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01</a:t>
            </a:r>
          </a:p>
        </p:txBody>
      </p:sp>
      <p:sp>
        <p:nvSpPr>
          <p:cNvPr id="292" name="TextBox 10"/>
          <p:cNvSpPr txBox="1"/>
          <p:nvPr/>
        </p:nvSpPr>
        <p:spPr>
          <a:xfrm>
            <a:off x="822960" y="1856231"/>
            <a:ext cx="3657601"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課題</a:t>
            </a:r>
          </a:p>
        </p:txBody>
      </p:sp>
      <p:sp>
        <p:nvSpPr>
          <p:cNvPr id="293" name="Rectangle 11"/>
          <p:cNvSpPr/>
          <p:nvPr/>
        </p:nvSpPr>
        <p:spPr>
          <a:xfrm>
            <a:off x="822960" y="2148838"/>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94" name="TextBox 12"/>
          <p:cNvSpPr txBox="1"/>
          <p:nvPr/>
        </p:nvSpPr>
        <p:spPr>
          <a:xfrm>
            <a:off x="594359" y="2331720"/>
            <a:ext cx="5074922" cy="4057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0000"/>
              </a:lnSpc>
              <a:defRPr sz="1100">
                <a:solidFill>
                  <a:srgbClr val="334455"/>
                </a:solidFill>
                <a:latin typeface="游ゴシック体 ミディアム"/>
                <a:ea typeface="游ゴシック体 ミディアム"/>
                <a:cs typeface="游ゴシック体 ミディアム"/>
                <a:sym typeface="游ゴシック体 ミディアム"/>
              </a:defRPr>
            </a:lvl1pPr>
          </a:lstStyle>
          <a:p>
            <a:pPr/>
            <a:r>
              <a:t>ゼロからの新規アカウント構築。短期間で成果を出す必要があり、設計の精度が成否を分ける状況。</a:t>
            </a:r>
          </a:p>
        </p:txBody>
      </p:sp>
      <p:sp>
        <p:nvSpPr>
          <p:cNvPr id="295" name="Oval 13"/>
          <p:cNvSpPr/>
          <p:nvPr/>
        </p:nvSpPr>
        <p:spPr>
          <a:xfrm>
            <a:off x="457199" y="3246120"/>
            <a:ext cx="274322" cy="274321"/>
          </a:xfrm>
          <a:prstGeom prst="ellipse">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96" name="TextBox 14"/>
          <p:cNvSpPr txBox="1"/>
          <p:nvPr/>
        </p:nvSpPr>
        <p:spPr>
          <a:xfrm>
            <a:off x="457199" y="3319780"/>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02</a:t>
            </a:r>
          </a:p>
        </p:txBody>
      </p:sp>
      <p:sp>
        <p:nvSpPr>
          <p:cNvPr id="297" name="TextBox 15"/>
          <p:cNvSpPr txBox="1"/>
          <p:nvPr/>
        </p:nvSpPr>
        <p:spPr>
          <a:xfrm>
            <a:off x="822960" y="3227832"/>
            <a:ext cx="3657601"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アプローチ</a:t>
            </a:r>
          </a:p>
        </p:txBody>
      </p:sp>
      <p:sp>
        <p:nvSpPr>
          <p:cNvPr id="298" name="Rectangle 16"/>
          <p:cNvSpPr/>
          <p:nvPr/>
        </p:nvSpPr>
        <p:spPr>
          <a:xfrm>
            <a:off x="822960" y="3520440"/>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99" name="TextBox 17"/>
          <p:cNvSpPr txBox="1"/>
          <p:nvPr/>
        </p:nvSpPr>
        <p:spPr>
          <a:xfrm>
            <a:off x="594359" y="3703320"/>
            <a:ext cx="5074922" cy="4057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0000"/>
              </a:lnSpc>
              <a:defRPr sz="1100">
                <a:solidFill>
                  <a:srgbClr val="334455"/>
                </a:solidFill>
                <a:latin typeface="游ゴシック体 ミディアム"/>
                <a:ea typeface="游ゴシック体 ミディアム"/>
                <a:cs typeface="游ゴシック体 ミディアム"/>
                <a:sym typeface="游ゴシック体 ミディアム"/>
              </a:defRPr>
            </a:lvl1pPr>
          </a:lstStyle>
          <a:p>
            <a:pPr/>
            <a:r>
              <a:t>マッチタイプの設計と最適化ポイントの戦略的見直しを実施。短期間で成果を創出できる構造を最初から組み込み。</a:t>
            </a:r>
          </a:p>
        </p:txBody>
      </p:sp>
      <p:sp>
        <p:nvSpPr>
          <p:cNvPr id="300" name="Oval 18"/>
          <p:cNvSpPr/>
          <p:nvPr/>
        </p:nvSpPr>
        <p:spPr>
          <a:xfrm>
            <a:off x="457199" y="5029199"/>
            <a:ext cx="274322" cy="274322"/>
          </a:xfrm>
          <a:prstGeom prst="ellipse">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01" name="TextBox 19"/>
          <p:cNvSpPr txBox="1"/>
          <p:nvPr/>
        </p:nvSpPr>
        <p:spPr>
          <a:xfrm>
            <a:off x="457199" y="5102859"/>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03</a:t>
            </a:r>
          </a:p>
        </p:txBody>
      </p:sp>
      <p:sp>
        <p:nvSpPr>
          <p:cNvPr id="302" name="TextBox 20"/>
          <p:cNvSpPr txBox="1"/>
          <p:nvPr/>
        </p:nvSpPr>
        <p:spPr>
          <a:xfrm>
            <a:off x="822960" y="5010911"/>
            <a:ext cx="36576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成果</a:t>
            </a:r>
          </a:p>
        </p:txBody>
      </p:sp>
      <p:sp>
        <p:nvSpPr>
          <p:cNvPr id="303" name="Rectangle 21"/>
          <p:cNvSpPr/>
          <p:nvPr/>
        </p:nvSpPr>
        <p:spPr>
          <a:xfrm>
            <a:off x="822960" y="5303520"/>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04" name="Rounded Rectangle 22"/>
          <p:cNvSpPr/>
          <p:nvPr/>
        </p:nvSpPr>
        <p:spPr>
          <a:xfrm>
            <a:off x="594359" y="5486400"/>
            <a:ext cx="2468881" cy="960120"/>
          </a:xfrm>
          <a:prstGeom prst="roundRect">
            <a:avLst>
              <a:gd name="adj" fmla="val 12000"/>
            </a:avLst>
          </a:prstGeom>
          <a:solidFill>
            <a:srgbClr val="D1FAE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05" name="TextBox 23"/>
          <p:cNvSpPr txBox="1"/>
          <p:nvPr/>
        </p:nvSpPr>
        <p:spPr>
          <a:xfrm>
            <a:off x="594359" y="5643879"/>
            <a:ext cx="246888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10B981"/>
                </a:solidFill>
                <a:latin typeface="游ゴシック体 ボールド"/>
                <a:ea typeface="游ゴシック体 ボールド"/>
                <a:cs typeface="游ゴシック体 ボールド"/>
                <a:sym typeface="游ゴシック体 ボールド"/>
              </a:defRPr>
            </a:lvl1pPr>
          </a:lstStyle>
          <a:p>
            <a:pPr/>
            <a:r>
              <a:t>+120%</a:t>
            </a:r>
          </a:p>
        </p:txBody>
      </p:sp>
      <p:sp>
        <p:nvSpPr>
          <p:cNvPr id="306" name="TextBox 24"/>
          <p:cNvSpPr txBox="1"/>
          <p:nvPr/>
        </p:nvSpPr>
        <p:spPr>
          <a:xfrm>
            <a:off x="594359" y="6154420"/>
            <a:ext cx="24688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64748B"/>
                </a:solidFill>
                <a:latin typeface="游ゴシック体 ミディアム"/>
                <a:ea typeface="游ゴシック体 ミディアム"/>
                <a:cs typeface="游ゴシック体 ミディアム"/>
                <a:sym typeface="游ゴシック体 ミディアム"/>
              </a:defRPr>
            </a:lvl1pPr>
          </a:lstStyle>
          <a:p>
            <a:pPr/>
            <a:r>
              <a:t>問合せ数</a:t>
            </a:r>
          </a:p>
        </p:txBody>
      </p:sp>
      <p:sp>
        <p:nvSpPr>
          <p:cNvPr id="307" name="Rounded Rectangle 25"/>
          <p:cNvSpPr/>
          <p:nvPr/>
        </p:nvSpPr>
        <p:spPr>
          <a:xfrm>
            <a:off x="3200400" y="5486400"/>
            <a:ext cx="2468880" cy="960120"/>
          </a:xfrm>
          <a:prstGeom prst="roundRect">
            <a:avLst>
              <a:gd name="adj" fmla="val 12000"/>
            </a:avLst>
          </a:prstGeom>
          <a:solidFill>
            <a:srgbClr val="D1FAE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08" name="TextBox 26"/>
          <p:cNvSpPr txBox="1"/>
          <p:nvPr/>
        </p:nvSpPr>
        <p:spPr>
          <a:xfrm>
            <a:off x="3200399" y="5643879"/>
            <a:ext cx="246888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3B82F6"/>
                </a:solidFill>
                <a:latin typeface="游ゴシック体 ボールド"/>
                <a:ea typeface="游ゴシック体 ボールド"/>
                <a:cs typeface="游ゴシック体 ボールド"/>
                <a:sym typeface="游ゴシック体 ボールド"/>
              </a:defRPr>
            </a:lvl1pPr>
          </a:lstStyle>
          <a:p>
            <a:pPr/>
            <a:r>
              <a:t>短期</a:t>
            </a:r>
          </a:p>
        </p:txBody>
      </p:sp>
      <p:sp>
        <p:nvSpPr>
          <p:cNvPr id="309" name="TextBox 27"/>
          <p:cNvSpPr txBox="1"/>
          <p:nvPr/>
        </p:nvSpPr>
        <p:spPr>
          <a:xfrm>
            <a:off x="3200399" y="6154420"/>
            <a:ext cx="24688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64748B"/>
                </a:solidFill>
                <a:latin typeface="游ゴシック体 ミディアム"/>
                <a:ea typeface="游ゴシック体 ミディアム"/>
                <a:cs typeface="游ゴシック体 ミディアム"/>
                <a:sym typeface="游ゴシック体 ミディアム"/>
              </a:defRPr>
            </a:lvl1pPr>
          </a:lstStyle>
          <a:p>
            <a:pPr/>
            <a:r>
              <a:t>立ち上げ期間</a:t>
            </a:r>
          </a:p>
        </p:txBody>
      </p:sp>
      <p:sp>
        <p:nvSpPr>
          <p:cNvPr id="310" name="Rounded Rectangle 28"/>
          <p:cNvSpPr/>
          <p:nvPr/>
        </p:nvSpPr>
        <p:spPr>
          <a:xfrm>
            <a:off x="5943600" y="1828800"/>
            <a:ext cx="5852160" cy="4572000"/>
          </a:xfrm>
          <a:prstGeom prst="roundRect">
            <a:avLst>
              <a:gd name="adj" fmla="val 12000"/>
            </a:avLst>
          </a:prstGeom>
          <a:solidFill>
            <a:srgbClr val="F1F5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11" name="TextBox 29"/>
          <p:cNvSpPr txBox="1"/>
          <p:nvPr/>
        </p:nvSpPr>
        <p:spPr>
          <a:xfrm>
            <a:off x="6217920" y="1965960"/>
            <a:ext cx="5303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4748B"/>
                </a:solidFill>
                <a:latin typeface="游ゴシック体 ボールド"/>
                <a:ea typeface="游ゴシック体 ボールド"/>
                <a:cs typeface="游ゴシック体 ボールド"/>
                <a:sym typeface="游ゴシック体 ボールド"/>
              </a:defRPr>
            </a:lvl1pPr>
          </a:lstStyle>
          <a:p>
            <a:pPr/>
            <a:r>
              <a:t>施策の図解</a:t>
            </a:r>
          </a:p>
        </p:txBody>
      </p:sp>
      <p:sp>
        <p:nvSpPr>
          <p:cNvPr id="312" name="Rectangle 30"/>
          <p:cNvSpPr/>
          <p:nvPr/>
        </p:nvSpPr>
        <p:spPr>
          <a:xfrm>
            <a:off x="6217920" y="2285999"/>
            <a:ext cx="365761" cy="36578"/>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13" name="TextBox 31"/>
          <p:cNvSpPr txBox="1"/>
          <p:nvPr/>
        </p:nvSpPr>
        <p:spPr>
          <a:xfrm>
            <a:off x="6217920" y="2423160"/>
            <a:ext cx="5303521" cy="1460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1B2A4A"/>
                </a:solidFill>
                <a:latin typeface="游ゴシック体 ボールド"/>
                <a:ea typeface="游ゴシック体 ボールド"/>
                <a:cs typeface="游ゴシック体 ボールド"/>
                <a:sym typeface="游ゴシック体 ボールド"/>
              </a:defRPr>
            </a:lvl1pPr>
          </a:lstStyle>
          <a:p>
            <a:pPr/>
            <a:r>
              <a:t>マッチタイプ × 最適化ポイントの戦略的見直し</a:t>
            </a:r>
          </a:p>
        </p:txBody>
      </p:sp>
      <p:sp>
        <p:nvSpPr>
          <p:cNvPr id="314" name="TextBox 32"/>
          <p:cNvSpPr txBox="1"/>
          <p:nvPr/>
        </p:nvSpPr>
        <p:spPr>
          <a:xfrm>
            <a:off x="6217920" y="2743199"/>
            <a:ext cx="530352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3B82F6"/>
                </a:solidFill>
                <a:latin typeface="游ゴシック体 ボールド"/>
                <a:ea typeface="游ゴシック体 ボールド"/>
                <a:cs typeface="游ゴシック体 ボールド"/>
                <a:sym typeface="游ゴシック体 ボールド"/>
              </a:defRPr>
            </a:lvl1pPr>
          </a:lstStyle>
          <a:p>
            <a:pPr/>
            <a:r>
              <a:t>🎯 マッチタイプ設計</a:t>
            </a:r>
          </a:p>
        </p:txBody>
      </p:sp>
      <p:sp>
        <p:nvSpPr>
          <p:cNvPr id="315" name="Rounded Rectangle 33"/>
          <p:cNvSpPr/>
          <p:nvPr/>
        </p:nvSpPr>
        <p:spPr>
          <a:xfrm>
            <a:off x="6309359" y="3063239"/>
            <a:ext cx="1645921" cy="411481"/>
          </a:xfrm>
          <a:prstGeom prst="roundRect">
            <a:avLst>
              <a:gd name="adj" fmla="val 12000"/>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16" name="TextBox 34"/>
          <p:cNvSpPr txBox="1"/>
          <p:nvPr/>
        </p:nvSpPr>
        <p:spPr>
          <a:xfrm>
            <a:off x="6309359" y="3195955"/>
            <a:ext cx="1645921" cy="14605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FFFFF"/>
                </a:solidFill>
                <a:latin typeface="游ゴシック体 ボールド"/>
                <a:ea typeface="游ゴシック体 ボールド"/>
                <a:cs typeface="游ゴシック体 ボールド"/>
                <a:sym typeface="游ゴシック体 ボールド"/>
              </a:defRPr>
            </a:lvl1pPr>
          </a:lstStyle>
          <a:p>
            <a:pPr/>
            <a:r>
              <a:t>完全一致</a:t>
            </a:r>
          </a:p>
        </p:txBody>
      </p:sp>
      <p:sp>
        <p:nvSpPr>
          <p:cNvPr id="317" name="Rounded Rectangle 35"/>
          <p:cNvSpPr/>
          <p:nvPr/>
        </p:nvSpPr>
        <p:spPr>
          <a:xfrm>
            <a:off x="6309359" y="3474720"/>
            <a:ext cx="1645921" cy="640081"/>
          </a:xfrm>
          <a:prstGeom prst="roundRect">
            <a:avLst>
              <a:gd name="adj" fmla="val 12000"/>
            </a:avLst>
          </a:prstGeom>
          <a:solidFill>
            <a:srgbClr val="FFFFFF"/>
          </a:solidFill>
          <a:ln w="12700">
            <a:solidFill>
              <a:srgbClr val="E2E8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18" name="TextBox 36"/>
          <p:cNvSpPr txBox="1"/>
          <p:nvPr/>
        </p:nvSpPr>
        <p:spPr>
          <a:xfrm>
            <a:off x="6309359" y="3636010"/>
            <a:ext cx="164592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334455"/>
                </a:solidFill>
                <a:latin typeface="游ゴシック体 ミディアム"/>
                <a:ea typeface="游ゴシック体 ミディアム"/>
                <a:cs typeface="游ゴシック体 ミディアム"/>
                <a:sym typeface="游ゴシック体 ミディアム"/>
              </a:defRPr>
            </a:pPr>
            <a:r>
              <a:t>主要KW</a:t>
            </a:r>
          </a:p>
          <a:p>
            <a:pPr algn="ctr">
              <a:defRPr sz="1000">
                <a:solidFill>
                  <a:srgbClr val="334455"/>
                </a:solidFill>
                <a:latin typeface="游ゴシック体 ミディアム"/>
                <a:ea typeface="游ゴシック体 ミディアム"/>
                <a:cs typeface="游ゴシック体 ミディアム"/>
                <a:sym typeface="游ゴシック体 ミディアム"/>
              </a:defRPr>
            </a:pPr>
            <a:r>
              <a:t>（高効率）</a:t>
            </a:r>
          </a:p>
        </p:txBody>
      </p:sp>
      <p:sp>
        <p:nvSpPr>
          <p:cNvPr id="319" name="Rounded Rectangle 37"/>
          <p:cNvSpPr/>
          <p:nvPr/>
        </p:nvSpPr>
        <p:spPr>
          <a:xfrm>
            <a:off x="8046719" y="3063239"/>
            <a:ext cx="1645921" cy="411481"/>
          </a:xfrm>
          <a:prstGeom prst="roundRect">
            <a:avLst>
              <a:gd name="adj" fmla="val 12000"/>
            </a:avLst>
          </a:prstGeom>
          <a:solidFill>
            <a:srgbClr val="F59E0B"/>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20" name="TextBox 38"/>
          <p:cNvSpPr txBox="1"/>
          <p:nvPr/>
        </p:nvSpPr>
        <p:spPr>
          <a:xfrm>
            <a:off x="8046719" y="3195955"/>
            <a:ext cx="1645921" cy="14605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FFFFF"/>
                </a:solidFill>
                <a:latin typeface="游ゴシック体 ボールド"/>
                <a:ea typeface="游ゴシック体 ボールド"/>
                <a:cs typeface="游ゴシック体 ボールド"/>
                <a:sym typeface="游ゴシック体 ボールド"/>
              </a:defRPr>
            </a:lvl1pPr>
          </a:lstStyle>
          <a:p>
            <a:pPr/>
            <a:r>
              <a:t>フレーズ</a:t>
            </a:r>
          </a:p>
        </p:txBody>
      </p:sp>
      <p:sp>
        <p:nvSpPr>
          <p:cNvPr id="321" name="Rounded Rectangle 39"/>
          <p:cNvSpPr/>
          <p:nvPr/>
        </p:nvSpPr>
        <p:spPr>
          <a:xfrm>
            <a:off x="8046719" y="3474720"/>
            <a:ext cx="1645921" cy="640081"/>
          </a:xfrm>
          <a:prstGeom prst="roundRect">
            <a:avLst>
              <a:gd name="adj" fmla="val 12000"/>
            </a:avLst>
          </a:prstGeom>
          <a:solidFill>
            <a:srgbClr val="FFFFFF"/>
          </a:solidFill>
          <a:ln w="12700">
            <a:solidFill>
              <a:srgbClr val="E2E8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22" name="TextBox 40"/>
          <p:cNvSpPr txBox="1"/>
          <p:nvPr/>
        </p:nvSpPr>
        <p:spPr>
          <a:xfrm>
            <a:off x="8046719" y="3636010"/>
            <a:ext cx="164592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334455"/>
                </a:solidFill>
                <a:latin typeface="游ゴシック体 ミディアム"/>
                <a:ea typeface="游ゴシック体 ミディアム"/>
                <a:cs typeface="游ゴシック体 ミディアム"/>
                <a:sym typeface="游ゴシック体 ミディアム"/>
              </a:defRPr>
            </a:pPr>
            <a:r>
              <a:t>購入意向KW</a:t>
            </a:r>
          </a:p>
          <a:p>
            <a:pPr algn="ctr">
              <a:defRPr sz="1000">
                <a:solidFill>
                  <a:srgbClr val="334455"/>
                </a:solidFill>
                <a:latin typeface="游ゴシック体 ミディアム"/>
                <a:ea typeface="游ゴシック体 ミディアム"/>
                <a:cs typeface="游ゴシック体 ミディアム"/>
                <a:sym typeface="游ゴシック体 ミディアム"/>
              </a:defRPr>
            </a:pPr>
            <a:r>
              <a:t>（拡張）</a:t>
            </a:r>
          </a:p>
        </p:txBody>
      </p:sp>
      <p:sp>
        <p:nvSpPr>
          <p:cNvPr id="323" name="Rounded Rectangle 41"/>
          <p:cNvSpPr/>
          <p:nvPr/>
        </p:nvSpPr>
        <p:spPr>
          <a:xfrm>
            <a:off x="9784080" y="3063239"/>
            <a:ext cx="1645921" cy="411481"/>
          </a:xfrm>
          <a:prstGeom prst="roundRect">
            <a:avLst>
              <a:gd name="adj" fmla="val 12000"/>
            </a:avLst>
          </a:prstGeom>
          <a:solidFill>
            <a:srgbClr val="8B5C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24" name="TextBox 42"/>
          <p:cNvSpPr txBox="1"/>
          <p:nvPr/>
        </p:nvSpPr>
        <p:spPr>
          <a:xfrm>
            <a:off x="9784080" y="3195955"/>
            <a:ext cx="1645921" cy="14605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FFFFF"/>
                </a:solidFill>
                <a:latin typeface="游ゴシック体 ボールド"/>
                <a:ea typeface="游ゴシック体 ボールド"/>
                <a:cs typeface="游ゴシック体 ボールド"/>
                <a:sym typeface="游ゴシック体 ボールド"/>
              </a:defRPr>
            </a:lvl1pPr>
          </a:lstStyle>
          <a:p>
            <a:pPr/>
            <a:r>
              <a:t>部分一致</a:t>
            </a:r>
          </a:p>
        </p:txBody>
      </p:sp>
      <p:sp>
        <p:nvSpPr>
          <p:cNvPr id="325" name="Rounded Rectangle 43"/>
          <p:cNvSpPr/>
          <p:nvPr/>
        </p:nvSpPr>
        <p:spPr>
          <a:xfrm>
            <a:off x="9784080" y="3474720"/>
            <a:ext cx="1645921" cy="640081"/>
          </a:xfrm>
          <a:prstGeom prst="roundRect">
            <a:avLst>
              <a:gd name="adj" fmla="val 12000"/>
            </a:avLst>
          </a:prstGeom>
          <a:solidFill>
            <a:srgbClr val="FFFFFF"/>
          </a:solidFill>
          <a:ln w="12700">
            <a:solidFill>
              <a:srgbClr val="E2E8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26" name="TextBox 44"/>
          <p:cNvSpPr txBox="1"/>
          <p:nvPr/>
        </p:nvSpPr>
        <p:spPr>
          <a:xfrm>
            <a:off x="9784080" y="3636010"/>
            <a:ext cx="164592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334455"/>
                </a:solidFill>
                <a:latin typeface="游ゴシック体 ミディアム"/>
                <a:ea typeface="游ゴシック体 ミディアム"/>
                <a:cs typeface="游ゴシック体 ミディアム"/>
                <a:sym typeface="游ゴシック体 ミディアム"/>
              </a:defRPr>
            </a:pPr>
            <a:r>
              <a:t>探索 + Smart Bid</a:t>
            </a:r>
          </a:p>
          <a:p>
            <a:pPr algn="ctr">
              <a:defRPr sz="1000">
                <a:solidFill>
                  <a:srgbClr val="334455"/>
                </a:solidFill>
                <a:latin typeface="游ゴシック体 ミディアム"/>
                <a:ea typeface="游ゴシック体 ミディアム"/>
                <a:cs typeface="游ゴシック体 ミディアム"/>
                <a:sym typeface="游ゴシック体 ミディアム"/>
              </a:defRPr>
            </a:pPr>
            <a:r>
              <a:t>（学習）</a:t>
            </a:r>
          </a:p>
        </p:txBody>
      </p:sp>
      <p:sp>
        <p:nvSpPr>
          <p:cNvPr id="327" name="Down Arrow 45"/>
          <p:cNvSpPr/>
          <p:nvPr/>
        </p:nvSpPr>
        <p:spPr>
          <a:xfrm>
            <a:off x="7022592" y="4206240"/>
            <a:ext cx="219457" cy="1828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5400" y="10800"/>
                </a:lnTo>
                <a:lnTo>
                  <a:pt x="5400" y="0"/>
                </a:lnTo>
                <a:lnTo>
                  <a:pt x="16200" y="0"/>
                </a:lnTo>
                <a:lnTo>
                  <a:pt x="16200" y="10800"/>
                </a:lnTo>
                <a:lnTo>
                  <a:pt x="21600" y="10800"/>
                </a:lnTo>
                <a:lnTo>
                  <a:pt x="10800" y="21600"/>
                </a:lnTo>
                <a:close/>
              </a:path>
            </a:pathLst>
          </a:custGeom>
          <a:solidFill>
            <a:srgbClr val="94A3B8"/>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28" name="Down Arrow 46"/>
          <p:cNvSpPr/>
          <p:nvPr/>
        </p:nvSpPr>
        <p:spPr>
          <a:xfrm>
            <a:off x="8759952" y="4206240"/>
            <a:ext cx="219457" cy="1828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5400" y="10800"/>
                </a:lnTo>
                <a:lnTo>
                  <a:pt x="5400" y="0"/>
                </a:lnTo>
                <a:lnTo>
                  <a:pt x="16200" y="0"/>
                </a:lnTo>
                <a:lnTo>
                  <a:pt x="16200" y="10800"/>
                </a:lnTo>
                <a:lnTo>
                  <a:pt x="21600" y="10800"/>
                </a:lnTo>
                <a:lnTo>
                  <a:pt x="10800" y="21600"/>
                </a:lnTo>
                <a:close/>
              </a:path>
            </a:pathLst>
          </a:custGeom>
          <a:solidFill>
            <a:srgbClr val="94A3B8"/>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29" name="Down Arrow 47"/>
          <p:cNvSpPr/>
          <p:nvPr/>
        </p:nvSpPr>
        <p:spPr>
          <a:xfrm>
            <a:off x="10497311" y="4206240"/>
            <a:ext cx="219457" cy="1828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5400" y="10800"/>
                </a:lnTo>
                <a:lnTo>
                  <a:pt x="5400" y="0"/>
                </a:lnTo>
                <a:lnTo>
                  <a:pt x="16200" y="0"/>
                </a:lnTo>
                <a:lnTo>
                  <a:pt x="16200" y="10800"/>
                </a:lnTo>
                <a:lnTo>
                  <a:pt x="21600" y="10800"/>
                </a:lnTo>
                <a:lnTo>
                  <a:pt x="10800" y="21600"/>
                </a:lnTo>
                <a:close/>
              </a:path>
            </a:pathLst>
          </a:custGeom>
          <a:solidFill>
            <a:srgbClr val="94A3B8"/>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30" name="Rounded Rectangle 48"/>
          <p:cNvSpPr/>
          <p:nvPr/>
        </p:nvSpPr>
        <p:spPr>
          <a:xfrm>
            <a:off x="6309359" y="4480559"/>
            <a:ext cx="5120641" cy="1188721"/>
          </a:xfrm>
          <a:prstGeom prst="roundRect">
            <a:avLst>
              <a:gd name="adj" fmla="val 12000"/>
            </a:avLst>
          </a:prstGeom>
          <a:solidFill>
            <a:srgbClr val="DBEAFE"/>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31" name="TextBox 49"/>
          <p:cNvSpPr txBox="1"/>
          <p:nvPr/>
        </p:nvSpPr>
        <p:spPr>
          <a:xfrm>
            <a:off x="6309359" y="4526279"/>
            <a:ext cx="5120641" cy="14171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000">
                <a:solidFill>
                  <a:srgbClr val="1B2A4A"/>
                </a:solidFill>
                <a:latin typeface="游ゴシック体 ボールド"/>
                <a:ea typeface="游ゴシック体 ボールド"/>
                <a:cs typeface="游ゴシック体 ボールド"/>
                <a:sym typeface="游ゴシック体 ボールド"/>
              </a:defRPr>
            </a:lvl1pPr>
          </a:lstStyle>
          <a:p>
            <a:pPr/>
            <a:r>
              <a:t>⚙ 最適化ポイントの戦略再設計</a:t>
            </a:r>
          </a:p>
        </p:txBody>
      </p:sp>
      <p:sp>
        <p:nvSpPr>
          <p:cNvPr id="332" name="Rounded Rectangle 50"/>
          <p:cNvSpPr/>
          <p:nvPr/>
        </p:nvSpPr>
        <p:spPr>
          <a:xfrm>
            <a:off x="6400800" y="4892040"/>
            <a:ext cx="1584961" cy="685801"/>
          </a:xfrm>
          <a:prstGeom prst="roundRect">
            <a:avLst>
              <a:gd name="adj" fmla="val 12000"/>
            </a:avLst>
          </a:prstGeom>
          <a:solidFill>
            <a:srgbClr val="FFFFFF"/>
          </a:solidFill>
          <a:ln w="19050">
            <a:solidFill>
              <a:srgbClr val="3B82F6"/>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33" name="TextBox 51"/>
          <p:cNvSpPr txBox="1"/>
          <p:nvPr/>
        </p:nvSpPr>
        <p:spPr>
          <a:xfrm>
            <a:off x="6400799" y="5171440"/>
            <a:ext cx="158496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1B2A4A"/>
                </a:solidFill>
                <a:latin typeface="游ゴシック体 ボールド"/>
                <a:ea typeface="游ゴシック体 ボールド"/>
                <a:cs typeface="游ゴシック体 ボールド"/>
                <a:sym typeface="游ゴシック体 ボールド"/>
              </a:defRPr>
            </a:lvl1pPr>
          </a:lstStyle>
          <a:p>
            <a:pPr/>
            <a:r>
              <a:t>ターゲットCPA</a:t>
            </a:r>
          </a:p>
        </p:txBody>
      </p:sp>
      <p:sp>
        <p:nvSpPr>
          <p:cNvPr id="334" name="Rounded Rectangle 52"/>
          <p:cNvSpPr/>
          <p:nvPr/>
        </p:nvSpPr>
        <p:spPr>
          <a:xfrm>
            <a:off x="8077200" y="4892040"/>
            <a:ext cx="1584961" cy="685801"/>
          </a:xfrm>
          <a:prstGeom prst="roundRect">
            <a:avLst>
              <a:gd name="adj" fmla="val 12000"/>
            </a:avLst>
          </a:prstGeom>
          <a:solidFill>
            <a:srgbClr val="FFFFFF"/>
          </a:solidFill>
          <a:ln w="19050">
            <a:solidFill>
              <a:srgbClr val="3B82F6"/>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35" name="TextBox 53"/>
          <p:cNvSpPr txBox="1"/>
          <p:nvPr/>
        </p:nvSpPr>
        <p:spPr>
          <a:xfrm>
            <a:off x="8077199" y="5171440"/>
            <a:ext cx="158496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1B2A4A"/>
                </a:solidFill>
                <a:latin typeface="游ゴシック体 ボールド"/>
                <a:ea typeface="游ゴシック体 ボールド"/>
                <a:cs typeface="游ゴシック体 ボールド"/>
                <a:sym typeface="游ゴシック体 ボールド"/>
              </a:defRPr>
            </a:lvl1pPr>
          </a:lstStyle>
          <a:p>
            <a:pPr/>
            <a:r>
              <a:t>コンバージョン値</a:t>
            </a:r>
          </a:p>
        </p:txBody>
      </p:sp>
      <p:sp>
        <p:nvSpPr>
          <p:cNvPr id="336" name="Rounded Rectangle 54"/>
          <p:cNvSpPr/>
          <p:nvPr/>
        </p:nvSpPr>
        <p:spPr>
          <a:xfrm>
            <a:off x="9753600" y="4892040"/>
            <a:ext cx="1584961" cy="685801"/>
          </a:xfrm>
          <a:prstGeom prst="roundRect">
            <a:avLst>
              <a:gd name="adj" fmla="val 12000"/>
            </a:avLst>
          </a:prstGeom>
          <a:solidFill>
            <a:srgbClr val="FFFFFF"/>
          </a:solidFill>
          <a:ln w="19050">
            <a:solidFill>
              <a:srgbClr val="3B82F6"/>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37" name="TextBox 55"/>
          <p:cNvSpPr txBox="1"/>
          <p:nvPr/>
        </p:nvSpPr>
        <p:spPr>
          <a:xfrm>
            <a:off x="9753599" y="5171440"/>
            <a:ext cx="158496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1B2A4A"/>
                </a:solidFill>
                <a:latin typeface="游ゴシック体 ボールド"/>
                <a:ea typeface="游ゴシック体 ボールド"/>
                <a:cs typeface="游ゴシック体 ボールド"/>
                <a:sym typeface="游ゴシック体 ボールド"/>
              </a:defRPr>
            </a:lvl1pPr>
          </a:lstStyle>
          <a:p>
            <a:pPr/>
            <a:r>
              <a:t>入札戦略の段階移行</a:t>
            </a:r>
          </a:p>
        </p:txBody>
      </p:sp>
      <p:sp>
        <p:nvSpPr>
          <p:cNvPr id="338" name="Rounded Rectangle 56"/>
          <p:cNvSpPr/>
          <p:nvPr/>
        </p:nvSpPr>
        <p:spPr>
          <a:xfrm>
            <a:off x="6217920" y="5806440"/>
            <a:ext cx="5303521" cy="502921"/>
          </a:xfrm>
          <a:prstGeom prst="roundRect">
            <a:avLst>
              <a:gd name="adj" fmla="val 12000"/>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39" name="TextBox 57"/>
          <p:cNvSpPr txBox="1"/>
          <p:nvPr/>
        </p:nvSpPr>
        <p:spPr>
          <a:xfrm>
            <a:off x="6217920" y="5994399"/>
            <a:ext cx="5303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FFFFF"/>
                </a:solidFill>
                <a:latin typeface="游ゴシック体 ボールド"/>
                <a:ea typeface="游ゴシック体 ボールド"/>
                <a:cs typeface="游ゴシック体 ボールド"/>
                <a:sym typeface="游ゴシック体 ボールド"/>
              </a:defRPr>
            </a:lvl1pPr>
          </a:lstStyle>
          <a:p>
            <a:pPr/>
            <a:r>
              <a:t>ゼロからのアカウント設計  |  短期間で成果創出  |  目標・昨対比 120%以上</a:t>
            </a:r>
          </a:p>
        </p:txBody>
      </p:sp>
      <p:sp>
        <p:nvSpPr>
          <p:cNvPr id="340" name="TextBox 58"/>
          <p:cNvSpPr txBox="1"/>
          <p:nvPr/>
        </p:nvSpPr>
        <p:spPr>
          <a:xfrm>
            <a:off x="457199" y="6565392"/>
            <a:ext cx="112471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94A3B8"/>
                </a:solidFill>
                <a:latin typeface="游ゴシック体 ミディアム"/>
                <a:ea typeface="游ゴシック体 ミディアム"/>
                <a:cs typeface="游ゴシック体 ミディアム"/>
                <a:sym typeface="游ゴシック体 ミディアム"/>
              </a:defRPr>
            </a:lvl1pPr>
          </a:lstStyle>
          <a:p>
            <a:pPr/>
            <a:r>
              <a:t>※ 守秘義務の関係上、社名は非公開としております。詳細は個別にご説明いたします。</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2" name="Rectangle 1"/>
          <p:cNvSpPr/>
          <p:nvPr/>
        </p:nvSpPr>
        <p:spPr>
          <a:xfrm>
            <a:off x="-1" y="0"/>
            <a:ext cx="12188954" cy="685800"/>
          </a:xfrm>
          <a:prstGeom prst="rect">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43" name="TextBox 2"/>
          <p:cNvSpPr txBox="1"/>
          <p:nvPr/>
        </p:nvSpPr>
        <p:spPr>
          <a:xfrm>
            <a:off x="457200" y="164591"/>
            <a:ext cx="73152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FFFFF"/>
                </a:solidFill>
                <a:latin typeface="游ゴシック体 ボールド"/>
                <a:ea typeface="游ゴシック体 ボールド"/>
                <a:cs typeface="游ゴシック体 ボールド"/>
                <a:sym typeface="游ゴシック体 ボールド"/>
              </a:defRPr>
            </a:lvl1pPr>
          </a:lstStyle>
          <a:p>
            <a:pPr/>
            <a:r>
              <a:t>CASE STUDIES</a:t>
            </a:r>
          </a:p>
        </p:txBody>
      </p:sp>
      <p:sp>
        <p:nvSpPr>
          <p:cNvPr id="344" name="TextBox 3"/>
          <p:cNvSpPr txBox="1"/>
          <p:nvPr/>
        </p:nvSpPr>
        <p:spPr>
          <a:xfrm>
            <a:off x="10058400" y="164591"/>
            <a:ext cx="18288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FFFFFF"/>
                </a:solidFill>
                <a:latin typeface="游ゴシック体 ボールド"/>
                <a:ea typeface="游ゴシック体 ボールド"/>
                <a:cs typeface="游ゴシック体 ボールド"/>
                <a:sym typeface="游ゴシック体 ボールド"/>
              </a:defRPr>
            </a:lvl1pPr>
          </a:lstStyle>
          <a:p>
            <a:pPr/>
            <a:r>
              <a:t>04 / 13</a:t>
            </a:r>
          </a:p>
        </p:txBody>
      </p:sp>
      <p:sp>
        <p:nvSpPr>
          <p:cNvPr id="345" name="TextBox 4"/>
          <p:cNvSpPr txBox="1"/>
          <p:nvPr/>
        </p:nvSpPr>
        <p:spPr>
          <a:xfrm>
            <a:off x="457200" y="868680"/>
            <a:ext cx="7772400"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400">
                <a:solidFill>
                  <a:srgbClr val="1B2A4A"/>
                </a:solidFill>
                <a:latin typeface="游ゴシック体 ボールド"/>
                <a:ea typeface="游ゴシック体 ボールド"/>
                <a:cs typeface="游ゴシック体 ボールド"/>
                <a:sym typeface="游ゴシック体 ボールド"/>
              </a:defRPr>
            </a:lvl1pPr>
          </a:lstStyle>
          <a:p>
            <a:pPr/>
            <a:r>
              <a:t>不動産（地域特化 戸建て販売）</a:t>
            </a:r>
          </a:p>
        </p:txBody>
      </p:sp>
      <p:sp>
        <p:nvSpPr>
          <p:cNvPr id="346" name="TextBox 5"/>
          <p:cNvSpPr txBox="1"/>
          <p:nvPr/>
        </p:nvSpPr>
        <p:spPr>
          <a:xfrm>
            <a:off x="457200" y="1325880"/>
            <a:ext cx="77724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4748B"/>
                </a:solidFill>
                <a:latin typeface="游ゴシック体 ミディアム"/>
                <a:ea typeface="游ゴシック体 ミディアム"/>
                <a:cs typeface="游ゴシック体 ミディアム"/>
                <a:sym typeface="游ゴシック体 ミディアム"/>
              </a:defRPr>
            </a:lvl1pPr>
          </a:lstStyle>
          <a:p>
            <a:pPr/>
            <a:r>
              <a:t>顧客担当 兼 案件統括   |   リスティング / ディスプレイ / SNS / 認知 / LINE / IG / WP制作</a:t>
            </a:r>
          </a:p>
        </p:txBody>
      </p:sp>
      <p:sp>
        <p:nvSpPr>
          <p:cNvPr id="347" name="Rectangle 6"/>
          <p:cNvSpPr/>
          <p:nvPr/>
        </p:nvSpPr>
        <p:spPr>
          <a:xfrm>
            <a:off x="457200" y="1645920"/>
            <a:ext cx="457200" cy="45721"/>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48" name="Rectangle 7"/>
          <p:cNvSpPr/>
          <p:nvPr/>
        </p:nvSpPr>
        <p:spPr>
          <a:xfrm>
            <a:off x="914399" y="1645920"/>
            <a:ext cx="10789922"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49" name="Oval 8"/>
          <p:cNvSpPr/>
          <p:nvPr/>
        </p:nvSpPr>
        <p:spPr>
          <a:xfrm>
            <a:off x="457199" y="1874518"/>
            <a:ext cx="274322" cy="274321"/>
          </a:xfrm>
          <a:prstGeom prst="ellipse">
            <a:avLst/>
          </a:prstGeom>
          <a:solidFill>
            <a:srgbClr val="EF4444"/>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50" name="TextBox 9"/>
          <p:cNvSpPr txBox="1"/>
          <p:nvPr/>
        </p:nvSpPr>
        <p:spPr>
          <a:xfrm>
            <a:off x="457199" y="1948178"/>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01</a:t>
            </a:r>
          </a:p>
        </p:txBody>
      </p:sp>
      <p:sp>
        <p:nvSpPr>
          <p:cNvPr id="351" name="TextBox 10"/>
          <p:cNvSpPr txBox="1"/>
          <p:nvPr/>
        </p:nvSpPr>
        <p:spPr>
          <a:xfrm>
            <a:off x="822960" y="1856231"/>
            <a:ext cx="3657601"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課題</a:t>
            </a:r>
          </a:p>
        </p:txBody>
      </p:sp>
      <p:sp>
        <p:nvSpPr>
          <p:cNvPr id="352" name="Rectangle 11"/>
          <p:cNvSpPr/>
          <p:nvPr/>
        </p:nvSpPr>
        <p:spPr>
          <a:xfrm>
            <a:off x="822960" y="2148838"/>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53" name="TextBox 12"/>
          <p:cNvSpPr txBox="1"/>
          <p:nvPr/>
        </p:nvSpPr>
        <p:spPr>
          <a:xfrm>
            <a:off x="594359" y="2331720"/>
            <a:ext cx="5074922" cy="4057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0000"/>
              </a:lnSpc>
              <a:defRPr sz="1100">
                <a:solidFill>
                  <a:srgbClr val="334455"/>
                </a:solidFill>
                <a:latin typeface="游ゴシック体 ミディアム"/>
                <a:ea typeface="游ゴシック体 ミディアム"/>
                <a:cs typeface="游ゴシック体 ミディアム"/>
                <a:sym typeface="游ゴシック体 ミディアム"/>
              </a:defRPr>
            </a:lvl1pPr>
          </a:lstStyle>
          <a:p>
            <a:pPr/>
            <a:r>
              <a:t>単一チャネル施策では地域内シェア獲得に限界。マーケティング全体の統合的な設計が必要だった。</a:t>
            </a:r>
          </a:p>
        </p:txBody>
      </p:sp>
      <p:sp>
        <p:nvSpPr>
          <p:cNvPr id="354" name="Oval 13"/>
          <p:cNvSpPr/>
          <p:nvPr/>
        </p:nvSpPr>
        <p:spPr>
          <a:xfrm>
            <a:off x="457199" y="3246120"/>
            <a:ext cx="274322" cy="274321"/>
          </a:xfrm>
          <a:prstGeom prst="ellipse">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55" name="TextBox 14"/>
          <p:cNvSpPr txBox="1"/>
          <p:nvPr/>
        </p:nvSpPr>
        <p:spPr>
          <a:xfrm>
            <a:off x="457199" y="3319780"/>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02</a:t>
            </a:r>
          </a:p>
        </p:txBody>
      </p:sp>
      <p:sp>
        <p:nvSpPr>
          <p:cNvPr id="356" name="TextBox 15"/>
          <p:cNvSpPr txBox="1"/>
          <p:nvPr/>
        </p:nvSpPr>
        <p:spPr>
          <a:xfrm>
            <a:off x="822960" y="3227832"/>
            <a:ext cx="3657601"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アプローチ</a:t>
            </a:r>
          </a:p>
        </p:txBody>
      </p:sp>
      <p:sp>
        <p:nvSpPr>
          <p:cNvPr id="357" name="Rectangle 16"/>
          <p:cNvSpPr/>
          <p:nvPr/>
        </p:nvSpPr>
        <p:spPr>
          <a:xfrm>
            <a:off x="822960" y="3520440"/>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58" name="TextBox 17"/>
          <p:cNvSpPr txBox="1"/>
          <p:nvPr/>
        </p:nvSpPr>
        <p:spPr>
          <a:xfrm>
            <a:off x="594359" y="3703320"/>
            <a:ext cx="5074922" cy="4057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0000"/>
              </a:lnSpc>
              <a:defRPr sz="1100">
                <a:solidFill>
                  <a:srgbClr val="334455"/>
                </a:solidFill>
                <a:latin typeface="游ゴシック体 ミディアム"/>
                <a:ea typeface="游ゴシック体 ミディアム"/>
                <a:cs typeface="游ゴシック体 ミディアム"/>
                <a:sym typeface="游ゴシック体 ミディアム"/>
              </a:defRPr>
            </a:lvl1pPr>
          </a:lstStyle>
          <a:p>
            <a:pPr/>
            <a:r>
              <a:t>広告・SNS・LINE・インフルエンサー・WP制作までを横断的にディレクション。チャネル横断の統合マーケ施策を設計・実行。</a:t>
            </a:r>
          </a:p>
        </p:txBody>
      </p:sp>
      <p:sp>
        <p:nvSpPr>
          <p:cNvPr id="359" name="Oval 18"/>
          <p:cNvSpPr/>
          <p:nvPr/>
        </p:nvSpPr>
        <p:spPr>
          <a:xfrm>
            <a:off x="457199" y="5029199"/>
            <a:ext cx="274322" cy="274322"/>
          </a:xfrm>
          <a:prstGeom prst="ellipse">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60" name="TextBox 19"/>
          <p:cNvSpPr txBox="1"/>
          <p:nvPr/>
        </p:nvSpPr>
        <p:spPr>
          <a:xfrm>
            <a:off x="457199" y="5102859"/>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03</a:t>
            </a:r>
          </a:p>
        </p:txBody>
      </p:sp>
      <p:sp>
        <p:nvSpPr>
          <p:cNvPr id="361" name="TextBox 20"/>
          <p:cNvSpPr txBox="1"/>
          <p:nvPr/>
        </p:nvSpPr>
        <p:spPr>
          <a:xfrm>
            <a:off x="822960" y="5010911"/>
            <a:ext cx="36576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成果</a:t>
            </a:r>
          </a:p>
        </p:txBody>
      </p:sp>
      <p:sp>
        <p:nvSpPr>
          <p:cNvPr id="362" name="Rectangle 21"/>
          <p:cNvSpPr/>
          <p:nvPr/>
        </p:nvSpPr>
        <p:spPr>
          <a:xfrm>
            <a:off x="822960" y="5303520"/>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63" name="Rounded Rectangle 22"/>
          <p:cNvSpPr/>
          <p:nvPr/>
        </p:nvSpPr>
        <p:spPr>
          <a:xfrm>
            <a:off x="594359" y="5486400"/>
            <a:ext cx="2468881" cy="960120"/>
          </a:xfrm>
          <a:prstGeom prst="roundRect">
            <a:avLst>
              <a:gd name="adj" fmla="val 12000"/>
            </a:avLst>
          </a:prstGeom>
          <a:solidFill>
            <a:srgbClr val="D1FAE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64" name="TextBox 23"/>
          <p:cNvSpPr txBox="1"/>
          <p:nvPr/>
        </p:nvSpPr>
        <p:spPr>
          <a:xfrm>
            <a:off x="594359" y="5643879"/>
            <a:ext cx="246888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10B981"/>
                </a:solidFill>
                <a:latin typeface="游ゴシック体 ボールド"/>
                <a:ea typeface="游ゴシック体 ボールド"/>
                <a:cs typeface="游ゴシック体 ボールド"/>
                <a:sym typeface="游ゴシック体 ボールド"/>
              </a:defRPr>
            </a:lvl1pPr>
          </a:lstStyle>
          <a:p>
            <a:pPr/>
            <a:r>
              <a:t>145%</a:t>
            </a:r>
          </a:p>
        </p:txBody>
      </p:sp>
      <p:sp>
        <p:nvSpPr>
          <p:cNvPr id="365" name="TextBox 24"/>
          <p:cNvSpPr txBox="1"/>
          <p:nvPr/>
        </p:nvSpPr>
        <p:spPr>
          <a:xfrm>
            <a:off x="594359" y="6154420"/>
            <a:ext cx="24688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64748B"/>
                </a:solidFill>
                <a:latin typeface="游ゴシック体 ミディアム"/>
                <a:ea typeface="游ゴシック体 ミディアム"/>
                <a:cs typeface="游ゴシック体 ミディアム"/>
                <a:sym typeface="游ゴシック体 ミディアム"/>
              </a:defRPr>
            </a:lvl1pPr>
          </a:lstStyle>
          <a:p>
            <a:pPr/>
            <a:r>
              <a:t>来店数</a:t>
            </a:r>
          </a:p>
        </p:txBody>
      </p:sp>
      <p:sp>
        <p:nvSpPr>
          <p:cNvPr id="366" name="Rounded Rectangle 25"/>
          <p:cNvSpPr/>
          <p:nvPr/>
        </p:nvSpPr>
        <p:spPr>
          <a:xfrm>
            <a:off x="3200400" y="5486400"/>
            <a:ext cx="2468880" cy="960120"/>
          </a:xfrm>
          <a:prstGeom prst="roundRect">
            <a:avLst>
              <a:gd name="adj" fmla="val 12000"/>
            </a:avLst>
          </a:prstGeom>
          <a:solidFill>
            <a:srgbClr val="D1FAE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67" name="TextBox 26"/>
          <p:cNvSpPr txBox="1"/>
          <p:nvPr/>
        </p:nvSpPr>
        <p:spPr>
          <a:xfrm>
            <a:off x="3200399" y="5643879"/>
            <a:ext cx="246888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8B5CF6"/>
                </a:solidFill>
                <a:latin typeface="游ゴシック体 ボールド"/>
                <a:ea typeface="游ゴシック体 ボールド"/>
                <a:cs typeface="游ゴシック体 ボールド"/>
                <a:sym typeface="游ゴシック体 ボールド"/>
              </a:defRPr>
            </a:lvl1pPr>
          </a:lstStyle>
          <a:p>
            <a:pPr/>
            <a:r>
              <a:t>6ch</a:t>
            </a:r>
          </a:p>
        </p:txBody>
      </p:sp>
      <p:sp>
        <p:nvSpPr>
          <p:cNvPr id="368" name="TextBox 27"/>
          <p:cNvSpPr txBox="1"/>
          <p:nvPr/>
        </p:nvSpPr>
        <p:spPr>
          <a:xfrm>
            <a:off x="3200399" y="6154420"/>
            <a:ext cx="24688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64748B"/>
                </a:solidFill>
                <a:latin typeface="游ゴシック体 ミディアム"/>
                <a:ea typeface="游ゴシック体 ミディアム"/>
                <a:cs typeface="游ゴシック体 ミディアム"/>
                <a:sym typeface="游ゴシック体 ミディアム"/>
              </a:defRPr>
            </a:lvl1pPr>
          </a:lstStyle>
          <a:p>
            <a:pPr/>
            <a:r>
              <a:t>統合チャネル数</a:t>
            </a:r>
          </a:p>
        </p:txBody>
      </p:sp>
      <p:sp>
        <p:nvSpPr>
          <p:cNvPr id="369" name="Rounded Rectangle 28"/>
          <p:cNvSpPr/>
          <p:nvPr/>
        </p:nvSpPr>
        <p:spPr>
          <a:xfrm>
            <a:off x="5943600" y="1828800"/>
            <a:ext cx="5852160" cy="4572000"/>
          </a:xfrm>
          <a:prstGeom prst="roundRect">
            <a:avLst>
              <a:gd name="adj" fmla="val 12000"/>
            </a:avLst>
          </a:prstGeom>
          <a:solidFill>
            <a:srgbClr val="F1F5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70" name="TextBox 29"/>
          <p:cNvSpPr txBox="1"/>
          <p:nvPr/>
        </p:nvSpPr>
        <p:spPr>
          <a:xfrm>
            <a:off x="6217920" y="1965960"/>
            <a:ext cx="5303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4748B"/>
                </a:solidFill>
                <a:latin typeface="游ゴシック体 ボールド"/>
                <a:ea typeface="游ゴシック体 ボールド"/>
                <a:cs typeface="游ゴシック体 ボールド"/>
                <a:sym typeface="游ゴシック体 ボールド"/>
              </a:defRPr>
            </a:lvl1pPr>
          </a:lstStyle>
          <a:p>
            <a:pPr/>
            <a:r>
              <a:t>施策の図解</a:t>
            </a:r>
          </a:p>
        </p:txBody>
      </p:sp>
      <p:sp>
        <p:nvSpPr>
          <p:cNvPr id="371" name="Rectangle 30"/>
          <p:cNvSpPr/>
          <p:nvPr/>
        </p:nvSpPr>
        <p:spPr>
          <a:xfrm>
            <a:off x="6217920" y="2285999"/>
            <a:ext cx="365761" cy="36578"/>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72" name="TextBox 31"/>
          <p:cNvSpPr txBox="1"/>
          <p:nvPr/>
        </p:nvSpPr>
        <p:spPr>
          <a:xfrm>
            <a:off x="6217920" y="2423160"/>
            <a:ext cx="5303521" cy="1460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1B2A4A"/>
                </a:solidFill>
                <a:latin typeface="游ゴシック体 ボールド"/>
                <a:ea typeface="游ゴシック体 ボールド"/>
                <a:cs typeface="游ゴシック体 ボールド"/>
                <a:sym typeface="游ゴシック体 ボールド"/>
              </a:defRPr>
            </a:lvl1pPr>
          </a:lstStyle>
          <a:p>
            <a:pPr/>
            <a:r>
              <a:t>マーケティング全チャネルの統合ディレクション</a:t>
            </a:r>
          </a:p>
        </p:txBody>
      </p:sp>
      <p:sp>
        <p:nvSpPr>
          <p:cNvPr id="373" name="Oval 32"/>
          <p:cNvSpPr/>
          <p:nvPr/>
        </p:nvSpPr>
        <p:spPr>
          <a:xfrm>
            <a:off x="8298180" y="3634740"/>
            <a:ext cx="1143001" cy="1143001"/>
          </a:xfrm>
          <a:prstGeom prst="ellipse">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74" name="Connector 33"/>
          <p:cNvSpPr/>
          <p:nvPr/>
        </p:nvSpPr>
        <p:spPr>
          <a:xfrm flipH="1" flipV="1">
            <a:off x="6858000" y="3108960"/>
            <a:ext cx="2011680" cy="1097281"/>
          </a:xfrm>
          <a:prstGeom prst="line">
            <a:avLst/>
          </a:prstGeom>
          <a:ln>
            <a:solidFill>
              <a:srgbClr val="94A3B8"/>
            </a:solidFill>
          </a:ln>
          <a:effectLst>
            <a:outerShdw sx="100000" sy="100000" kx="0" ky="0" algn="b" rotWithShape="0" blurRad="38100" dist="20000" dir="5400000">
              <a:srgbClr val="000000">
                <a:alpha val="38000"/>
              </a:srgbClr>
            </a:outerShdw>
          </a:effectLst>
        </p:spPr>
        <p:txBody>
          <a:bodyPr lIns="45719" rIns="45719"/>
          <a:lstStyle/>
          <a:p>
            <a:pPr/>
          </a:p>
        </p:txBody>
      </p:sp>
      <p:sp>
        <p:nvSpPr>
          <p:cNvPr id="375" name="Connector 34"/>
          <p:cNvSpPr/>
          <p:nvPr/>
        </p:nvSpPr>
        <p:spPr>
          <a:xfrm flipV="1">
            <a:off x="8869680" y="2926079"/>
            <a:ext cx="1" cy="1280161"/>
          </a:xfrm>
          <a:prstGeom prst="line">
            <a:avLst/>
          </a:prstGeom>
          <a:ln>
            <a:solidFill>
              <a:srgbClr val="94A3B8"/>
            </a:solidFill>
          </a:ln>
          <a:effectLst>
            <a:outerShdw sx="100000" sy="100000" kx="0" ky="0" algn="b" rotWithShape="0" blurRad="38100" dist="20000" dir="5400000">
              <a:srgbClr val="000000">
                <a:alpha val="38000"/>
              </a:srgbClr>
            </a:outerShdw>
          </a:effectLst>
        </p:spPr>
        <p:txBody>
          <a:bodyPr lIns="45719" rIns="45719"/>
          <a:lstStyle/>
          <a:p>
            <a:pPr/>
          </a:p>
        </p:txBody>
      </p:sp>
      <p:sp>
        <p:nvSpPr>
          <p:cNvPr id="376" name="Connector 35"/>
          <p:cNvSpPr/>
          <p:nvPr/>
        </p:nvSpPr>
        <p:spPr>
          <a:xfrm flipV="1">
            <a:off x="8869680" y="3108960"/>
            <a:ext cx="2011680" cy="1097281"/>
          </a:xfrm>
          <a:prstGeom prst="line">
            <a:avLst/>
          </a:prstGeom>
          <a:ln>
            <a:solidFill>
              <a:srgbClr val="94A3B8"/>
            </a:solidFill>
          </a:ln>
          <a:effectLst>
            <a:outerShdw sx="100000" sy="100000" kx="0" ky="0" algn="b" rotWithShape="0" blurRad="38100" dist="20000" dir="5400000">
              <a:srgbClr val="000000">
                <a:alpha val="38000"/>
              </a:srgbClr>
            </a:outerShdw>
          </a:effectLst>
        </p:spPr>
        <p:txBody>
          <a:bodyPr lIns="45719" rIns="45719"/>
          <a:lstStyle/>
          <a:p>
            <a:pPr/>
          </a:p>
        </p:txBody>
      </p:sp>
      <p:sp>
        <p:nvSpPr>
          <p:cNvPr id="377" name="Connector 36"/>
          <p:cNvSpPr/>
          <p:nvPr/>
        </p:nvSpPr>
        <p:spPr>
          <a:xfrm>
            <a:off x="8869680" y="4206240"/>
            <a:ext cx="2011680" cy="960121"/>
          </a:xfrm>
          <a:prstGeom prst="line">
            <a:avLst/>
          </a:prstGeom>
          <a:ln>
            <a:solidFill>
              <a:srgbClr val="94A3B8"/>
            </a:solidFill>
          </a:ln>
          <a:effectLst>
            <a:outerShdw sx="100000" sy="100000" kx="0" ky="0" algn="b" rotWithShape="0" blurRad="38100" dist="20000" dir="5400000">
              <a:srgbClr val="000000">
                <a:alpha val="38000"/>
              </a:srgbClr>
            </a:outerShdw>
          </a:effectLst>
        </p:spPr>
        <p:txBody>
          <a:bodyPr lIns="45719" rIns="45719"/>
          <a:lstStyle/>
          <a:p>
            <a:pPr/>
          </a:p>
        </p:txBody>
      </p:sp>
      <p:sp>
        <p:nvSpPr>
          <p:cNvPr id="378" name="Connector 37"/>
          <p:cNvSpPr/>
          <p:nvPr/>
        </p:nvSpPr>
        <p:spPr>
          <a:xfrm>
            <a:off x="8869680" y="4206240"/>
            <a:ext cx="1" cy="1188721"/>
          </a:xfrm>
          <a:prstGeom prst="line">
            <a:avLst/>
          </a:prstGeom>
          <a:ln>
            <a:solidFill>
              <a:srgbClr val="94A3B8"/>
            </a:solidFill>
          </a:ln>
          <a:effectLst>
            <a:outerShdw sx="100000" sy="100000" kx="0" ky="0" algn="b" rotWithShape="0" blurRad="38100" dist="20000" dir="5400000">
              <a:srgbClr val="000000">
                <a:alpha val="38000"/>
              </a:srgbClr>
            </a:outerShdw>
          </a:effectLst>
        </p:spPr>
        <p:txBody>
          <a:bodyPr lIns="45719" rIns="45719"/>
          <a:lstStyle/>
          <a:p>
            <a:pPr/>
          </a:p>
        </p:txBody>
      </p:sp>
      <p:sp>
        <p:nvSpPr>
          <p:cNvPr id="379" name="Connector 38"/>
          <p:cNvSpPr/>
          <p:nvPr/>
        </p:nvSpPr>
        <p:spPr>
          <a:xfrm flipH="1">
            <a:off x="6858000" y="4206240"/>
            <a:ext cx="2011680" cy="960121"/>
          </a:xfrm>
          <a:prstGeom prst="line">
            <a:avLst/>
          </a:prstGeom>
          <a:ln>
            <a:solidFill>
              <a:srgbClr val="94A3B8"/>
            </a:solidFill>
          </a:ln>
          <a:effectLst>
            <a:outerShdw sx="100000" sy="100000" kx="0" ky="0" algn="b" rotWithShape="0" blurRad="38100" dist="20000" dir="5400000">
              <a:srgbClr val="000000">
                <a:alpha val="38000"/>
              </a:srgbClr>
            </a:outerShdw>
          </a:effectLst>
        </p:spPr>
        <p:txBody>
          <a:bodyPr lIns="45719" rIns="45719"/>
          <a:lstStyle/>
          <a:p>
            <a:pPr/>
          </a:p>
        </p:txBody>
      </p:sp>
      <p:sp>
        <p:nvSpPr>
          <p:cNvPr id="380" name="Oval 39"/>
          <p:cNvSpPr/>
          <p:nvPr/>
        </p:nvSpPr>
        <p:spPr>
          <a:xfrm>
            <a:off x="8298180" y="3634740"/>
            <a:ext cx="1143001" cy="1143001"/>
          </a:xfrm>
          <a:prstGeom prst="ellipse">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81" name="TextBox 40"/>
          <p:cNvSpPr txBox="1"/>
          <p:nvPr/>
        </p:nvSpPr>
        <p:spPr>
          <a:xfrm>
            <a:off x="8298180" y="4025265"/>
            <a:ext cx="1143001" cy="3619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100">
                <a:solidFill>
                  <a:srgbClr val="FFFFFF"/>
                </a:solidFill>
                <a:latin typeface="游ゴシック体 ボールド"/>
                <a:ea typeface="游ゴシック体 ボールド"/>
                <a:cs typeface="游ゴシック体 ボールド"/>
                <a:sym typeface="游ゴシック体 ボールド"/>
              </a:defRPr>
            </a:pPr>
            <a:r>
              <a:t>統合</a:t>
            </a:r>
          </a:p>
          <a:p>
            <a:pPr algn="ctr">
              <a:defRPr sz="1100">
                <a:solidFill>
                  <a:srgbClr val="FFFFFF"/>
                </a:solidFill>
                <a:latin typeface="游ゴシック体 ボールド"/>
                <a:ea typeface="游ゴシック体 ボールド"/>
                <a:cs typeface="游ゴシック体 ボールド"/>
                <a:sym typeface="游ゴシック体 ボールド"/>
              </a:defRPr>
            </a:pPr>
            <a:r>
              <a:t>ディレクション</a:t>
            </a:r>
          </a:p>
        </p:txBody>
      </p:sp>
      <p:sp>
        <p:nvSpPr>
          <p:cNvPr id="382" name="Rounded Rectangle 41"/>
          <p:cNvSpPr/>
          <p:nvPr/>
        </p:nvSpPr>
        <p:spPr>
          <a:xfrm>
            <a:off x="6217920" y="2880360"/>
            <a:ext cx="1280161" cy="457201"/>
          </a:xfrm>
          <a:prstGeom prst="roundRect">
            <a:avLst>
              <a:gd name="adj" fmla="val 12000"/>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83" name="TextBox 42"/>
          <p:cNvSpPr txBox="1"/>
          <p:nvPr/>
        </p:nvSpPr>
        <p:spPr>
          <a:xfrm>
            <a:off x="6217920" y="3045460"/>
            <a:ext cx="12801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FFFFF"/>
                </a:solidFill>
                <a:latin typeface="游ゴシック体 ボールド"/>
                <a:ea typeface="游ゴシック体 ボールド"/>
                <a:cs typeface="游ゴシック体 ボールド"/>
                <a:sym typeface="游ゴシック体 ボールド"/>
              </a:defRPr>
            </a:lvl1pPr>
          </a:lstStyle>
          <a:p>
            <a:pPr/>
            <a:r>
              <a:t>広告</a:t>
            </a:r>
          </a:p>
        </p:txBody>
      </p:sp>
      <p:sp>
        <p:nvSpPr>
          <p:cNvPr id="384" name="Rounded Rectangle 43"/>
          <p:cNvSpPr/>
          <p:nvPr/>
        </p:nvSpPr>
        <p:spPr>
          <a:xfrm>
            <a:off x="8229600" y="2697479"/>
            <a:ext cx="1280161" cy="457201"/>
          </a:xfrm>
          <a:prstGeom prst="roundRect">
            <a:avLst>
              <a:gd name="adj" fmla="val 12000"/>
            </a:avLst>
          </a:prstGeom>
          <a:solidFill>
            <a:srgbClr val="8B5C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85" name="TextBox 44"/>
          <p:cNvSpPr txBox="1"/>
          <p:nvPr/>
        </p:nvSpPr>
        <p:spPr>
          <a:xfrm>
            <a:off x="8229599" y="2862579"/>
            <a:ext cx="128016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FFFFF"/>
                </a:solidFill>
                <a:latin typeface="游ゴシック体 ボールド"/>
                <a:ea typeface="游ゴシック体 ボールド"/>
                <a:cs typeface="游ゴシック体 ボールド"/>
                <a:sym typeface="游ゴシック体 ボールド"/>
              </a:defRPr>
            </a:lvl1pPr>
          </a:lstStyle>
          <a:p>
            <a:pPr/>
            <a:r>
              <a:t>SNS</a:t>
            </a:r>
          </a:p>
        </p:txBody>
      </p:sp>
      <p:sp>
        <p:nvSpPr>
          <p:cNvPr id="386" name="Rounded Rectangle 45"/>
          <p:cNvSpPr/>
          <p:nvPr/>
        </p:nvSpPr>
        <p:spPr>
          <a:xfrm>
            <a:off x="10241280" y="2880360"/>
            <a:ext cx="1280161" cy="457201"/>
          </a:xfrm>
          <a:prstGeom prst="roundRect">
            <a:avLst>
              <a:gd name="adj" fmla="val 12000"/>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87" name="TextBox 46"/>
          <p:cNvSpPr txBox="1"/>
          <p:nvPr/>
        </p:nvSpPr>
        <p:spPr>
          <a:xfrm>
            <a:off x="10241280" y="3045460"/>
            <a:ext cx="12801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FFFFF"/>
                </a:solidFill>
                <a:latin typeface="游ゴシック体 ボールド"/>
                <a:ea typeface="游ゴシック体 ボールド"/>
                <a:cs typeface="游ゴシック体 ボールド"/>
                <a:sym typeface="游ゴシック体 ボールド"/>
              </a:defRPr>
            </a:lvl1pPr>
          </a:lstStyle>
          <a:p>
            <a:pPr/>
            <a:r>
              <a:t>LINE</a:t>
            </a:r>
          </a:p>
        </p:txBody>
      </p:sp>
      <p:sp>
        <p:nvSpPr>
          <p:cNvPr id="388" name="Rounded Rectangle 47"/>
          <p:cNvSpPr/>
          <p:nvPr/>
        </p:nvSpPr>
        <p:spPr>
          <a:xfrm>
            <a:off x="10241280" y="4937759"/>
            <a:ext cx="1280161" cy="457201"/>
          </a:xfrm>
          <a:prstGeom prst="roundRect">
            <a:avLst>
              <a:gd name="adj" fmla="val 12000"/>
            </a:avLst>
          </a:prstGeom>
          <a:solidFill>
            <a:srgbClr val="EC489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89" name="TextBox 48"/>
          <p:cNvSpPr txBox="1"/>
          <p:nvPr/>
        </p:nvSpPr>
        <p:spPr>
          <a:xfrm>
            <a:off x="10241280" y="5102859"/>
            <a:ext cx="12801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FFFFF"/>
                </a:solidFill>
                <a:latin typeface="游ゴシック体 ボールド"/>
                <a:ea typeface="游ゴシック体 ボールド"/>
                <a:cs typeface="游ゴシック体 ボールド"/>
                <a:sym typeface="游ゴシック体 ボールド"/>
              </a:defRPr>
            </a:lvl1pPr>
          </a:lstStyle>
          <a:p>
            <a:pPr/>
            <a:r>
              <a:t>IG</a:t>
            </a:r>
          </a:p>
        </p:txBody>
      </p:sp>
      <p:sp>
        <p:nvSpPr>
          <p:cNvPr id="390" name="Rounded Rectangle 49"/>
          <p:cNvSpPr/>
          <p:nvPr/>
        </p:nvSpPr>
        <p:spPr>
          <a:xfrm>
            <a:off x="8229600" y="5166359"/>
            <a:ext cx="1280161" cy="457201"/>
          </a:xfrm>
          <a:prstGeom prst="roundRect">
            <a:avLst>
              <a:gd name="adj" fmla="val 12000"/>
            </a:avLst>
          </a:prstGeom>
          <a:solidFill>
            <a:srgbClr val="F59E0B"/>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91" name="TextBox 50"/>
          <p:cNvSpPr txBox="1"/>
          <p:nvPr/>
        </p:nvSpPr>
        <p:spPr>
          <a:xfrm>
            <a:off x="8229599" y="5331459"/>
            <a:ext cx="128016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FFFFF"/>
                </a:solidFill>
                <a:latin typeface="游ゴシック体 ボールド"/>
                <a:ea typeface="游ゴシック体 ボールド"/>
                <a:cs typeface="游ゴシック体 ボールド"/>
                <a:sym typeface="游ゴシック体 ボールド"/>
              </a:defRPr>
            </a:lvl1pPr>
          </a:lstStyle>
          <a:p>
            <a:pPr/>
            <a:r>
              <a:t>インフルエンサー</a:t>
            </a:r>
          </a:p>
        </p:txBody>
      </p:sp>
      <p:sp>
        <p:nvSpPr>
          <p:cNvPr id="392" name="Rounded Rectangle 51"/>
          <p:cNvSpPr/>
          <p:nvPr/>
        </p:nvSpPr>
        <p:spPr>
          <a:xfrm>
            <a:off x="6217920" y="4937759"/>
            <a:ext cx="1280161" cy="457201"/>
          </a:xfrm>
          <a:prstGeom prst="roundRect">
            <a:avLst>
              <a:gd name="adj" fmla="val 12000"/>
            </a:avLst>
          </a:prstGeom>
          <a:solidFill>
            <a:srgbClr val="06B6D4"/>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93" name="TextBox 52"/>
          <p:cNvSpPr txBox="1"/>
          <p:nvPr/>
        </p:nvSpPr>
        <p:spPr>
          <a:xfrm>
            <a:off x="6217920" y="5102859"/>
            <a:ext cx="12801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FFFFF"/>
                </a:solidFill>
                <a:latin typeface="游ゴシック体 ボールド"/>
                <a:ea typeface="游ゴシック体 ボールド"/>
                <a:cs typeface="游ゴシック体 ボールド"/>
                <a:sym typeface="游ゴシック体 ボールド"/>
              </a:defRPr>
            </a:lvl1pPr>
          </a:lstStyle>
          <a:p>
            <a:pPr/>
            <a:r>
              <a:t>WP制作</a:t>
            </a:r>
          </a:p>
        </p:txBody>
      </p:sp>
      <p:sp>
        <p:nvSpPr>
          <p:cNvPr id="394" name="Rounded Rectangle 53"/>
          <p:cNvSpPr/>
          <p:nvPr/>
        </p:nvSpPr>
        <p:spPr>
          <a:xfrm>
            <a:off x="6217920" y="5806440"/>
            <a:ext cx="5303521" cy="502921"/>
          </a:xfrm>
          <a:prstGeom prst="roundRect">
            <a:avLst>
              <a:gd name="adj" fmla="val 12000"/>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95" name="TextBox 54"/>
          <p:cNvSpPr txBox="1"/>
          <p:nvPr/>
        </p:nvSpPr>
        <p:spPr>
          <a:xfrm>
            <a:off x="6217920" y="5994399"/>
            <a:ext cx="5303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FFFFF"/>
                </a:solidFill>
                <a:latin typeface="游ゴシック体 ボールド"/>
                <a:ea typeface="游ゴシック体 ボールド"/>
                <a:cs typeface="游ゴシック体 ボールド"/>
                <a:sym typeface="游ゴシック体 ボールド"/>
              </a:defRPr>
            </a:lvl1pPr>
          </a:lstStyle>
          <a:p>
            <a:pPr/>
            <a:r>
              <a:t>地域特化 × 全6チャネル統合  ⇒  来店数 145%</a:t>
            </a:r>
          </a:p>
        </p:txBody>
      </p:sp>
      <p:sp>
        <p:nvSpPr>
          <p:cNvPr id="396" name="TextBox 55"/>
          <p:cNvSpPr txBox="1"/>
          <p:nvPr/>
        </p:nvSpPr>
        <p:spPr>
          <a:xfrm>
            <a:off x="457199" y="6565392"/>
            <a:ext cx="112471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94A3B8"/>
                </a:solidFill>
                <a:latin typeface="游ゴシック体 ミディアム"/>
                <a:ea typeface="游ゴシック体 ミディアム"/>
                <a:cs typeface="游ゴシック体 ミディアム"/>
                <a:sym typeface="游ゴシック体 ミディアム"/>
              </a:defRPr>
            </a:lvl1pPr>
          </a:lstStyle>
          <a:p>
            <a:pPr/>
            <a:r>
              <a:t>※ 守秘義務の関係上、社名は非公開としております。詳細は個別にご説明いたします。</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8" name="Rectangle 1"/>
          <p:cNvSpPr/>
          <p:nvPr/>
        </p:nvSpPr>
        <p:spPr>
          <a:xfrm>
            <a:off x="-1" y="0"/>
            <a:ext cx="12188954" cy="685800"/>
          </a:xfrm>
          <a:prstGeom prst="rect">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399" name="TextBox 2"/>
          <p:cNvSpPr txBox="1"/>
          <p:nvPr/>
        </p:nvSpPr>
        <p:spPr>
          <a:xfrm>
            <a:off x="457200" y="164591"/>
            <a:ext cx="73152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FFFFF"/>
                </a:solidFill>
                <a:latin typeface="游ゴシック体 ボールド"/>
                <a:ea typeface="游ゴシック体 ボールド"/>
                <a:cs typeface="游ゴシック体 ボールド"/>
                <a:sym typeface="游ゴシック体 ボールド"/>
              </a:defRPr>
            </a:lvl1pPr>
          </a:lstStyle>
          <a:p>
            <a:pPr/>
            <a:r>
              <a:t>CASE STUDIES</a:t>
            </a:r>
          </a:p>
        </p:txBody>
      </p:sp>
      <p:sp>
        <p:nvSpPr>
          <p:cNvPr id="400" name="TextBox 3"/>
          <p:cNvSpPr txBox="1"/>
          <p:nvPr/>
        </p:nvSpPr>
        <p:spPr>
          <a:xfrm>
            <a:off x="10058400" y="164591"/>
            <a:ext cx="18288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FFFFFF"/>
                </a:solidFill>
                <a:latin typeface="游ゴシック体 ボールド"/>
                <a:ea typeface="游ゴシック体 ボールド"/>
                <a:cs typeface="游ゴシック体 ボールド"/>
                <a:sym typeface="游ゴシック体 ボールド"/>
              </a:defRPr>
            </a:lvl1pPr>
          </a:lstStyle>
          <a:p>
            <a:pPr/>
            <a:r>
              <a:t>GROUP</a:t>
            </a:r>
          </a:p>
        </p:txBody>
      </p:sp>
      <p:sp>
        <p:nvSpPr>
          <p:cNvPr id="401" name="Rectangle 4"/>
          <p:cNvSpPr/>
          <p:nvPr/>
        </p:nvSpPr>
        <p:spPr>
          <a:xfrm>
            <a:off x="0" y="685800"/>
            <a:ext cx="5029200" cy="6172200"/>
          </a:xfrm>
          <a:prstGeom prst="rect">
            <a:avLst/>
          </a:prstGeom>
          <a:solidFill>
            <a:srgbClr val="EDE9FE"/>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02" name="Rectangle 5"/>
          <p:cNvSpPr/>
          <p:nvPr/>
        </p:nvSpPr>
        <p:spPr>
          <a:xfrm>
            <a:off x="-1" y="685800"/>
            <a:ext cx="137162" cy="6172200"/>
          </a:xfrm>
          <a:prstGeom prst="rect">
            <a:avLst/>
          </a:prstGeom>
          <a:solidFill>
            <a:srgbClr val="8B5C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03" name="Rectangle 6"/>
          <p:cNvSpPr/>
          <p:nvPr/>
        </p:nvSpPr>
        <p:spPr>
          <a:xfrm>
            <a:off x="1773935" y="1618488"/>
            <a:ext cx="576073" cy="1152145"/>
          </a:xfrm>
          <a:prstGeom prst="rect">
            <a:avLst/>
          </a:prstGeom>
          <a:solidFill>
            <a:srgbClr val="8B5C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04" name="Rectangle 7"/>
          <p:cNvSpPr/>
          <p:nvPr/>
        </p:nvSpPr>
        <p:spPr>
          <a:xfrm>
            <a:off x="2596895" y="1865376"/>
            <a:ext cx="658369" cy="905257"/>
          </a:xfrm>
          <a:prstGeom prst="rect">
            <a:avLst/>
          </a:prstGeom>
          <a:solidFill>
            <a:srgbClr val="8B5C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05" name="Rectangle 8"/>
          <p:cNvSpPr/>
          <p:nvPr/>
        </p:nvSpPr>
        <p:spPr>
          <a:xfrm>
            <a:off x="1856232" y="1700783"/>
            <a:ext cx="131674" cy="164593"/>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06" name="Rectangle 9"/>
          <p:cNvSpPr/>
          <p:nvPr/>
        </p:nvSpPr>
        <p:spPr>
          <a:xfrm>
            <a:off x="2070200" y="1700783"/>
            <a:ext cx="131674" cy="164593"/>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07" name="Rectangle 10"/>
          <p:cNvSpPr/>
          <p:nvPr/>
        </p:nvSpPr>
        <p:spPr>
          <a:xfrm>
            <a:off x="1856232" y="1997049"/>
            <a:ext cx="131674" cy="164593"/>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08" name="Rectangle 11"/>
          <p:cNvSpPr/>
          <p:nvPr/>
        </p:nvSpPr>
        <p:spPr>
          <a:xfrm>
            <a:off x="2070200" y="1997049"/>
            <a:ext cx="131674" cy="164593"/>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09" name="Rectangle 12"/>
          <p:cNvSpPr/>
          <p:nvPr/>
        </p:nvSpPr>
        <p:spPr>
          <a:xfrm>
            <a:off x="1856232" y="2293315"/>
            <a:ext cx="131674" cy="164593"/>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10" name="Rectangle 13"/>
          <p:cNvSpPr/>
          <p:nvPr/>
        </p:nvSpPr>
        <p:spPr>
          <a:xfrm>
            <a:off x="2070200" y="2293315"/>
            <a:ext cx="131674" cy="164593"/>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11" name="TextBox 14"/>
          <p:cNvSpPr txBox="1"/>
          <p:nvPr/>
        </p:nvSpPr>
        <p:spPr>
          <a:xfrm>
            <a:off x="548640" y="4023359"/>
            <a:ext cx="411480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200">
                <a:solidFill>
                  <a:srgbClr val="8B5CF6"/>
                </a:solidFill>
                <a:latin typeface="游ゴシック体 ボールド"/>
                <a:ea typeface="游ゴシック体 ボールド"/>
                <a:cs typeface="游ゴシック体 ボールド"/>
                <a:sym typeface="游ゴシック体 ボールド"/>
              </a:defRPr>
            </a:lvl1pPr>
          </a:lstStyle>
          <a:p>
            <a:pPr/>
            <a:r>
              <a:t>B2B  &amp;  HR  /  4 CASES</a:t>
            </a:r>
          </a:p>
        </p:txBody>
      </p:sp>
      <p:sp>
        <p:nvSpPr>
          <p:cNvPr id="412" name="TextBox 15"/>
          <p:cNvSpPr txBox="1"/>
          <p:nvPr/>
        </p:nvSpPr>
        <p:spPr>
          <a:xfrm>
            <a:off x="548640" y="4434840"/>
            <a:ext cx="4114801"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4400">
                <a:solidFill>
                  <a:srgbClr val="1B2A4A"/>
                </a:solidFill>
                <a:latin typeface="游ゴシック体 ボールド"/>
                <a:ea typeface="游ゴシック体 ボールド"/>
                <a:cs typeface="游ゴシック体 ボールド"/>
                <a:sym typeface="游ゴシック体 ボールド"/>
              </a:defRPr>
            </a:lvl1pPr>
          </a:lstStyle>
          <a:p>
            <a:pPr/>
            <a:r>
              <a:t>BtoB / 人材</a:t>
            </a:r>
          </a:p>
        </p:txBody>
      </p:sp>
      <p:sp>
        <p:nvSpPr>
          <p:cNvPr id="413" name="Rectangle 16"/>
          <p:cNvSpPr/>
          <p:nvPr/>
        </p:nvSpPr>
        <p:spPr>
          <a:xfrm>
            <a:off x="2285999" y="5532120"/>
            <a:ext cx="640082" cy="45721"/>
          </a:xfrm>
          <a:prstGeom prst="rect">
            <a:avLst/>
          </a:prstGeom>
          <a:solidFill>
            <a:srgbClr val="8B5C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14" name="TextBox 17"/>
          <p:cNvSpPr txBox="1"/>
          <p:nvPr/>
        </p:nvSpPr>
        <p:spPr>
          <a:xfrm>
            <a:off x="5486399" y="914399"/>
            <a:ext cx="630936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4748B"/>
                </a:solidFill>
                <a:latin typeface="游ゴシック体 ボールド"/>
                <a:ea typeface="游ゴシック体 ボールド"/>
                <a:cs typeface="游ゴシック体 ボールド"/>
                <a:sym typeface="游ゴシック体 ボールド"/>
              </a:defRPr>
            </a:lvl1pPr>
          </a:lstStyle>
          <a:p>
            <a:pPr/>
            <a:r>
              <a:t>CASES IN THIS GROUP</a:t>
            </a:r>
          </a:p>
        </p:txBody>
      </p:sp>
      <p:sp>
        <p:nvSpPr>
          <p:cNvPr id="415" name="Rectangle 18"/>
          <p:cNvSpPr/>
          <p:nvPr/>
        </p:nvSpPr>
        <p:spPr>
          <a:xfrm>
            <a:off x="5486399" y="1234439"/>
            <a:ext cx="6309362" cy="18289"/>
          </a:xfrm>
          <a:prstGeom prst="rect">
            <a:avLst/>
          </a:prstGeom>
          <a:solidFill>
            <a:srgbClr val="8B5C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16" name="Rectangle 19"/>
          <p:cNvSpPr/>
          <p:nvPr/>
        </p:nvSpPr>
        <p:spPr>
          <a:xfrm>
            <a:off x="5486399" y="1463039"/>
            <a:ext cx="640082" cy="640081"/>
          </a:xfrm>
          <a:prstGeom prst="rect">
            <a:avLst/>
          </a:prstGeom>
          <a:solidFill>
            <a:srgbClr val="8B5C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17" name="TextBox 20"/>
          <p:cNvSpPr txBox="1"/>
          <p:nvPr/>
        </p:nvSpPr>
        <p:spPr>
          <a:xfrm>
            <a:off x="5486399" y="1668780"/>
            <a:ext cx="640082"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FFFFFF"/>
                </a:solidFill>
                <a:latin typeface="游ゴシック体 ボールド"/>
                <a:ea typeface="游ゴシック体 ボールド"/>
                <a:cs typeface="游ゴシック体 ボールド"/>
                <a:sym typeface="游ゴシック体 ボールド"/>
              </a:defRPr>
            </a:lvl1pPr>
          </a:lstStyle>
          <a:p>
            <a:pPr/>
            <a:r>
              <a:t>05</a:t>
            </a:r>
          </a:p>
        </p:txBody>
      </p:sp>
      <p:sp>
        <p:nvSpPr>
          <p:cNvPr id="418" name="TextBox 21"/>
          <p:cNvSpPr txBox="1"/>
          <p:nvPr/>
        </p:nvSpPr>
        <p:spPr>
          <a:xfrm>
            <a:off x="6263640" y="1463039"/>
            <a:ext cx="5532121" cy="1714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1B2A4A"/>
                </a:solidFill>
                <a:latin typeface="游ゴシック体 ボールド"/>
                <a:ea typeface="游ゴシック体 ボールド"/>
                <a:cs typeface="游ゴシック体 ボールド"/>
                <a:sym typeface="游ゴシック体 ボールド"/>
              </a:defRPr>
            </a:lvl1pPr>
          </a:lstStyle>
          <a:p>
            <a:pPr/>
            <a:r>
              <a:t>BtoB（知財系サービス）</a:t>
            </a:r>
          </a:p>
        </p:txBody>
      </p:sp>
      <p:sp>
        <p:nvSpPr>
          <p:cNvPr id="419" name="TextBox 22"/>
          <p:cNvSpPr txBox="1"/>
          <p:nvPr/>
        </p:nvSpPr>
        <p:spPr>
          <a:xfrm>
            <a:off x="6263640" y="1783079"/>
            <a:ext cx="5532121" cy="1460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8B5CF6"/>
                </a:solidFill>
                <a:latin typeface="游ゴシック体 ボールド"/>
                <a:ea typeface="游ゴシック体 ボールド"/>
                <a:cs typeface="游ゴシック体 ボールド"/>
                <a:sym typeface="游ゴシック体 ボールド"/>
              </a:defRPr>
            </a:lvl1pPr>
          </a:lstStyle>
          <a:p>
            <a:pPr/>
            <a:r>
              <a:t>社内ギネス達成  |  市場構造分析</a:t>
            </a:r>
          </a:p>
        </p:txBody>
      </p:sp>
      <p:sp>
        <p:nvSpPr>
          <p:cNvPr id="420" name="Rectangle 23"/>
          <p:cNvSpPr/>
          <p:nvPr/>
        </p:nvSpPr>
        <p:spPr>
          <a:xfrm>
            <a:off x="5486399" y="2606039"/>
            <a:ext cx="640082" cy="640081"/>
          </a:xfrm>
          <a:prstGeom prst="rect">
            <a:avLst/>
          </a:prstGeom>
          <a:solidFill>
            <a:srgbClr val="8B5C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21" name="TextBox 24"/>
          <p:cNvSpPr txBox="1"/>
          <p:nvPr/>
        </p:nvSpPr>
        <p:spPr>
          <a:xfrm>
            <a:off x="5486399" y="2811780"/>
            <a:ext cx="640082"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FFFFFF"/>
                </a:solidFill>
                <a:latin typeface="游ゴシック体 ボールド"/>
                <a:ea typeface="游ゴシック体 ボールド"/>
                <a:cs typeface="游ゴシック体 ボールド"/>
                <a:sym typeface="游ゴシック体 ボールド"/>
              </a:defRPr>
            </a:lvl1pPr>
          </a:lstStyle>
          <a:p>
            <a:pPr/>
            <a:r>
              <a:t>06</a:t>
            </a:r>
          </a:p>
        </p:txBody>
      </p:sp>
      <p:sp>
        <p:nvSpPr>
          <p:cNvPr id="422" name="TextBox 25"/>
          <p:cNvSpPr txBox="1"/>
          <p:nvPr/>
        </p:nvSpPr>
        <p:spPr>
          <a:xfrm>
            <a:off x="6263640" y="2606039"/>
            <a:ext cx="5532121" cy="1714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1B2A4A"/>
                </a:solidFill>
                <a:latin typeface="游ゴシック体 ボールド"/>
                <a:ea typeface="游ゴシック体 ボールド"/>
                <a:cs typeface="游ゴシック体 ボールド"/>
                <a:sym typeface="游ゴシック体 ボールド"/>
              </a:defRPr>
            </a:lvl1pPr>
          </a:lstStyle>
          <a:p>
            <a:pPr/>
            <a:r>
              <a:t>人材（特化型転職エージェント）</a:t>
            </a:r>
          </a:p>
        </p:txBody>
      </p:sp>
      <p:sp>
        <p:nvSpPr>
          <p:cNvPr id="423" name="TextBox 26"/>
          <p:cNvSpPr txBox="1"/>
          <p:nvPr/>
        </p:nvSpPr>
        <p:spPr>
          <a:xfrm>
            <a:off x="6263640" y="2926079"/>
            <a:ext cx="5532121" cy="1460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8B5CF6"/>
                </a:solidFill>
                <a:latin typeface="游ゴシック体 ボールド"/>
                <a:ea typeface="游ゴシック体 ボールド"/>
                <a:cs typeface="游ゴシック体 ボールド"/>
                <a:sym typeface="游ゴシック体 ボールド"/>
              </a:defRPr>
            </a:lvl1pPr>
          </a:lstStyle>
          <a:p>
            <a:pPr/>
            <a:r>
              <a:t>CPA -50%  |  CVR 125%</a:t>
            </a:r>
          </a:p>
        </p:txBody>
      </p:sp>
      <p:sp>
        <p:nvSpPr>
          <p:cNvPr id="424" name="Rectangle 27"/>
          <p:cNvSpPr/>
          <p:nvPr/>
        </p:nvSpPr>
        <p:spPr>
          <a:xfrm>
            <a:off x="5486399" y="3749040"/>
            <a:ext cx="640082" cy="640081"/>
          </a:xfrm>
          <a:prstGeom prst="rect">
            <a:avLst/>
          </a:prstGeom>
          <a:solidFill>
            <a:srgbClr val="8B5C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25" name="TextBox 28"/>
          <p:cNvSpPr txBox="1"/>
          <p:nvPr/>
        </p:nvSpPr>
        <p:spPr>
          <a:xfrm>
            <a:off x="5486399" y="3954780"/>
            <a:ext cx="640082"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FFFFFF"/>
                </a:solidFill>
                <a:latin typeface="游ゴシック体 ボールド"/>
                <a:ea typeface="游ゴシック体 ボールド"/>
                <a:cs typeface="游ゴシック体 ボールド"/>
                <a:sym typeface="游ゴシック体 ボールド"/>
              </a:defRPr>
            </a:lvl1pPr>
          </a:lstStyle>
          <a:p>
            <a:pPr/>
            <a:r>
              <a:t>07</a:t>
            </a:r>
          </a:p>
        </p:txBody>
      </p:sp>
      <p:sp>
        <p:nvSpPr>
          <p:cNvPr id="426" name="TextBox 29"/>
          <p:cNvSpPr txBox="1"/>
          <p:nvPr/>
        </p:nvSpPr>
        <p:spPr>
          <a:xfrm>
            <a:off x="6263640" y="3749040"/>
            <a:ext cx="5532121" cy="1714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1B2A4A"/>
                </a:solidFill>
                <a:latin typeface="游ゴシック体 ボールド"/>
                <a:ea typeface="游ゴシック体 ボールド"/>
                <a:cs typeface="游ゴシック体 ボールド"/>
                <a:sym typeface="游ゴシック体 ボールド"/>
              </a:defRPr>
            </a:lvl1pPr>
          </a:lstStyle>
          <a:p>
            <a:pPr/>
            <a:r>
              <a:t>BtoB（SNS拡張ツール）</a:t>
            </a:r>
          </a:p>
        </p:txBody>
      </p:sp>
      <p:sp>
        <p:nvSpPr>
          <p:cNvPr id="427" name="TextBox 30"/>
          <p:cNvSpPr txBox="1"/>
          <p:nvPr/>
        </p:nvSpPr>
        <p:spPr>
          <a:xfrm>
            <a:off x="6263640" y="4069079"/>
            <a:ext cx="5532121" cy="1460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8B5CF6"/>
                </a:solidFill>
                <a:latin typeface="游ゴシック体 ボールド"/>
                <a:ea typeface="游ゴシック体 ボールド"/>
                <a:cs typeface="游ゴシック体 ボールド"/>
                <a:sym typeface="游ゴシック体 ボールド"/>
              </a:defRPr>
            </a:lvl1pPr>
          </a:lstStyle>
          <a:p>
            <a:pPr/>
            <a:r>
              <a:t>商談 1.5倍  |  データ横断分析</a:t>
            </a:r>
          </a:p>
        </p:txBody>
      </p:sp>
      <p:sp>
        <p:nvSpPr>
          <p:cNvPr id="428" name="Rectangle 31"/>
          <p:cNvSpPr/>
          <p:nvPr/>
        </p:nvSpPr>
        <p:spPr>
          <a:xfrm>
            <a:off x="5486399" y="4892040"/>
            <a:ext cx="640082" cy="640081"/>
          </a:xfrm>
          <a:prstGeom prst="rect">
            <a:avLst/>
          </a:prstGeom>
          <a:solidFill>
            <a:srgbClr val="8B5C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29" name="TextBox 32"/>
          <p:cNvSpPr txBox="1"/>
          <p:nvPr/>
        </p:nvSpPr>
        <p:spPr>
          <a:xfrm>
            <a:off x="5486399" y="5097780"/>
            <a:ext cx="640082"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FFFFFF"/>
                </a:solidFill>
                <a:latin typeface="游ゴシック体 ボールド"/>
                <a:ea typeface="游ゴシック体 ボールド"/>
                <a:cs typeface="游ゴシック体 ボールド"/>
                <a:sym typeface="游ゴシック体 ボールド"/>
              </a:defRPr>
            </a:lvl1pPr>
          </a:lstStyle>
          <a:p>
            <a:pPr/>
            <a:r>
              <a:t>08</a:t>
            </a:r>
          </a:p>
        </p:txBody>
      </p:sp>
      <p:sp>
        <p:nvSpPr>
          <p:cNvPr id="430" name="TextBox 33"/>
          <p:cNvSpPr txBox="1"/>
          <p:nvPr/>
        </p:nvSpPr>
        <p:spPr>
          <a:xfrm>
            <a:off x="6263640" y="4892040"/>
            <a:ext cx="5532121" cy="1714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1B2A4A"/>
                </a:solidFill>
                <a:latin typeface="游ゴシック体 ボールド"/>
                <a:ea typeface="游ゴシック体 ボールド"/>
                <a:cs typeface="游ゴシック体 ボールド"/>
                <a:sym typeface="游ゴシック体 ボールド"/>
              </a:defRPr>
            </a:lvl1pPr>
          </a:lstStyle>
          <a:p>
            <a:pPr/>
            <a:r>
              <a:t>BtoB（領域特化 採用サービス）</a:t>
            </a:r>
          </a:p>
        </p:txBody>
      </p:sp>
      <p:sp>
        <p:nvSpPr>
          <p:cNvPr id="431" name="TextBox 34"/>
          <p:cNvSpPr txBox="1"/>
          <p:nvPr/>
        </p:nvSpPr>
        <p:spPr>
          <a:xfrm>
            <a:off x="6263640" y="5212079"/>
            <a:ext cx="5532121" cy="1460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8B5CF6"/>
                </a:solidFill>
                <a:latin typeface="游ゴシック体 ボールド"/>
                <a:ea typeface="游ゴシック体 ボールド"/>
                <a:cs typeface="游ゴシック体 ボールド"/>
                <a:sym typeface="游ゴシック体 ボールド"/>
              </a:defRPr>
            </a:lvl1pPr>
          </a:lstStyle>
          <a:p>
            <a:pPr/>
            <a:r>
              <a:t>リード +130%  |  営業代行 +50/月</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3" name="Rectangle 1"/>
          <p:cNvSpPr/>
          <p:nvPr/>
        </p:nvSpPr>
        <p:spPr>
          <a:xfrm>
            <a:off x="-1" y="0"/>
            <a:ext cx="12188954" cy="685800"/>
          </a:xfrm>
          <a:prstGeom prst="rect">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34" name="TextBox 2"/>
          <p:cNvSpPr txBox="1"/>
          <p:nvPr/>
        </p:nvSpPr>
        <p:spPr>
          <a:xfrm>
            <a:off x="457200" y="164591"/>
            <a:ext cx="73152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FFFFF"/>
                </a:solidFill>
                <a:latin typeface="游ゴシック体 ボールド"/>
                <a:ea typeface="游ゴシック体 ボールド"/>
                <a:cs typeface="游ゴシック体 ボールド"/>
                <a:sym typeface="游ゴシック体 ボールド"/>
              </a:defRPr>
            </a:lvl1pPr>
          </a:lstStyle>
          <a:p>
            <a:pPr/>
            <a:r>
              <a:t>CASE STUDIES</a:t>
            </a:r>
          </a:p>
        </p:txBody>
      </p:sp>
      <p:sp>
        <p:nvSpPr>
          <p:cNvPr id="435" name="TextBox 3"/>
          <p:cNvSpPr txBox="1"/>
          <p:nvPr/>
        </p:nvSpPr>
        <p:spPr>
          <a:xfrm>
            <a:off x="10058400" y="164591"/>
            <a:ext cx="18288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FFFFFF"/>
                </a:solidFill>
                <a:latin typeface="游ゴシック体 ボールド"/>
                <a:ea typeface="游ゴシック体 ボールド"/>
                <a:cs typeface="游ゴシック体 ボールド"/>
                <a:sym typeface="游ゴシック体 ボールド"/>
              </a:defRPr>
            </a:lvl1pPr>
          </a:lstStyle>
          <a:p>
            <a:pPr/>
            <a:r>
              <a:t>05 / 13</a:t>
            </a:r>
          </a:p>
        </p:txBody>
      </p:sp>
      <p:sp>
        <p:nvSpPr>
          <p:cNvPr id="436" name="TextBox 4"/>
          <p:cNvSpPr txBox="1"/>
          <p:nvPr/>
        </p:nvSpPr>
        <p:spPr>
          <a:xfrm>
            <a:off x="457200" y="868680"/>
            <a:ext cx="7772400"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400">
                <a:solidFill>
                  <a:srgbClr val="1B2A4A"/>
                </a:solidFill>
                <a:latin typeface="游ゴシック体 ボールド"/>
                <a:ea typeface="游ゴシック体 ボールド"/>
                <a:cs typeface="游ゴシック体 ボールド"/>
                <a:sym typeface="游ゴシック体 ボールド"/>
              </a:defRPr>
            </a:lvl1pPr>
          </a:lstStyle>
          <a:p>
            <a:pPr/>
            <a:r>
              <a:t>BtoB（知財系サービス）</a:t>
            </a:r>
          </a:p>
        </p:txBody>
      </p:sp>
      <p:sp>
        <p:nvSpPr>
          <p:cNvPr id="437" name="TextBox 5"/>
          <p:cNvSpPr txBox="1"/>
          <p:nvPr/>
        </p:nvSpPr>
        <p:spPr>
          <a:xfrm>
            <a:off x="457200" y="1325880"/>
            <a:ext cx="77724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4748B"/>
                </a:solidFill>
                <a:latin typeface="游ゴシック体 ミディアム"/>
                <a:ea typeface="游ゴシック体 ミディアム"/>
                <a:cs typeface="游ゴシック体 ミディアム"/>
                <a:sym typeface="游ゴシック体 ミディアム"/>
              </a:defRPr>
            </a:lvl1pPr>
          </a:lstStyle>
          <a:p>
            <a:pPr/>
            <a:r>
              <a:t>顧客担当   |   リスティング / SNS広告</a:t>
            </a:r>
          </a:p>
        </p:txBody>
      </p:sp>
      <p:sp>
        <p:nvSpPr>
          <p:cNvPr id="438" name="Rectangle 6"/>
          <p:cNvSpPr/>
          <p:nvPr/>
        </p:nvSpPr>
        <p:spPr>
          <a:xfrm>
            <a:off x="457200" y="1645920"/>
            <a:ext cx="457200" cy="45721"/>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39" name="Rectangle 7"/>
          <p:cNvSpPr/>
          <p:nvPr/>
        </p:nvSpPr>
        <p:spPr>
          <a:xfrm>
            <a:off x="914399" y="1645920"/>
            <a:ext cx="10789922"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40" name="Oval 8"/>
          <p:cNvSpPr/>
          <p:nvPr/>
        </p:nvSpPr>
        <p:spPr>
          <a:xfrm>
            <a:off x="457199" y="1874518"/>
            <a:ext cx="274322" cy="274321"/>
          </a:xfrm>
          <a:prstGeom prst="ellipse">
            <a:avLst/>
          </a:prstGeom>
          <a:solidFill>
            <a:srgbClr val="EF4444"/>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41" name="TextBox 9"/>
          <p:cNvSpPr txBox="1"/>
          <p:nvPr/>
        </p:nvSpPr>
        <p:spPr>
          <a:xfrm>
            <a:off x="457199" y="1948178"/>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01</a:t>
            </a:r>
          </a:p>
        </p:txBody>
      </p:sp>
      <p:sp>
        <p:nvSpPr>
          <p:cNvPr id="442" name="TextBox 10"/>
          <p:cNvSpPr txBox="1"/>
          <p:nvPr/>
        </p:nvSpPr>
        <p:spPr>
          <a:xfrm>
            <a:off x="822960" y="1856231"/>
            <a:ext cx="3657601"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課題</a:t>
            </a:r>
          </a:p>
        </p:txBody>
      </p:sp>
      <p:sp>
        <p:nvSpPr>
          <p:cNvPr id="443" name="Rectangle 11"/>
          <p:cNvSpPr/>
          <p:nvPr/>
        </p:nvSpPr>
        <p:spPr>
          <a:xfrm>
            <a:off x="822960" y="2148838"/>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44" name="TextBox 12"/>
          <p:cNvSpPr txBox="1"/>
          <p:nvPr/>
        </p:nvSpPr>
        <p:spPr>
          <a:xfrm>
            <a:off x="594359" y="2331720"/>
            <a:ext cx="5074922" cy="4057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0000"/>
              </a:lnSpc>
              <a:defRPr sz="1100">
                <a:solidFill>
                  <a:srgbClr val="334455"/>
                </a:solidFill>
                <a:latin typeface="游ゴシック体 ミディアム"/>
                <a:ea typeface="游ゴシック体 ミディアム"/>
                <a:cs typeface="游ゴシック体 ミディアム"/>
                <a:sym typeface="游ゴシック体 ミディアム"/>
              </a:defRPr>
            </a:lvl1pPr>
          </a:lstStyle>
          <a:p>
            <a:pPr/>
            <a:r>
              <a:t>業界特有の検索クエリ構造を把握しないと費用が無駄打ちになる難領域。一般的な運用ノウハウでは通用しなかった。</a:t>
            </a:r>
          </a:p>
        </p:txBody>
      </p:sp>
      <p:sp>
        <p:nvSpPr>
          <p:cNvPr id="445" name="Oval 13"/>
          <p:cNvSpPr/>
          <p:nvPr/>
        </p:nvSpPr>
        <p:spPr>
          <a:xfrm>
            <a:off x="457199" y="3246120"/>
            <a:ext cx="274322" cy="274321"/>
          </a:xfrm>
          <a:prstGeom prst="ellipse">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46" name="TextBox 14"/>
          <p:cNvSpPr txBox="1"/>
          <p:nvPr/>
        </p:nvSpPr>
        <p:spPr>
          <a:xfrm>
            <a:off x="457199" y="3319780"/>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02</a:t>
            </a:r>
          </a:p>
        </p:txBody>
      </p:sp>
      <p:sp>
        <p:nvSpPr>
          <p:cNvPr id="447" name="TextBox 15"/>
          <p:cNvSpPr txBox="1"/>
          <p:nvPr/>
        </p:nvSpPr>
        <p:spPr>
          <a:xfrm>
            <a:off x="822960" y="3227832"/>
            <a:ext cx="3657601"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アプローチ</a:t>
            </a:r>
          </a:p>
        </p:txBody>
      </p:sp>
      <p:sp>
        <p:nvSpPr>
          <p:cNvPr id="448" name="Rectangle 16"/>
          <p:cNvSpPr/>
          <p:nvPr/>
        </p:nvSpPr>
        <p:spPr>
          <a:xfrm>
            <a:off x="822960" y="3520440"/>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49" name="TextBox 17"/>
          <p:cNvSpPr txBox="1"/>
          <p:nvPr/>
        </p:nvSpPr>
        <p:spPr>
          <a:xfrm>
            <a:off x="594359" y="3703320"/>
            <a:ext cx="5074922" cy="4057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0000"/>
              </a:lnSpc>
              <a:defRPr sz="1100">
                <a:solidFill>
                  <a:srgbClr val="334455"/>
                </a:solidFill>
                <a:latin typeface="游ゴシック体 ミディアム"/>
                <a:ea typeface="游ゴシック体 ミディアム"/>
                <a:cs typeface="游ゴシック体 ミディアム"/>
                <a:sym typeface="游ゴシック体 ミディアム"/>
              </a:defRPr>
            </a:lvl1pPr>
          </a:lstStyle>
          <a:p>
            <a:pPr/>
            <a:r>
              <a:t>業界特有の検索市場構造を深く分析し、Tier別のキャンペーン設計を構築。市場特性を最大限活かした運用設計に落とし込み、高CVR領域を最優先化。</a:t>
            </a:r>
          </a:p>
        </p:txBody>
      </p:sp>
      <p:sp>
        <p:nvSpPr>
          <p:cNvPr id="450" name="Oval 18"/>
          <p:cNvSpPr/>
          <p:nvPr/>
        </p:nvSpPr>
        <p:spPr>
          <a:xfrm>
            <a:off x="457199" y="5029199"/>
            <a:ext cx="274322" cy="274322"/>
          </a:xfrm>
          <a:prstGeom prst="ellipse">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51" name="TextBox 19"/>
          <p:cNvSpPr txBox="1"/>
          <p:nvPr/>
        </p:nvSpPr>
        <p:spPr>
          <a:xfrm>
            <a:off x="457199" y="5102859"/>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03</a:t>
            </a:r>
          </a:p>
        </p:txBody>
      </p:sp>
      <p:sp>
        <p:nvSpPr>
          <p:cNvPr id="452" name="TextBox 20"/>
          <p:cNvSpPr txBox="1"/>
          <p:nvPr/>
        </p:nvSpPr>
        <p:spPr>
          <a:xfrm>
            <a:off x="822960" y="5010911"/>
            <a:ext cx="36576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成果</a:t>
            </a:r>
          </a:p>
        </p:txBody>
      </p:sp>
      <p:sp>
        <p:nvSpPr>
          <p:cNvPr id="453" name="Rectangle 21"/>
          <p:cNvSpPr/>
          <p:nvPr/>
        </p:nvSpPr>
        <p:spPr>
          <a:xfrm>
            <a:off x="822960" y="5303520"/>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54" name="Rounded Rectangle 22"/>
          <p:cNvSpPr/>
          <p:nvPr/>
        </p:nvSpPr>
        <p:spPr>
          <a:xfrm>
            <a:off x="594359" y="5486400"/>
            <a:ext cx="2468881" cy="960120"/>
          </a:xfrm>
          <a:prstGeom prst="roundRect">
            <a:avLst>
              <a:gd name="adj" fmla="val 12000"/>
            </a:avLst>
          </a:prstGeom>
          <a:solidFill>
            <a:srgbClr val="D1FAE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55" name="TextBox 23"/>
          <p:cNvSpPr txBox="1"/>
          <p:nvPr/>
        </p:nvSpPr>
        <p:spPr>
          <a:xfrm>
            <a:off x="594359" y="5643879"/>
            <a:ext cx="246888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F59E0B"/>
                </a:solidFill>
                <a:latin typeface="游ゴシック体 ボールド"/>
                <a:ea typeface="游ゴシック体 ボールド"/>
                <a:cs typeface="游ゴシック体 ボールド"/>
                <a:sym typeface="游ゴシック体 ボールド"/>
              </a:defRPr>
            </a:lvl1pPr>
          </a:lstStyle>
          <a:p>
            <a:pPr/>
            <a:r>
              <a:t>社内</a:t>
            </a:r>
          </a:p>
        </p:txBody>
      </p:sp>
      <p:sp>
        <p:nvSpPr>
          <p:cNvPr id="456" name="TextBox 24"/>
          <p:cNvSpPr txBox="1"/>
          <p:nvPr/>
        </p:nvSpPr>
        <p:spPr>
          <a:xfrm>
            <a:off x="594359" y="6154420"/>
            <a:ext cx="24688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64748B"/>
                </a:solidFill>
                <a:latin typeface="游ゴシック体 ミディアム"/>
                <a:ea typeface="游ゴシック体 ミディアム"/>
                <a:cs typeface="游ゴシック体 ミディアム"/>
                <a:sym typeface="游ゴシック体 ミディアム"/>
              </a:defRPr>
            </a:lvl1pPr>
          </a:lstStyle>
          <a:p>
            <a:pPr/>
            <a:r>
              <a:t>リード/契約数 ギネス</a:t>
            </a:r>
          </a:p>
        </p:txBody>
      </p:sp>
      <p:sp>
        <p:nvSpPr>
          <p:cNvPr id="457" name="Rounded Rectangle 25"/>
          <p:cNvSpPr/>
          <p:nvPr/>
        </p:nvSpPr>
        <p:spPr>
          <a:xfrm>
            <a:off x="3200400" y="5486400"/>
            <a:ext cx="2468880" cy="960120"/>
          </a:xfrm>
          <a:prstGeom prst="roundRect">
            <a:avLst>
              <a:gd name="adj" fmla="val 12000"/>
            </a:avLst>
          </a:prstGeom>
          <a:solidFill>
            <a:srgbClr val="D1FAE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58" name="TextBox 26"/>
          <p:cNvSpPr txBox="1"/>
          <p:nvPr/>
        </p:nvSpPr>
        <p:spPr>
          <a:xfrm>
            <a:off x="3200399" y="5643879"/>
            <a:ext cx="246888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3B82F6"/>
                </a:solidFill>
                <a:latin typeface="游ゴシック体 ボールド"/>
                <a:ea typeface="游ゴシック体 ボールド"/>
                <a:cs typeface="游ゴシック体 ボールド"/>
                <a:sym typeface="游ゴシック体 ボールド"/>
              </a:defRPr>
            </a:lvl1pPr>
          </a:lstStyle>
          <a:p>
            <a:pPr/>
            <a:r>
              <a:t>独自</a:t>
            </a:r>
          </a:p>
        </p:txBody>
      </p:sp>
      <p:sp>
        <p:nvSpPr>
          <p:cNvPr id="459" name="TextBox 27"/>
          <p:cNvSpPr txBox="1"/>
          <p:nvPr/>
        </p:nvSpPr>
        <p:spPr>
          <a:xfrm>
            <a:off x="3200399" y="6154420"/>
            <a:ext cx="24688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64748B"/>
                </a:solidFill>
                <a:latin typeface="游ゴシック体 ミディアム"/>
                <a:ea typeface="游ゴシック体 ミディアム"/>
                <a:cs typeface="游ゴシック体 ミディアム"/>
                <a:sym typeface="游ゴシック体 ミディアム"/>
              </a:defRPr>
            </a:lvl1pPr>
          </a:lstStyle>
          <a:p>
            <a:pPr/>
            <a:r>
              <a:t>市場構造分析</a:t>
            </a:r>
          </a:p>
        </p:txBody>
      </p:sp>
      <p:sp>
        <p:nvSpPr>
          <p:cNvPr id="460" name="Rounded Rectangle 28"/>
          <p:cNvSpPr/>
          <p:nvPr/>
        </p:nvSpPr>
        <p:spPr>
          <a:xfrm>
            <a:off x="5943600" y="1828800"/>
            <a:ext cx="5852160" cy="4572000"/>
          </a:xfrm>
          <a:prstGeom prst="roundRect">
            <a:avLst>
              <a:gd name="adj" fmla="val 12000"/>
            </a:avLst>
          </a:prstGeom>
          <a:solidFill>
            <a:srgbClr val="F1F5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61" name="TextBox 29"/>
          <p:cNvSpPr txBox="1"/>
          <p:nvPr/>
        </p:nvSpPr>
        <p:spPr>
          <a:xfrm>
            <a:off x="6217920" y="1965960"/>
            <a:ext cx="5303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4748B"/>
                </a:solidFill>
                <a:latin typeface="游ゴシック体 ボールド"/>
                <a:ea typeface="游ゴシック体 ボールド"/>
                <a:cs typeface="游ゴシック体 ボールド"/>
                <a:sym typeface="游ゴシック体 ボールド"/>
              </a:defRPr>
            </a:lvl1pPr>
          </a:lstStyle>
          <a:p>
            <a:pPr/>
            <a:r>
              <a:t>施策の図解</a:t>
            </a:r>
          </a:p>
        </p:txBody>
      </p:sp>
      <p:sp>
        <p:nvSpPr>
          <p:cNvPr id="462" name="Rectangle 30"/>
          <p:cNvSpPr/>
          <p:nvPr/>
        </p:nvSpPr>
        <p:spPr>
          <a:xfrm>
            <a:off x="6217920" y="2285999"/>
            <a:ext cx="365761" cy="36578"/>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63" name="TextBox 31"/>
          <p:cNvSpPr txBox="1"/>
          <p:nvPr/>
        </p:nvSpPr>
        <p:spPr>
          <a:xfrm>
            <a:off x="6217920" y="2423160"/>
            <a:ext cx="5303521" cy="1460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1B2A4A"/>
                </a:solidFill>
                <a:latin typeface="游ゴシック体 ボールド"/>
                <a:ea typeface="游ゴシック体 ボールド"/>
                <a:cs typeface="游ゴシック体 ボールド"/>
                <a:sym typeface="游ゴシック体 ボールド"/>
              </a:defRPr>
            </a:lvl1pPr>
          </a:lstStyle>
          <a:p>
            <a:pPr/>
            <a:r>
              <a:t>業界特有の検索市場構造を深く分析・運用設計に反映</a:t>
            </a:r>
          </a:p>
        </p:txBody>
      </p:sp>
      <p:sp>
        <p:nvSpPr>
          <p:cNvPr id="464" name="TextBox 32"/>
          <p:cNvSpPr txBox="1"/>
          <p:nvPr/>
        </p:nvSpPr>
        <p:spPr>
          <a:xfrm>
            <a:off x="6309359" y="2743199"/>
            <a:ext cx="512064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3B82F6"/>
                </a:solidFill>
                <a:latin typeface="游ゴシック体 ボールド"/>
                <a:ea typeface="游ゴシック体 ボールド"/>
                <a:cs typeface="游ゴシック体 ボールド"/>
                <a:sym typeface="游ゴシック体 ボールド"/>
              </a:defRPr>
            </a:lvl1pPr>
          </a:lstStyle>
          <a:p>
            <a:pPr/>
            <a:r>
              <a:t>🔎 検索クエリ階層マップ</a:t>
            </a:r>
          </a:p>
        </p:txBody>
      </p:sp>
      <p:sp>
        <p:nvSpPr>
          <p:cNvPr id="465" name="Rounded Rectangle 33"/>
          <p:cNvSpPr/>
          <p:nvPr/>
        </p:nvSpPr>
        <p:spPr>
          <a:xfrm>
            <a:off x="6400800" y="3017520"/>
            <a:ext cx="3108961" cy="384049"/>
          </a:xfrm>
          <a:prstGeom prst="roundRect">
            <a:avLst>
              <a:gd name="adj" fmla="val 12000"/>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66" name="TextBox 34"/>
          <p:cNvSpPr txBox="1"/>
          <p:nvPr/>
        </p:nvSpPr>
        <p:spPr>
          <a:xfrm>
            <a:off x="6400799" y="3146044"/>
            <a:ext cx="310896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FFFFF"/>
                </a:solidFill>
                <a:latin typeface="游ゴシック体 ボールド"/>
                <a:ea typeface="游ゴシック体 ボールド"/>
                <a:cs typeface="游ゴシック体 ボールド"/>
                <a:sym typeface="游ゴシック体 ボールド"/>
              </a:defRPr>
            </a:lvl1pPr>
          </a:lstStyle>
          <a:p>
            <a:pPr/>
            <a:r>
              <a:t>Tier 1 :  業界特化用語（指名級）</a:t>
            </a:r>
          </a:p>
        </p:txBody>
      </p:sp>
      <p:sp>
        <p:nvSpPr>
          <p:cNvPr id="467" name="TextBox 35"/>
          <p:cNvSpPr txBox="1"/>
          <p:nvPr/>
        </p:nvSpPr>
        <p:spPr>
          <a:xfrm>
            <a:off x="9601200" y="3072383"/>
            <a:ext cx="18288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334455"/>
                </a:solidFill>
                <a:latin typeface="游ゴシック体 ミディアム"/>
                <a:ea typeface="游ゴシック体 ミディアム"/>
                <a:cs typeface="游ゴシック体 ミディアム"/>
                <a:sym typeface="游ゴシック体 ミディアム"/>
              </a:defRPr>
            </a:lvl1pPr>
          </a:lstStyle>
          <a:p>
            <a:pPr/>
            <a:r>
              <a:t>高CVR・低ボリューム</a:t>
            </a:r>
          </a:p>
        </p:txBody>
      </p:sp>
      <p:sp>
        <p:nvSpPr>
          <p:cNvPr id="468" name="Rounded Rectangle 36"/>
          <p:cNvSpPr/>
          <p:nvPr/>
        </p:nvSpPr>
        <p:spPr>
          <a:xfrm>
            <a:off x="6766559" y="3493008"/>
            <a:ext cx="2743201" cy="384049"/>
          </a:xfrm>
          <a:prstGeom prst="roundRect">
            <a:avLst>
              <a:gd name="adj" fmla="val 12000"/>
            </a:avLst>
          </a:prstGeom>
          <a:solidFill>
            <a:srgbClr val="F59E0B"/>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69" name="TextBox 37"/>
          <p:cNvSpPr txBox="1"/>
          <p:nvPr/>
        </p:nvSpPr>
        <p:spPr>
          <a:xfrm>
            <a:off x="6766559" y="3621532"/>
            <a:ext cx="2743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FFFFF"/>
                </a:solidFill>
                <a:latin typeface="游ゴシック体 ボールド"/>
                <a:ea typeface="游ゴシック体 ボールド"/>
                <a:cs typeface="游ゴシック体 ボールド"/>
                <a:sym typeface="游ゴシック体 ボールド"/>
              </a:defRPr>
            </a:lvl1pPr>
          </a:lstStyle>
          <a:p>
            <a:pPr/>
            <a:r>
              <a:t>Tier 2 :  ニーズ顕在クエリ</a:t>
            </a:r>
          </a:p>
        </p:txBody>
      </p:sp>
      <p:sp>
        <p:nvSpPr>
          <p:cNvPr id="470" name="TextBox 38"/>
          <p:cNvSpPr txBox="1"/>
          <p:nvPr/>
        </p:nvSpPr>
        <p:spPr>
          <a:xfrm>
            <a:off x="9601200" y="3547871"/>
            <a:ext cx="18288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334455"/>
                </a:solidFill>
                <a:latin typeface="游ゴシック体 ミディアム"/>
                <a:ea typeface="游ゴシック体 ミディアム"/>
                <a:cs typeface="游ゴシック体 ミディアム"/>
                <a:sym typeface="游ゴシック体 ミディアム"/>
              </a:defRPr>
            </a:lvl1pPr>
          </a:lstStyle>
          <a:p>
            <a:pPr/>
            <a:r>
              <a:t>中CVR・中ボリューム</a:t>
            </a:r>
          </a:p>
        </p:txBody>
      </p:sp>
      <p:sp>
        <p:nvSpPr>
          <p:cNvPr id="471" name="Rounded Rectangle 39"/>
          <p:cNvSpPr/>
          <p:nvPr/>
        </p:nvSpPr>
        <p:spPr>
          <a:xfrm>
            <a:off x="7132319" y="3968496"/>
            <a:ext cx="2377441" cy="384049"/>
          </a:xfrm>
          <a:prstGeom prst="roundRect">
            <a:avLst>
              <a:gd name="adj" fmla="val 12000"/>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72" name="TextBox 40"/>
          <p:cNvSpPr txBox="1"/>
          <p:nvPr/>
        </p:nvSpPr>
        <p:spPr>
          <a:xfrm>
            <a:off x="7132319" y="4097020"/>
            <a:ext cx="2377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FFFFF"/>
                </a:solidFill>
                <a:latin typeface="游ゴシック体 ボールド"/>
                <a:ea typeface="游ゴシック体 ボールド"/>
                <a:cs typeface="游ゴシック体 ボールド"/>
                <a:sym typeface="游ゴシック体 ボールド"/>
              </a:defRPr>
            </a:lvl1pPr>
          </a:lstStyle>
          <a:p>
            <a:pPr/>
            <a:r>
              <a:t>Tier 3 :  関連業務クエリ</a:t>
            </a:r>
          </a:p>
        </p:txBody>
      </p:sp>
      <p:sp>
        <p:nvSpPr>
          <p:cNvPr id="473" name="TextBox 41"/>
          <p:cNvSpPr txBox="1"/>
          <p:nvPr/>
        </p:nvSpPr>
        <p:spPr>
          <a:xfrm>
            <a:off x="9601200" y="4023359"/>
            <a:ext cx="18288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334455"/>
                </a:solidFill>
                <a:latin typeface="游ゴシック体 ミディアム"/>
                <a:ea typeface="游ゴシック体 ミディアム"/>
                <a:cs typeface="游ゴシック体 ミディアム"/>
                <a:sym typeface="游ゴシック体 ミディアム"/>
              </a:defRPr>
            </a:lvl1pPr>
          </a:lstStyle>
          <a:p>
            <a:pPr/>
            <a:r>
              <a:t>CVR要設計・大ボリューム</a:t>
            </a:r>
          </a:p>
        </p:txBody>
      </p:sp>
      <p:sp>
        <p:nvSpPr>
          <p:cNvPr id="474" name="Rounded Rectangle 42"/>
          <p:cNvSpPr/>
          <p:nvPr/>
        </p:nvSpPr>
        <p:spPr>
          <a:xfrm>
            <a:off x="6309359" y="4572000"/>
            <a:ext cx="5120641" cy="1097281"/>
          </a:xfrm>
          <a:prstGeom prst="roundRect">
            <a:avLst>
              <a:gd name="adj" fmla="val 12000"/>
            </a:avLst>
          </a:prstGeom>
          <a:solidFill>
            <a:srgbClr val="FEF3C7"/>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75" name="TextBox 43"/>
          <p:cNvSpPr txBox="1"/>
          <p:nvPr/>
        </p:nvSpPr>
        <p:spPr>
          <a:xfrm>
            <a:off x="6309359" y="4636008"/>
            <a:ext cx="5120641" cy="1417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000">
                <a:solidFill>
                  <a:srgbClr val="F59E0B"/>
                </a:solidFill>
                <a:latin typeface="游ゴシック体 ボールド"/>
                <a:ea typeface="游ゴシック体 ボールド"/>
                <a:cs typeface="游ゴシック体 ボールド"/>
                <a:sym typeface="游ゴシック体 ボールド"/>
              </a:defRPr>
            </a:lvl1pPr>
          </a:lstStyle>
          <a:p>
            <a:pPr/>
            <a:r>
              <a:t>⚙ 市場特性を最大限活かした運用設計</a:t>
            </a:r>
          </a:p>
        </p:txBody>
      </p:sp>
      <p:sp>
        <p:nvSpPr>
          <p:cNvPr id="476" name="Rounded Rectangle 44"/>
          <p:cNvSpPr/>
          <p:nvPr/>
        </p:nvSpPr>
        <p:spPr>
          <a:xfrm>
            <a:off x="6400800" y="4965191"/>
            <a:ext cx="1584961" cy="566929"/>
          </a:xfrm>
          <a:prstGeom prst="roundRect">
            <a:avLst>
              <a:gd name="adj" fmla="val 12000"/>
            </a:avLst>
          </a:prstGeom>
          <a:solidFill>
            <a:srgbClr val="FFFFFF"/>
          </a:solidFill>
          <a:ln w="19050">
            <a:solidFill>
              <a:srgbClr val="F59E0B"/>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77" name="TextBox 45"/>
          <p:cNvSpPr txBox="1"/>
          <p:nvPr/>
        </p:nvSpPr>
        <p:spPr>
          <a:xfrm>
            <a:off x="6400799" y="5185155"/>
            <a:ext cx="158496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1B2A4A"/>
                </a:solidFill>
                <a:latin typeface="游ゴシック体 ボールド"/>
                <a:ea typeface="游ゴシック体 ボールド"/>
                <a:cs typeface="游ゴシック体 ボールド"/>
                <a:sym typeface="游ゴシック体 ボールド"/>
              </a:defRPr>
            </a:lvl1pPr>
          </a:lstStyle>
          <a:p>
            <a:pPr/>
            <a:r>
              <a:t>Tier別キャンペーン分離</a:t>
            </a:r>
          </a:p>
        </p:txBody>
      </p:sp>
      <p:sp>
        <p:nvSpPr>
          <p:cNvPr id="478" name="Rounded Rectangle 46"/>
          <p:cNvSpPr/>
          <p:nvPr/>
        </p:nvSpPr>
        <p:spPr>
          <a:xfrm>
            <a:off x="8077200" y="4965191"/>
            <a:ext cx="1584961" cy="566929"/>
          </a:xfrm>
          <a:prstGeom prst="roundRect">
            <a:avLst>
              <a:gd name="adj" fmla="val 12000"/>
            </a:avLst>
          </a:prstGeom>
          <a:solidFill>
            <a:srgbClr val="FFFFFF"/>
          </a:solidFill>
          <a:ln w="19050">
            <a:solidFill>
              <a:srgbClr val="F59E0B"/>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79" name="TextBox 47"/>
          <p:cNvSpPr txBox="1"/>
          <p:nvPr/>
        </p:nvSpPr>
        <p:spPr>
          <a:xfrm>
            <a:off x="8077199" y="5185155"/>
            <a:ext cx="158496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1B2A4A"/>
                </a:solidFill>
                <a:latin typeface="游ゴシック体 ボールド"/>
                <a:ea typeface="游ゴシック体 ボールド"/>
                <a:cs typeface="游ゴシック体 ボールド"/>
                <a:sym typeface="游ゴシック体 ボールド"/>
              </a:defRPr>
            </a:lvl1pPr>
          </a:lstStyle>
          <a:p>
            <a:pPr/>
            <a:r>
              <a:t>CV値の重み付け</a:t>
            </a:r>
          </a:p>
        </p:txBody>
      </p:sp>
      <p:sp>
        <p:nvSpPr>
          <p:cNvPr id="480" name="Rounded Rectangle 48"/>
          <p:cNvSpPr/>
          <p:nvPr/>
        </p:nvSpPr>
        <p:spPr>
          <a:xfrm>
            <a:off x="9753600" y="4965191"/>
            <a:ext cx="1584961" cy="566929"/>
          </a:xfrm>
          <a:prstGeom prst="roundRect">
            <a:avLst>
              <a:gd name="adj" fmla="val 12000"/>
            </a:avLst>
          </a:prstGeom>
          <a:solidFill>
            <a:srgbClr val="FFFFFF"/>
          </a:solidFill>
          <a:ln w="19050">
            <a:solidFill>
              <a:srgbClr val="F59E0B"/>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81" name="TextBox 49"/>
          <p:cNvSpPr txBox="1"/>
          <p:nvPr/>
        </p:nvSpPr>
        <p:spPr>
          <a:xfrm>
            <a:off x="9753599" y="5185155"/>
            <a:ext cx="158496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1B2A4A"/>
                </a:solidFill>
                <a:latin typeface="游ゴシック体 ボールド"/>
                <a:ea typeface="游ゴシック体 ボールド"/>
                <a:cs typeface="游ゴシック体 ボールド"/>
                <a:sym typeface="游ゴシック体 ボールド"/>
              </a:defRPr>
            </a:lvl1pPr>
          </a:lstStyle>
          <a:p>
            <a:pPr/>
            <a:r>
              <a:t>社内ナレッジ蓄積</a:t>
            </a:r>
          </a:p>
        </p:txBody>
      </p:sp>
      <p:sp>
        <p:nvSpPr>
          <p:cNvPr id="482" name="Rounded Rectangle 50"/>
          <p:cNvSpPr/>
          <p:nvPr/>
        </p:nvSpPr>
        <p:spPr>
          <a:xfrm>
            <a:off x="6217920" y="5806440"/>
            <a:ext cx="5303521" cy="502921"/>
          </a:xfrm>
          <a:prstGeom prst="roundRect">
            <a:avLst>
              <a:gd name="adj" fmla="val 12000"/>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83" name="TextBox 51"/>
          <p:cNvSpPr txBox="1"/>
          <p:nvPr/>
        </p:nvSpPr>
        <p:spPr>
          <a:xfrm>
            <a:off x="6217920" y="5994399"/>
            <a:ext cx="5303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FFFFF"/>
                </a:solidFill>
                <a:latin typeface="游ゴシック体 ボールド"/>
                <a:ea typeface="游ゴシック体 ボールド"/>
                <a:cs typeface="游ゴシック体 ボールド"/>
                <a:sym typeface="游ゴシック体 ボールド"/>
              </a:defRPr>
            </a:lvl1pPr>
          </a:lstStyle>
          <a:p>
            <a:pPr/>
            <a:r>
              <a:t>広告経由リード数・契約数 ともに 社内ギネスを達成</a:t>
            </a:r>
          </a:p>
        </p:txBody>
      </p:sp>
      <p:sp>
        <p:nvSpPr>
          <p:cNvPr id="484" name="TextBox 52"/>
          <p:cNvSpPr txBox="1"/>
          <p:nvPr/>
        </p:nvSpPr>
        <p:spPr>
          <a:xfrm>
            <a:off x="457199" y="6565392"/>
            <a:ext cx="112471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94A3B8"/>
                </a:solidFill>
                <a:latin typeface="游ゴシック体 ミディアム"/>
                <a:ea typeface="游ゴシック体 ミディアム"/>
                <a:cs typeface="游ゴシック体 ミディアム"/>
                <a:sym typeface="游ゴシック体 ミディアム"/>
              </a:defRPr>
            </a:lvl1pPr>
          </a:lstStyle>
          <a:p>
            <a:pPr/>
            <a:r>
              <a:t>※ 守秘義務の関係上、社名は非公開としております。詳細は個別にご説明いたします。</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6" name="Rectangle 1"/>
          <p:cNvSpPr/>
          <p:nvPr/>
        </p:nvSpPr>
        <p:spPr>
          <a:xfrm>
            <a:off x="-1" y="0"/>
            <a:ext cx="12188954" cy="685800"/>
          </a:xfrm>
          <a:prstGeom prst="rect">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87" name="TextBox 2"/>
          <p:cNvSpPr txBox="1"/>
          <p:nvPr/>
        </p:nvSpPr>
        <p:spPr>
          <a:xfrm>
            <a:off x="457200" y="164591"/>
            <a:ext cx="73152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FFFFF"/>
                </a:solidFill>
                <a:latin typeface="游ゴシック体 ボールド"/>
                <a:ea typeface="游ゴシック体 ボールド"/>
                <a:cs typeface="游ゴシック体 ボールド"/>
                <a:sym typeface="游ゴシック体 ボールド"/>
              </a:defRPr>
            </a:lvl1pPr>
          </a:lstStyle>
          <a:p>
            <a:pPr/>
            <a:r>
              <a:t>CASE STUDIES</a:t>
            </a:r>
          </a:p>
        </p:txBody>
      </p:sp>
      <p:sp>
        <p:nvSpPr>
          <p:cNvPr id="488" name="TextBox 3"/>
          <p:cNvSpPr txBox="1"/>
          <p:nvPr/>
        </p:nvSpPr>
        <p:spPr>
          <a:xfrm>
            <a:off x="10058400" y="164591"/>
            <a:ext cx="18288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FFFFFF"/>
                </a:solidFill>
                <a:latin typeface="游ゴシック体 ボールド"/>
                <a:ea typeface="游ゴシック体 ボールド"/>
                <a:cs typeface="游ゴシック体 ボールド"/>
                <a:sym typeface="游ゴシック体 ボールド"/>
              </a:defRPr>
            </a:lvl1pPr>
          </a:lstStyle>
          <a:p>
            <a:pPr/>
            <a:r>
              <a:t>06 / 13</a:t>
            </a:r>
          </a:p>
        </p:txBody>
      </p:sp>
      <p:sp>
        <p:nvSpPr>
          <p:cNvPr id="489" name="TextBox 4"/>
          <p:cNvSpPr txBox="1"/>
          <p:nvPr/>
        </p:nvSpPr>
        <p:spPr>
          <a:xfrm>
            <a:off x="457200" y="868680"/>
            <a:ext cx="7772400"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400">
                <a:solidFill>
                  <a:srgbClr val="1B2A4A"/>
                </a:solidFill>
                <a:latin typeface="游ゴシック体 ボールド"/>
                <a:ea typeface="游ゴシック体 ボールド"/>
                <a:cs typeface="游ゴシック体 ボールド"/>
                <a:sym typeface="游ゴシック体 ボールド"/>
              </a:defRPr>
            </a:lvl1pPr>
          </a:lstStyle>
          <a:p>
            <a:pPr/>
            <a:r>
              <a:t>人材（特化型転職エージェント）</a:t>
            </a:r>
          </a:p>
        </p:txBody>
      </p:sp>
      <p:sp>
        <p:nvSpPr>
          <p:cNvPr id="490" name="TextBox 5"/>
          <p:cNvSpPr txBox="1"/>
          <p:nvPr/>
        </p:nvSpPr>
        <p:spPr>
          <a:xfrm>
            <a:off x="457200" y="1325880"/>
            <a:ext cx="77724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4748B"/>
                </a:solidFill>
                <a:latin typeface="游ゴシック体 ミディアム"/>
                <a:ea typeface="游ゴシック体 ミディアム"/>
                <a:cs typeface="游ゴシック体 ミディアム"/>
                <a:sym typeface="游ゴシック体 ミディアム"/>
              </a:defRPr>
            </a:lvl1pPr>
          </a:lstStyle>
          <a:p>
            <a:pPr/>
            <a:r>
              <a:t>顧客担当 兼 案件統括   |   リスティング / SNS / LPO</a:t>
            </a:r>
          </a:p>
        </p:txBody>
      </p:sp>
      <p:sp>
        <p:nvSpPr>
          <p:cNvPr id="491" name="Rectangle 6"/>
          <p:cNvSpPr/>
          <p:nvPr/>
        </p:nvSpPr>
        <p:spPr>
          <a:xfrm>
            <a:off x="457200" y="1645920"/>
            <a:ext cx="457200" cy="45721"/>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92" name="Rectangle 7"/>
          <p:cNvSpPr/>
          <p:nvPr/>
        </p:nvSpPr>
        <p:spPr>
          <a:xfrm>
            <a:off x="914399" y="1645920"/>
            <a:ext cx="10789922"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93" name="Oval 8"/>
          <p:cNvSpPr/>
          <p:nvPr/>
        </p:nvSpPr>
        <p:spPr>
          <a:xfrm>
            <a:off x="457199" y="1874518"/>
            <a:ext cx="274322" cy="274321"/>
          </a:xfrm>
          <a:prstGeom prst="ellipse">
            <a:avLst/>
          </a:prstGeom>
          <a:solidFill>
            <a:srgbClr val="EF4444"/>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94" name="TextBox 9"/>
          <p:cNvSpPr txBox="1"/>
          <p:nvPr/>
        </p:nvSpPr>
        <p:spPr>
          <a:xfrm>
            <a:off x="457199" y="1948178"/>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01</a:t>
            </a:r>
          </a:p>
        </p:txBody>
      </p:sp>
      <p:sp>
        <p:nvSpPr>
          <p:cNvPr id="495" name="TextBox 10"/>
          <p:cNvSpPr txBox="1"/>
          <p:nvPr/>
        </p:nvSpPr>
        <p:spPr>
          <a:xfrm>
            <a:off x="822960" y="1856231"/>
            <a:ext cx="3657601"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課題</a:t>
            </a:r>
          </a:p>
        </p:txBody>
      </p:sp>
      <p:sp>
        <p:nvSpPr>
          <p:cNvPr id="496" name="Rectangle 11"/>
          <p:cNvSpPr/>
          <p:nvPr/>
        </p:nvSpPr>
        <p:spPr>
          <a:xfrm>
            <a:off x="822960" y="2148838"/>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97" name="TextBox 12"/>
          <p:cNvSpPr txBox="1"/>
          <p:nvPr/>
        </p:nvSpPr>
        <p:spPr>
          <a:xfrm>
            <a:off x="594359" y="2331720"/>
            <a:ext cx="5074922" cy="4057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0000"/>
              </a:lnSpc>
              <a:defRPr sz="1100">
                <a:solidFill>
                  <a:srgbClr val="334455"/>
                </a:solidFill>
                <a:latin typeface="游ゴシック体 ミディアム"/>
                <a:ea typeface="游ゴシック体 ミディアム"/>
                <a:cs typeface="游ゴシック体 ミディアム"/>
                <a:sym typeface="游ゴシック体 ミディアム"/>
              </a:defRPr>
            </a:lvl1pPr>
          </a:lstStyle>
          <a:p>
            <a:pPr/>
            <a:r>
              <a:t>前体制下でCPAが高止まり。獲得効率の構造的な改善が必要で、広告だけでは限界があった。</a:t>
            </a:r>
          </a:p>
        </p:txBody>
      </p:sp>
      <p:sp>
        <p:nvSpPr>
          <p:cNvPr id="498" name="Oval 13"/>
          <p:cNvSpPr/>
          <p:nvPr/>
        </p:nvSpPr>
        <p:spPr>
          <a:xfrm>
            <a:off x="457199" y="3246120"/>
            <a:ext cx="274322" cy="274321"/>
          </a:xfrm>
          <a:prstGeom prst="ellipse">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499" name="TextBox 14"/>
          <p:cNvSpPr txBox="1"/>
          <p:nvPr/>
        </p:nvSpPr>
        <p:spPr>
          <a:xfrm>
            <a:off x="457199" y="3319780"/>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02</a:t>
            </a:r>
          </a:p>
        </p:txBody>
      </p:sp>
      <p:sp>
        <p:nvSpPr>
          <p:cNvPr id="500" name="TextBox 15"/>
          <p:cNvSpPr txBox="1"/>
          <p:nvPr/>
        </p:nvSpPr>
        <p:spPr>
          <a:xfrm>
            <a:off x="822960" y="3227832"/>
            <a:ext cx="3657601"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アプローチ</a:t>
            </a:r>
          </a:p>
        </p:txBody>
      </p:sp>
      <p:sp>
        <p:nvSpPr>
          <p:cNvPr id="501" name="Rectangle 16"/>
          <p:cNvSpPr/>
          <p:nvPr/>
        </p:nvSpPr>
        <p:spPr>
          <a:xfrm>
            <a:off x="822960" y="3520440"/>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02" name="TextBox 17"/>
          <p:cNvSpPr txBox="1"/>
          <p:nvPr/>
        </p:nvSpPr>
        <p:spPr>
          <a:xfrm>
            <a:off x="594359" y="3703320"/>
            <a:ext cx="5074922" cy="4057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0000"/>
              </a:lnSpc>
              <a:defRPr sz="1100">
                <a:solidFill>
                  <a:srgbClr val="334455"/>
                </a:solidFill>
                <a:latin typeface="游ゴシック体 ミディアム"/>
                <a:ea typeface="游ゴシック体 ミディアム"/>
                <a:cs typeface="游ゴシック体 ミディアム"/>
                <a:sym typeface="游ゴシック体 ミディアム"/>
              </a:defRPr>
            </a:lvl1pPr>
          </a:lstStyle>
          <a:p>
            <a:pPr/>
            <a:r>
              <a:t>戦略設計から実行まで一気通貫で推進。自社アセットを活用したLP改善を主導し、CVR 125%を実現。プロジェクト統括も担当。</a:t>
            </a:r>
          </a:p>
        </p:txBody>
      </p:sp>
      <p:sp>
        <p:nvSpPr>
          <p:cNvPr id="503" name="Oval 18"/>
          <p:cNvSpPr/>
          <p:nvPr/>
        </p:nvSpPr>
        <p:spPr>
          <a:xfrm>
            <a:off x="457199" y="5029199"/>
            <a:ext cx="274322" cy="274322"/>
          </a:xfrm>
          <a:prstGeom prst="ellipse">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04" name="TextBox 19"/>
          <p:cNvSpPr txBox="1"/>
          <p:nvPr/>
        </p:nvSpPr>
        <p:spPr>
          <a:xfrm>
            <a:off x="457199" y="5102859"/>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03</a:t>
            </a:r>
          </a:p>
        </p:txBody>
      </p:sp>
      <p:sp>
        <p:nvSpPr>
          <p:cNvPr id="505" name="TextBox 20"/>
          <p:cNvSpPr txBox="1"/>
          <p:nvPr/>
        </p:nvSpPr>
        <p:spPr>
          <a:xfrm>
            <a:off x="822960" y="5010911"/>
            <a:ext cx="36576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成果</a:t>
            </a:r>
          </a:p>
        </p:txBody>
      </p:sp>
      <p:sp>
        <p:nvSpPr>
          <p:cNvPr id="506" name="Rectangle 21"/>
          <p:cNvSpPr/>
          <p:nvPr/>
        </p:nvSpPr>
        <p:spPr>
          <a:xfrm>
            <a:off x="822960" y="5303520"/>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07" name="Rounded Rectangle 22"/>
          <p:cNvSpPr/>
          <p:nvPr/>
        </p:nvSpPr>
        <p:spPr>
          <a:xfrm>
            <a:off x="594359" y="5486400"/>
            <a:ext cx="2468881" cy="960120"/>
          </a:xfrm>
          <a:prstGeom prst="roundRect">
            <a:avLst>
              <a:gd name="adj" fmla="val 12000"/>
            </a:avLst>
          </a:prstGeom>
          <a:solidFill>
            <a:srgbClr val="D1FAE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08" name="TextBox 23"/>
          <p:cNvSpPr txBox="1"/>
          <p:nvPr/>
        </p:nvSpPr>
        <p:spPr>
          <a:xfrm>
            <a:off x="594359" y="5643879"/>
            <a:ext cx="246888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10B981"/>
                </a:solidFill>
                <a:latin typeface="游ゴシック体 ボールド"/>
                <a:ea typeface="游ゴシック体 ボールド"/>
                <a:cs typeface="游ゴシック体 ボールド"/>
                <a:sym typeface="游ゴシック体 ボールド"/>
              </a:defRPr>
            </a:lvl1pPr>
          </a:lstStyle>
          <a:p>
            <a:pPr/>
            <a:r>
              <a:t>-50%</a:t>
            </a:r>
          </a:p>
        </p:txBody>
      </p:sp>
      <p:sp>
        <p:nvSpPr>
          <p:cNvPr id="509" name="TextBox 24"/>
          <p:cNvSpPr txBox="1"/>
          <p:nvPr/>
        </p:nvSpPr>
        <p:spPr>
          <a:xfrm>
            <a:off x="594359" y="6154420"/>
            <a:ext cx="24688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64748B"/>
                </a:solidFill>
                <a:latin typeface="游ゴシック体 ミディアム"/>
                <a:ea typeface="游ゴシック体 ミディアム"/>
                <a:cs typeface="游ゴシック体 ミディアム"/>
                <a:sym typeface="游ゴシック体 ミディアム"/>
              </a:defRPr>
            </a:lvl1pPr>
          </a:lstStyle>
          <a:p>
            <a:pPr/>
            <a:r>
              <a:t>登録CPA（3ヶ月）</a:t>
            </a:r>
          </a:p>
        </p:txBody>
      </p:sp>
      <p:sp>
        <p:nvSpPr>
          <p:cNvPr id="510" name="Rounded Rectangle 25"/>
          <p:cNvSpPr/>
          <p:nvPr/>
        </p:nvSpPr>
        <p:spPr>
          <a:xfrm>
            <a:off x="3200400" y="5486400"/>
            <a:ext cx="2468880" cy="960120"/>
          </a:xfrm>
          <a:prstGeom prst="roundRect">
            <a:avLst>
              <a:gd name="adj" fmla="val 12000"/>
            </a:avLst>
          </a:prstGeom>
          <a:solidFill>
            <a:srgbClr val="D1FAE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11" name="TextBox 26"/>
          <p:cNvSpPr txBox="1"/>
          <p:nvPr/>
        </p:nvSpPr>
        <p:spPr>
          <a:xfrm>
            <a:off x="3200399" y="5643879"/>
            <a:ext cx="246888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10B981"/>
                </a:solidFill>
                <a:latin typeface="游ゴシック体 ボールド"/>
                <a:ea typeface="游ゴシック体 ボールド"/>
                <a:cs typeface="游ゴシック体 ボールド"/>
                <a:sym typeface="游ゴシック体 ボールド"/>
              </a:defRPr>
            </a:lvl1pPr>
          </a:lstStyle>
          <a:p>
            <a:pPr/>
            <a:r>
              <a:t>125%</a:t>
            </a:r>
          </a:p>
        </p:txBody>
      </p:sp>
      <p:sp>
        <p:nvSpPr>
          <p:cNvPr id="512" name="TextBox 27"/>
          <p:cNvSpPr txBox="1"/>
          <p:nvPr/>
        </p:nvSpPr>
        <p:spPr>
          <a:xfrm>
            <a:off x="3200399" y="6154420"/>
            <a:ext cx="24688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64748B"/>
                </a:solidFill>
                <a:latin typeface="游ゴシック体 ミディアム"/>
                <a:ea typeface="游ゴシック体 ミディアム"/>
                <a:cs typeface="游ゴシック体 ミディアム"/>
                <a:sym typeface="游ゴシック体 ミディアム"/>
              </a:defRPr>
            </a:lvl1pPr>
          </a:lstStyle>
          <a:p>
            <a:pPr/>
            <a:r>
              <a:t>CVR</a:t>
            </a:r>
          </a:p>
        </p:txBody>
      </p:sp>
      <p:sp>
        <p:nvSpPr>
          <p:cNvPr id="513" name="Rounded Rectangle 28"/>
          <p:cNvSpPr/>
          <p:nvPr/>
        </p:nvSpPr>
        <p:spPr>
          <a:xfrm>
            <a:off x="5943600" y="1828800"/>
            <a:ext cx="5852160" cy="4572000"/>
          </a:xfrm>
          <a:prstGeom prst="roundRect">
            <a:avLst>
              <a:gd name="adj" fmla="val 12000"/>
            </a:avLst>
          </a:prstGeom>
          <a:solidFill>
            <a:srgbClr val="F1F5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14" name="TextBox 29"/>
          <p:cNvSpPr txBox="1"/>
          <p:nvPr/>
        </p:nvSpPr>
        <p:spPr>
          <a:xfrm>
            <a:off x="6217920" y="1965960"/>
            <a:ext cx="5303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4748B"/>
                </a:solidFill>
                <a:latin typeface="游ゴシック体 ボールド"/>
                <a:ea typeface="游ゴシック体 ボールド"/>
                <a:cs typeface="游ゴシック体 ボールド"/>
                <a:sym typeface="游ゴシック体 ボールド"/>
              </a:defRPr>
            </a:lvl1pPr>
          </a:lstStyle>
          <a:p>
            <a:pPr/>
            <a:r>
              <a:t>施策の図解</a:t>
            </a:r>
          </a:p>
        </p:txBody>
      </p:sp>
      <p:sp>
        <p:nvSpPr>
          <p:cNvPr id="515" name="Rectangle 30"/>
          <p:cNvSpPr/>
          <p:nvPr/>
        </p:nvSpPr>
        <p:spPr>
          <a:xfrm>
            <a:off x="6217920" y="2285999"/>
            <a:ext cx="365761" cy="36578"/>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16" name="TextBox 31"/>
          <p:cNvSpPr txBox="1"/>
          <p:nvPr/>
        </p:nvSpPr>
        <p:spPr>
          <a:xfrm>
            <a:off x="6217920" y="2423160"/>
            <a:ext cx="5303521" cy="1460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1B2A4A"/>
                </a:solidFill>
                <a:latin typeface="游ゴシック体 ボールド"/>
                <a:ea typeface="游ゴシック体 ボールド"/>
                <a:cs typeface="游ゴシック体 ボールド"/>
                <a:sym typeface="游ゴシック体 ボールド"/>
              </a:defRPr>
            </a:lvl1pPr>
          </a:lstStyle>
          <a:p>
            <a:pPr/>
            <a:r>
              <a:t>戦略設計から実行まで一気通貫  |  LP改善で CVR 125%</a:t>
            </a:r>
          </a:p>
        </p:txBody>
      </p:sp>
      <p:sp>
        <p:nvSpPr>
          <p:cNvPr id="517" name="TextBox 32"/>
          <p:cNvSpPr txBox="1"/>
          <p:nvPr/>
        </p:nvSpPr>
        <p:spPr>
          <a:xfrm>
            <a:off x="6309359" y="2743199"/>
            <a:ext cx="512064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10B981"/>
                </a:solidFill>
                <a:latin typeface="游ゴシック体 ボールド"/>
                <a:ea typeface="游ゴシック体 ボールド"/>
                <a:cs typeface="游ゴシック体 ボールド"/>
                <a:sym typeface="游ゴシック体 ボールド"/>
              </a:defRPr>
            </a:lvl1pPr>
          </a:lstStyle>
          <a:p>
            <a:pPr/>
            <a:r>
              <a:t>📉 リプレイス3ヶ月で 登録CPA 約50%削減</a:t>
            </a:r>
          </a:p>
        </p:txBody>
      </p:sp>
      <p:sp>
        <p:nvSpPr>
          <p:cNvPr id="518" name="TextBox 33"/>
          <p:cNvSpPr txBox="1"/>
          <p:nvPr/>
        </p:nvSpPr>
        <p:spPr>
          <a:xfrm>
            <a:off x="6309359" y="3154679"/>
            <a:ext cx="731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4748B"/>
                </a:solidFill>
                <a:latin typeface="游ゴシック体 ボールド"/>
                <a:ea typeface="游ゴシック体 ボールド"/>
                <a:cs typeface="游ゴシック体 ボールド"/>
                <a:sym typeface="游ゴシック体 ボールド"/>
              </a:defRPr>
            </a:lvl1pPr>
          </a:lstStyle>
          <a:p>
            <a:pPr/>
            <a:r>
              <a:t>Before</a:t>
            </a:r>
          </a:p>
        </p:txBody>
      </p:sp>
      <p:sp>
        <p:nvSpPr>
          <p:cNvPr id="519" name="Rectangle 34"/>
          <p:cNvSpPr/>
          <p:nvPr/>
        </p:nvSpPr>
        <p:spPr>
          <a:xfrm>
            <a:off x="7086600" y="3063239"/>
            <a:ext cx="4251960" cy="411481"/>
          </a:xfrm>
          <a:prstGeom prst="rect">
            <a:avLst/>
          </a:prstGeom>
          <a:solidFill>
            <a:srgbClr val="EF4444"/>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20" name="TextBox 35"/>
          <p:cNvSpPr txBox="1"/>
          <p:nvPr/>
        </p:nvSpPr>
        <p:spPr>
          <a:xfrm>
            <a:off x="7086600" y="3205479"/>
            <a:ext cx="42519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FFFFF"/>
                </a:solidFill>
                <a:latin typeface="游ゴシック体 ボールド"/>
                <a:ea typeface="游ゴシック体 ボールド"/>
                <a:cs typeface="游ゴシック体 ボールド"/>
                <a:sym typeface="游ゴシック体 ボールド"/>
              </a:defRPr>
            </a:lvl1pPr>
          </a:lstStyle>
          <a:p>
            <a:pPr/>
            <a:r>
              <a:t>旧体制 CPA（100%）</a:t>
            </a:r>
          </a:p>
        </p:txBody>
      </p:sp>
      <p:sp>
        <p:nvSpPr>
          <p:cNvPr id="521" name="TextBox 36"/>
          <p:cNvSpPr txBox="1"/>
          <p:nvPr/>
        </p:nvSpPr>
        <p:spPr>
          <a:xfrm>
            <a:off x="6309359" y="3703320"/>
            <a:ext cx="731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10B981"/>
                </a:solidFill>
                <a:latin typeface="游ゴシック体 ボールド"/>
                <a:ea typeface="游ゴシック体 ボールド"/>
                <a:cs typeface="游ゴシック体 ボールド"/>
                <a:sym typeface="游ゴシック体 ボールド"/>
              </a:defRPr>
            </a:lvl1pPr>
          </a:lstStyle>
          <a:p>
            <a:pPr/>
            <a:r>
              <a:t>After</a:t>
            </a:r>
          </a:p>
        </p:txBody>
      </p:sp>
      <p:sp>
        <p:nvSpPr>
          <p:cNvPr id="522" name="Rectangle 37"/>
          <p:cNvSpPr/>
          <p:nvPr/>
        </p:nvSpPr>
        <p:spPr>
          <a:xfrm>
            <a:off x="7086600" y="3611879"/>
            <a:ext cx="2125980" cy="411481"/>
          </a:xfrm>
          <a:prstGeom prst="rect">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23" name="TextBox 38"/>
          <p:cNvSpPr txBox="1"/>
          <p:nvPr/>
        </p:nvSpPr>
        <p:spPr>
          <a:xfrm>
            <a:off x="7086600" y="3754119"/>
            <a:ext cx="212598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FFFFF"/>
                </a:solidFill>
                <a:latin typeface="游ゴシック体 ボールド"/>
                <a:ea typeface="游ゴシック体 ボールド"/>
                <a:cs typeface="游ゴシック体 ボールド"/>
                <a:sym typeface="游ゴシック体 ボールド"/>
              </a:defRPr>
            </a:lvl1pPr>
          </a:lstStyle>
          <a:p>
            <a:pPr/>
            <a:r>
              <a:t>50%削減</a:t>
            </a:r>
          </a:p>
        </p:txBody>
      </p:sp>
      <p:sp>
        <p:nvSpPr>
          <p:cNvPr id="524" name="Right Arrow 39"/>
          <p:cNvSpPr/>
          <p:nvPr/>
        </p:nvSpPr>
        <p:spPr>
          <a:xfrm>
            <a:off x="9258300" y="3703320"/>
            <a:ext cx="411481" cy="228601"/>
          </a:xfrm>
          <a:prstGeom prst="rightArrow">
            <a:avLst>
              <a:gd name="adj1" fmla="val 50000"/>
              <a:gd name="adj2" fmla="val 50000"/>
            </a:avLst>
          </a:prstGeom>
          <a:solidFill>
            <a:srgbClr val="F59E0B"/>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25" name="TextBox 40"/>
          <p:cNvSpPr txBox="1"/>
          <p:nvPr/>
        </p:nvSpPr>
        <p:spPr>
          <a:xfrm>
            <a:off x="9715499" y="3754119"/>
            <a:ext cx="162306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F59E0B"/>
                </a:solidFill>
                <a:latin typeface="游ゴシック体 ボールド"/>
                <a:ea typeface="游ゴシック体 ボールド"/>
                <a:cs typeface="游ゴシック体 ボールド"/>
                <a:sym typeface="游ゴシック体 ボールド"/>
              </a:defRPr>
            </a:lvl1pPr>
          </a:lstStyle>
          <a:p>
            <a:pPr/>
            <a:r>
              <a:t>3ヶ月で達成</a:t>
            </a:r>
          </a:p>
        </p:txBody>
      </p:sp>
      <p:sp>
        <p:nvSpPr>
          <p:cNvPr id="526" name="TextBox 41"/>
          <p:cNvSpPr txBox="1"/>
          <p:nvPr/>
        </p:nvSpPr>
        <p:spPr>
          <a:xfrm>
            <a:off x="6309359" y="4297679"/>
            <a:ext cx="512064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3B82F6"/>
                </a:solidFill>
                <a:latin typeface="游ゴシック体 ボールド"/>
                <a:ea typeface="游ゴシック体 ボールド"/>
                <a:cs typeface="游ゴシック体 ボールド"/>
                <a:sym typeface="游ゴシック体 ボールド"/>
              </a:defRPr>
            </a:lvl1pPr>
          </a:lstStyle>
          <a:p>
            <a:pPr/>
            <a:r>
              <a:t>🛠 戦略設計 → LP改善 → 一気通貫実行</a:t>
            </a:r>
          </a:p>
        </p:txBody>
      </p:sp>
      <p:sp>
        <p:nvSpPr>
          <p:cNvPr id="527" name="Rounded Rectangle 42"/>
          <p:cNvSpPr/>
          <p:nvPr/>
        </p:nvSpPr>
        <p:spPr>
          <a:xfrm>
            <a:off x="6309359" y="4663440"/>
            <a:ext cx="971551" cy="685801"/>
          </a:xfrm>
          <a:prstGeom prst="roundRect">
            <a:avLst>
              <a:gd name="adj" fmla="val 12000"/>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28" name="TextBox 43"/>
          <p:cNvSpPr txBox="1"/>
          <p:nvPr/>
        </p:nvSpPr>
        <p:spPr>
          <a:xfrm>
            <a:off x="6309359" y="4847590"/>
            <a:ext cx="97155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FFFFFF"/>
                </a:solidFill>
                <a:latin typeface="游ゴシック体 ボールド"/>
                <a:ea typeface="游ゴシック体 ボールド"/>
                <a:cs typeface="游ゴシック体 ボールド"/>
                <a:sym typeface="游ゴシック体 ボールド"/>
              </a:defRPr>
            </a:pPr>
            <a:r>
              <a:t>戦略</a:t>
            </a:r>
          </a:p>
          <a:p>
            <a:pPr algn="ctr">
              <a:defRPr sz="1000">
                <a:solidFill>
                  <a:srgbClr val="FFFFFF"/>
                </a:solidFill>
                <a:latin typeface="游ゴシック体 ボールド"/>
                <a:ea typeface="游ゴシック体 ボールド"/>
                <a:cs typeface="游ゴシック体 ボールド"/>
                <a:sym typeface="游ゴシック体 ボールド"/>
              </a:defRPr>
            </a:pPr>
            <a:r>
              <a:t>再設計</a:t>
            </a:r>
          </a:p>
        </p:txBody>
      </p:sp>
      <p:sp>
        <p:nvSpPr>
          <p:cNvPr id="529" name="Right Arrow 44"/>
          <p:cNvSpPr/>
          <p:nvPr/>
        </p:nvSpPr>
        <p:spPr>
          <a:xfrm>
            <a:off x="7372350" y="4892040"/>
            <a:ext cx="228600" cy="228601"/>
          </a:xfrm>
          <a:prstGeom prst="rightArrow">
            <a:avLst>
              <a:gd name="adj1" fmla="val 50000"/>
              <a:gd name="adj2" fmla="val 50000"/>
            </a:avLst>
          </a:prstGeom>
          <a:solidFill>
            <a:srgbClr val="94A3B8"/>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30" name="Rounded Rectangle 45"/>
          <p:cNvSpPr/>
          <p:nvPr/>
        </p:nvSpPr>
        <p:spPr>
          <a:xfrm>
            <a:off x="7692390" y="4663440"/>
            <a:ext cx="971551" cy="685801"/>
          </a:xfrm>
          <a:prstGeom prst="roundRect">
            <a:avLst>
              <a:gd name="adj" fmla="val 12000"/>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31" name="TextBox 46"/>
          <p:cNvSpPr txBox="1"/>
          <p:nvPr/>
        </p:nvSpPr>
        <p:spPr>
          <a:xfrm>
            <a:off x="7692390" y="4847590"/>
            <a:ext cx="97155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FFFFFF"/>
                </a:solidFill>
                <a:latin typeface="游ゴシック体 ボールド"/>
                <a:ea typeface="游ゴシック体 ボールド"/>
                <a:cs typeface="游ゴシック体 ボールド"/>
                <a:sym typeface="游ゴシック体 ボールド"/>
              </a:defRPr>
            </a:pPr>
            <a:r>
              <a:t>自社アセット</a:t>
            </a:r>
          </a:p>
          <a:p>
            <a:pPr algn="ctr">
              <a:defRPr sz="1000">
                <a:solidFill>
                  <a:srgbClr val="FFFFFF"/>
                </a:solidFill>
                <a:latin typeface="游ゴシック体 ボールド"/>
                <a:ea typeface="游ゴシック体 ボールド"/>
                <a:cs typeface="游ゴシック体 ボールド"/>
                <a:sym typeface="游ゴシック体 ボールド"/>
              </a:defRPr>
            </a:pPr>
            <a:r>
              <a:t>活用LP</a:t>
            </a:r>
          </a:p>
        </p:txBody>
      </p:sp>
      <p:sp>
        <p:nvSpPr>
          <p:cNvPr id="532" name="Right Arrow 47"/>
          <p:cNvSpPr/>
          <p:nvPr/>
        </p:nvSpPr>
        <p:spPr>
          <a:xfrm>
            <a:off x="8755380" y="4892040"/>
            <a:ext cx="228601" cy="228601"/>
          </a:xfrm>
          <a:prstGeom prst="rightArrow">
            <a:avLst>
              <a:gd name="adj1" fmla="val 50000"/>
              <a:gd name="adj2" fmla="val 50000"/>
            </a:avLst>
          </a:prstGeom>
          <a:solidFill>
            <a:srgbClr val="94A3B8"/>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33" name="Rounded Rectangle 48"/>
          <p:cNvSpPr/>
          <p:nvPr/>
        </p:nvSpPr>
        <p:spPr>
          <a:xfrm>
            <a:off x="9075419" y="4663440"/>
            <a:ext cx="971551" cy="685801"/>
          </a:xfrm>
          <a:prstGeom prst="roundRect">
            <a:avLst>
              <a:gd name="adj" fmla="val 12000"/>
            </a:avLst>
          </a:prstGeom>
          <a:solidFill>
            <a:srgbClr val="8B5C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34" name="TextBox 49"/>
          <p:cNvSpPr txBox="1"/>
          <p:nvPr/>
        </p:nvSpPr>
        <p:spPr>
          <a:xfrm>
            <a:off x="9075419" y="4847590"/>
            <a:ext cx="97155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FFFFFF"/>
                </a:solidFill>
                <a:latin typeface="游ゴシック体 ボールド"/>
                <a:ea typeface="游ゴシック体 ボールド"/>
                <a:cs typeface="游ゴシック体 ボールド"/>
                <a:sym typeface="游ゴシック体 ボールド"/>
              </a:defRPr>
            </a:pPr>
            <a:r>
              <a:t>LPO</a:t>
            </a:r>
          </a:p>
          <a:p>
            <a:pPr algn="ctr">
              <a:defRPr sz="1000">
                <a:solidFill>
                  <a:srgbClr val="FFFFFF"/>
                </a:solidFill>
                <a:latin typeface="游ゴシック体 ボールド"/>
                <a:ea typeface="游ゴシック体 ボールド"/>
                <a:cs typeface="游ゴシック体 ボールド"/>
                <a:sym typeface="游ゴシック体 ボールド"/>
              </a:defRPr>
            </a:pPr>
            <a:r>
              <a:t>ABテスト</a:t>
            </a:r>
          </a:p>
        </p:txBody>
      </p:sp>
      <p:sp>
        <p:nvSpPr>
          <p:cNvPr id="535" name="Right Arrow 50"/>
          <p:cNvSpPr/>
          <p:nvPr/>
        </p:nvSpPr>
        <p:spPr>
          <a:xfrm>
            <a:off x="10138409" y="4892040"/>
            <a:ext cx="228601" cy="228601"/>
          </a:xfrm>
          <a:prstGeom prst="rightArrow">
            <a:avLst>
              <a:gd name="adj1" fmla="val 50000"/>
              <a:gd name="adj2" fmla="val 50000"/>
            </a:avLst>
          </a:prstGeom>
          <a:solidFill>
            <a:srgbClr val="94A3B8"/>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36" name="Rounded Rectangle 51"/>
          <p:cNvSpPr/>
          <p:nvPr/>
        </p:nvSpPr>
        <p:spPr>
          <a:xfrm>
            <a:off x="10458450" y="4663440"/>
            <a:ext cx="971550" cy="685801"/>
          </a:xfrm>
          <a:prstGeom prst="roundRect">
            <a:avLst>
              <a:gd name="adj" fmla="val 12000"/>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37" name="TextBox 52"/>
          <p:cNvSpPr txBox="1"/>
          <p:nvPr/>
        </p:nvSpPr>
        <p:spPr>
          <a:xfrm>
            <a:off x="10458450" y="4847590"/>
            <a:ext cx="971550"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FFFFFF"/>
                </a:solidFill>
                <a:latin typeface="游ゴシック体 ボールド"/>
                <a:ea typeface="游ゴシック体 ボールド"/>
                <a:cs typeface="游ゴシック体 ボールド"/>
                <a:sym typeface="游ゴシック体 ボールド"/>
              </a:defRPr>
            </a:pPr>
            <a:r>
              <a:t>CVR</a:t>
            </a:r>
          </a:p>
          <a:p>
            <a:pPr algn="ctr">
              <a:defRPr sz="1000">
                <a:solidFill>
                  <a:srgbClr val="FFFFFF"/>
                </a:solidFill>
                <a:latin typeface="游ゴシック体 ボールド"/>
                <a:ea typeface="游ゴシック体 ボールド"/>
                <a:cs typeface="游ゴシック体 ボールド"/>
                <a:sym typeface="游ゴシック体 ボールド"/>
              </a:defRPr>
            </a:pPr>
            <a:r>
              <a:t>125%</a:t>
            </a:r>
          </a:p>
        </p:txBody>
      </p:sp>
      <p:sp>
        <p:nvSpPr>
          <p:cNvPr id="538" name="Rounded Rectangle 53"/>
          <p:cNvSpPr/>
          <p:nvPr/>
        </p:nvSpPr>
        <p:spPr>
          <a:xfrm>
            <a:off x="6217920" y="5806440"/>
            <a:ext cx="5303521" cy="502921"/>
          </a:xfrm>
          <a:prstGeom prst="roundRect">
            <a:avLst>
              <a:gd name="adj" fmla="val 12000"/>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39" name="TextBox 54"/>
          <p:cNvSpPr txBox="1"/>
          <p:nvPr/>
        </p:nvSpPr>
        <p:spPr>
          <a:xfrm>
            <a:off x="6217920" y="5994399"/>
            <a:ext cx="5303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FFFFF"/>
                </a:solidFill>
                <a:latin typeface="游ゴシック体 ボールド"/>
                <a:ea typeface="游ゴシック体 ボールド"/>
                <a:cs typeface="游ゴシック体 ボールド"/>
                <a:sym typeface="游ゴシック体 ボールド"/>
              </a:defRPr>
            </a:lvl1pPr>
          </a:lstStyle>
          <a:p>
            <a:pPr/>
            <a:r>
              <a:t>登録CPA -50%  |  CVR 125%  |  プロジェクト推進・統括も担当</a:t>
            </a:r>
          </a:p>
        </p:txBody>
      </p:sp>
      <p:sp>
        <p:nvSpPr>
          <p:cNvPr id="540" name="TextBox 55"/>
          <p:cNvSpPr txBox="1"/>
          <p:nvPr/>
        </p:nvSpPr>
        <p:spPr>
          <a:xfrm>
            <a:off x="457199" y="6565392"/>
            <a:ext cx="112471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94A3B8"/>
                </a:solidFill>
                <a:latin typeface="游ゴシック体 ミディアム"/>
                <a:ea typeface="游ゴシック体 ミディアム"/>
                <a:cs typeface="游ゴシック体 ミディアム"/>
                <a:sym typeface="游ゴシック体 ミディアム"/>
              </a:defRPr>
            </a:lvl1pPr>
          </a:lstStyle>
          <a:p>
            <a:pPr/>
            <a:r>
              <a:t>※ 守秘義務の関係上、社名は非公開としております。詳細は個別にご説明いたします。</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2" name="Rectangle 1"/>
          <p:cNvSpPr/>
          <p:nvPr/>
        </p:nvSpPr>
        <p:spPr>
          <a:xfrm>
            <a:off x="-1" y="0"/>
            <a:ext cx="12188954" cy="685800"/>
          </a:xfrm>
          <a:prstGeom prst="rect">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43" name="TextBox 2"/>
          <p:cNvSpPr txBox="1"/>
          <p:nvPr/>
        </p:nvSpPr>
        <p:spPr>
          <a:xfrm>
            <a:off x="457200" y="164591"/>
            <a:ext cx="73152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FFFFF"/>
                </a:solidFill>
                <a:latin typeface="游ゴシック体 ボールド"/>
                <a:ea typeface="游ゴシック体 ボールド"/>
                <a:cs typeface="游ゴシック体 ボールド"/>
                <a:sym typeface="游ゴシック体 ボールド"/>
              </a:defRPr>
            </a:lvl1pPr>
          </a:lstStyle>
          <a:p>
            <a:pPr/>
            <a:r>
              <a:t>CASE STUDIES</a:t>
            </a:r>
          </a:p>
        </p:txBody>
      </p:sp>
      <p:sp>
        <p:nvSpPr>
          <p:cNvPr id="544" name="TextBox 3"/>
          <p:cNvSpPr txBox="1"/>
          <p:nvPr/>
        </p:nvSpPr>
        <p:spPr>
          <a:xfrm>
            <a:off x="10058400" y="164591"/>
            <a:ext cx="18288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FFFFFF"/>
                </a:solidFill>
                <a:latin typeface="游ゴシック体 ボールド"/>
                <a:ea typeface="游ゴシック体 ボールド"/>
                <a:cs typeface="游ゴシック体 ボールド"/>
                <a:sym typeface="游ゴシック体 ボールド"/>
              </a:defRPr>
            </a:lvl1pPr>
          </a:lstStyle>
          <a:p>
            <a:pPr/>
            <a:r>
              <a:t>07 / 13</a:t>
            </a:r>
          </a:p>
        </p:txBody>
      </p:sp>
      <p:sp>
        <p:nvSpPr>
          <p:cNvPr id="545" name="TextBox 4"/>
          <p:cNvSpPr txBox="1"/>
          <p:nvPr/>
        </p:nvSpPr>
        <p:spPr>
          <a:xfrm>
            <a:off x="457200" y="868680"/>
            <a:ext cx="7772400"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400">
                <a:solidFill>
                  <a:srgbClr val="1B2A4A"/>
                </a:solidFill>
                <a:latin typeface="游ゴシック体 ボールド"/>
                <a:ea typeface="游ゴシック体 ボールド"/>
                <a:cs typeface="游ゴシック体 ボールド"/>
                <a:sym typeface="游ゴシック体 ボールド"/>
              </a:defRPr>
            </a:lvl1pPr>
          </a:lstStyle>
          <a:p>
            <a:pPr/>
            <a:r>
              <a:t>BtoB（SNS拡張ツール）</a:t>
            </a:r>
          </a:p>
        </p:txBody>
      </p:sp>
      <p:sp>
        <p:nvSpPr>
          <p:cNvPr id="546" name="TextBox 5"/>
          <p:cNvSpPr txBox="1"/>
          <p:nvPr/>
        </p:nvSpPr>
        <p:spPr>
          <a:xfrm>
            <a:off x="457200" y="1325880"/>
            <a:ext cx="77724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4748B"/>
                </a:solidFill>
                <a:latin typeface="游ゴシック体 ミディアム"/>
                <a:ea typeface="游ゴシック体 ミディアム"/>
                <a:cs typeface="游ゴシック体 ミディアム"/>
                <a:sym typeface="游ゴシック体 ミディアム"/>
              </a:defRPr>
            </a:lvl1pPr>
          </a:lstStyle>
          <a:p>
            <a:pPr/>
            <a:r>
              <a:t>運用担当   |   リスティング / SNS / サイト改善・LPO</a:t>
            </a:r>
          </a:p>
        </p:txBody>
      </p:sp>
      <p:sp>
        <p:nvSpPr>
          <p:cNvPr id="547" name="Rectangle 6"/>
          <p:cNvSpPr/>
          <p:nvPr/>
        </p:nvSpPr>
        <p:spPr>
          <a:xfrm>
            <a:off x="457200" y="1645920"/>
            <a:ext cx="457200" cy="45721"/>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48" name="Rectangle 7"/>
          <p:cNvSpPr/>
          <p:nvPr/>
        </p:nvSpPr>
        <p:spPr>
          <a:xfrm>
            <a:off x="914399" y="1645920"/>
            <a:ext cx="10789922"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49" name="Oval 8"/>
          <p:cNvSpPr/>
          <p:nvPr/>
        </p:nvSpPr>
        <p:spPr>
          <a:xfrm>
            <a:off x="457199" y="1874518"/>
            <a:ext cx="274322" cy="274321"/>
          </a:xfrm>
          <a:prstGeom prst="ellipse">
            <a:avLst/>
          </a:prstGeom>
          <a:solidFill>
            <a:srgbClr val="EF4444"/>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50" name="TextBox 9"/>
          <p:cNvSpPr txBox="1"/>
          <p:nvPr/>
        </p:nvSpPr>
        <p:spPr>
          <a:xfrm>
            <a:off x="457199" y="1948178"/>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01</a:t>
            </a:r>
          </a:p>
        </p:txBody>
      </p:sp>
      <p:sp>
        <p:nvSpPr>
          <p:cNvPr id="551" name="TextBox 10"/>
          <p:cNvSpPr txBox="1"/>
          <p:nvPr/>
        </p:nvSpPr>
        <p:spPr>
          <a:xfrm>
            <a:off x="822960" y="1856231"/>
            <a:ext cx="3657601"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課題</a:t>
            </a:r>
          </a:p>
        </p:txBody>
      </p:sp>
      <p:sp>
        <p:nvSpPr>
          <p:cNvPr id="552" name="Rectangle 11"/>
          <p:cNvSpPr/>
          <p:nvPr/>
        </p:nvSpPr>
        <p:spPr>
          <a:xfrm>
            <a:off x="822960" y="2148838"/>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53" name="TextBox 12"/>
          <p:cNvSpPr txBox="1"/>
          <p:nvPr/>
        </p:nvSpPr>
        <p:spPr>
          <a:xfrm>
            <a:off x="594359" y="2331720"/>
            <a:ext cx="5074922" cy="4057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0000"/>
              </a:lnSpc>
              <a:defRPr sz="1100">
                <a:solidFill>
                  <a:srgbClr val="334455"/>
                </a:solidFill>
                <a:latin typeface="游ゴシック体 ミディアム"/>
                <a:ea typeface="游ゴシック体 ミディアム"/>
                <a:cs typeface="游ゴシック体 ミディアム"/>
                <a:sym typeface="游ゴシック体 ミディアム"/>
              </a:defRPr>
            </a:lvl1pPr>
          </a:lstStyle>
          <a:p>
            <a:pPr/>
            <a:r>
              <a:t>既存の運用設計が現状の顧客像とずれており、商談数・効率ともに頭打ち。広告KPIだけでは課題が見えなかった。</a:t>
            </a:r>
          </a:p>
        </p:txBody>
      </p:sp>
      <p:sp>
        <p:nvSpPr>
          <p:cNvPr id="554" name="Oval 13"/>
          <p:cNvSpPr/>
          <p:nvPr/>
        </p:nvSpPr>
        <p:spPr>
          <a:xfrm>
            <a:off x="457199" y="3246120"/>
            <a:ext cx="274322" cy="274321"/>
          </a:xfrm>
          <a:prstGeom prst="ellipse">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55" name="TextBox 14"/>
          <p:cNvSpPr txBox="1"/>
          <p:nvPr/>
        </p:nvSpPr>
        <p:spPr>
          <a:xfrm>
            <a:off x="457199" y="3319780"/>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02</a:t>
            </a:r>
          </a:p>
        </p:txBody>
      </p:sp>
      <p:sp>
        <p:nvSpPr>
          <p:cNvPr id="556" name="TextBox 15"/>
          <p:cNvSpPr txBox="1"/>
          <p:nvPr/>
        </p:nvSpPr>
        <p:spPr>
          <a:xfrm>
            <a:off x="822960" y="3227832"/>
            <a:ext cx="3657601"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アプローチ</a:t>
            </a:r>
          </a:p>
        </p:txBody>
      </p:sp>
      <p:sp>
        <p:nvSpPr>
          <p:cNvPr id="557" name="Rectangle 16"/>
          <p:cNvSpPr/>
          <p:nvPr/>
        </p:nvSpPr>
        <p:spPr>
          <a:xfrm>
            <a:off x="822960" y="3520440"/>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58" name="TextBox 17"/>
          <p:cNvSpPr txBox="1"/>
          <p:nvPr/>
        </p:nvSpPr>
        <p:spPr>
          <a:xfrm>
            <a:off x="594359" y="3703320"/>
            <a:ext cx="5074922" cy="4057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0000"/>
              </a:lnSpc>
              <a:defRPr sz="1100">
                <a:solidFill>
                  <a:srgbClr val="334455"/>
                </a:solidFill>
                <a:latin typeface="游ゴシック体 ミディアム"/>
                <a:ea typeface="游ゴシック体 ミディアム"/>
                <a:cs typeface="游ゴシック体 ミディアム"/>
                <a:sym typeface="游ゴシック体 ミディアム"/>
              </a:defRPr>
            </a:lvl1pPr>
          </a:lstStyle>
          <a:p>
            <a:pPr/>
            <a:r>
              <a:t>顧客ヒアリング・商談データ・Salesforceデータを横断的に分析し、運用設計を根本から再構築。サイト改善・LPOも同時に推進。</a:t>
            </a:r>
          </a:p>
        </p:txBody>
      </p:sp>
      <p:sp>
        <p:nvSpPr>
          <p:cNvPr id="559" name="Oval 18"/>
          <p:cNvSpPr/>
          <p:nvPr/>
        </p:nvSpPr>
        <p:spPr>
          <a:xfrm>
            <a:off x="457199" y="5029199"/>
            <a:ext cx="274322" cy="274322"/>
          </a:xfrm>
          <a:prstGeom prst="ellipse">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60" name="TextBox 19"/>
          <p:cNvSpPr txBox="1"/>
          <p:nvPr/>
        </p:nvSpPr>
        <p:spPr>
          <a:xfrm>
            <a:off x="457199" y="5102859"/>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03</a:t>
            </a:r>
          </a:p>
        </p:txBody>
      </p:sp>
      <p:sp>
        <p:nvSpPr>
          <p:cNvPr id="561" name="TextBox 20"/>
          <p:cNvSpPr txBox="1"/>
          <p:nvPr/>
        </p:nvSpPr>
        <p:spPr>
          <a:xfrm>
            <a:off x="822960" y="5010911"/>
            <a:ext cx="36576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成果</a:t>
            </a:r>
          </a:p>
        </p:txBody>
      </p:sp>
      <p:sp>
        <p:nvSpPr>
          <p:cNvPr id="562" name="Rectangle 21"/>
          <p:cNvSpPr/>
          <p:nvPr/>
        </p:nvSpPr>
        <p:spPr>
          <a:xfrm>
            <a:off x="822960" y="5303520"/>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63" name="Rounded Rectangle 22"/>
          <p:cNvSpPr/>
          <p:nvPr/>
        </p:nvSpPr>
        <p:spPr>
          <a:xfrm>
            <a:off x="594359" y="5486400"/>
            <a:ext cx="2468881" cy="960120"/>
          </a:xfrm>
          <a:prstGeom prst="roundRect">
            <a:avLst>
              <a:gd name="adj" fmla="val 12000"/>
            </a:avLst>
          </a:prstGeom>
          <a:solidFill>
            <a:srgbClr val="D1FAE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64" name="TextBox 23"/>
          <p:cNvSpPr txBox="1"/>
          <p:nvPr/>
        </p:nvSpPr>
        <p:spPr>
          <a:xfrm>
            <a:off x="594359" y="5643879"/>
            <a:ext cx="246888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10B981"/>
                </a:solidFill>
                <a:latin typeface="游ゴシック体 ボールド"/>
                <a:ea typeface="游ゴシック体 ボールド"/>
                <a:cs typeface="游ゴシック体 ボールド"/>
                <a:sym typeface="游ゴシック体 ボールド"/>
              </a:defRPr>
            </a:lvl1pPr>
          </a:lstStyle>
          <a:p>
            <a:pPr/>
            <a:r>
              <a:t>1.5倍</a:t>
            </a:r>
          </a:p>
        </p:txBody>
      </p:sp>
      <p:sp>
        <p:nvSpPr>
          <p:cNvPr id="565" name="TextBox 24"/>
          <p:cNvSpPr txBox="1"/>
          <p:nvPr/>
        </p:nvSpPr>
        <p:spPr>
          <a:xfrm>
            <a:off x="594359" y="6154420"/>
            <a:ext cx="24688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64748B"/>
                </a:solidFill>
                <a:latin typeface="游ゴシック体 ミディアム"/>
                <a:ea typeface="游ゴシック体 ミディアム"/>
                <a:cs typeface="游ゴシック体 ミディアム"/>
                <a:sym typeface="游ゴシック体 ミディアム"/>
              </a:defRPr>
            </a:lvl1pPr>
          </a:lstStyle>
          <a:p>
            <a:pPr/>
            <a:r>
              <a:t>商談数</a:t>
            </a:r>
          </a:p>
        </p:txBody>
      </p:sp>
      <p:sp>
        <p:nvSpPr>
          <p:cNvPr id="566" name="Rounded Rectangle 25"/>
          <p:cNvSpPr/>
          <p:nvPr/>
        </p:nvSpPr>
        <p:spPr>
          <a:xfrm>
            <a:off x="3200400" y="5486400"/>
            <a:ext cx="2468880" cy="960120"/>
          </a:xfrm>
          <a:prstGeom prst="roundRect">
            <a:avLst>
              <a:gd name="adj" fmla="val 12000"/>
            </a:avLst>
          </a:prstGeom>
          <a:solidFill>
            <a:srgbClr val="D1FAE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67" name="TextBox 26"/>
          <p:cNvSpPr txBox="1"/>
          <p:nvPr/>
        </p:nvSpPr>
        <p:spPr>
          <a:xfrm>
            <a:off x="3200399" y="5643879"/>
            <a:ext cx="246888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10B981"/>
                </a:solidFill>
                <a:latin typeface="游ゴシック体 ボールド"/>
                <a:ea typeface="游ゴシック体 ボールド"/>
                <a:cs typeface="游ゴシック体 ボールド"/>
                <a:sym typeface="游ゴシック体 ボールド"/>
              </a:defRPr>
            </a:lvl1pPr>
          </a:lstStyle>
          <a:p>
            <a:pPr/>
            <a:r>
              <a:t>135%</a:t>
            </a:r>
          </a:p>
        </p:txBody>
      </p:sp>
      <p:sp>
        <p:nvSpPr>
          <p:cNvPr id="568" name="TextBox 27"/>
          <p:cNvSpPr txBox="1"/>
          <p:nvPr/>
        </p:nvSpPr>
        <p:spPr>
          <a:xfrm>
            <a:off x="3200399" y="6154420"/>
            <a:ext cx="24688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64748B"/>
                </a:solidFill>
                <a:latin typeface="游ゴシック体 ミディアム"/>
                <a:ea typeface="游ゴシック体 ミディアム"/>
                <a:cs typeface="游ゴシック体 ミディアム"/>
                <a:sym typeface="游ゴシック体 ミディアム"/>
              </a:defRPr>
            </a:lvl1pPr>
          </a:lstStyle>
          <a:p>
            <a:pPr/>
            <a:r>
              <a:t>CVR</a:t>
            </a:r>
          </a:p>
        </p:txBody>
      </p:sp>
      <p:sp>
        <p:nvSpPr>
          <p:cNvPr id="569" name="Rounded Rectangle 28"/>
          <p:cNvSpPr/>
          <p:nvPr/>
        </p:nvSpPr>
        <p:spPr>
          <a:xfrm>
            <a:off x="5943600" y="1828800"/>
            <a:ext cx="5852160" cy="4572000"/>
          </a:xfrm>
          <a:prstGeom prst="roundRect">
            <a:avLst>
              <a:gd name="adj" fmla="val 12000"/>
            </a:avLst>
          </a:prstGeom>
          <a:solidFill>
            <a:srgbClr val="F1F5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70" name="TextBox 29"/>
          <p:cNvSpPr txBox="1"/>
          <p:nvPr/>
        </p:nvSpPr>
        <p:spPr>
          <a:xfrm>
            <a:off x="6217920" y="1965960"/>
            <a:ext cx="5303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4748B"/>
                </a:solidFill>
                <a:latin typeface="游ゴシック体 ボールド"/>
                <a:ea typeface="游ゴシック体 ボールド"/>
                <a:cs typeface="游ゴシック体 ボールド"/>
                <a:sym typeface="游ゴシック体 ボールド"/>
              </a:defRPr>
            </a:lvl1pPr>
          </a:lstStyle>
          <a:p>
            <a:pPr/>
            <a:r>
              <a:t>施策の図解</a:t>
            </a:r>
          </a:p>
        </p:txBody>
      </p:sp>
      <p:sp>
        <p:nvSpPr>
          <p:cNvPr id="571" name="Rectangle 30"/>
          <p:cNvSpPr/>
          <p:nvPr/>
        </p:nvSpPr>
        <p:spPr>
          <a:xfrm>
            <a:off x="6217920" y="2285999"/>
            <a:ext cx="365761" cy="36578"/>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72" name="TextBox 31"/>
          <p:cNvSpPr txBox="1"/>
          <p:nvPr/>
        </p:nvSpPr>
        <p:spPr>
          <a:xfrm>
            <a:off x="6217920" y="2423160"/>
            <a:ext cx="5303521" cy="1460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1B2A4A"/>
                </a:solidFill>
                <a:latin typeface="游ゴシック体 ボールド"/>
                <a:ea typeface="游ゴシック体 ボールド"/>
                <a:cs typeface="游ゴシック体 ボールド"/>
                <a:sym typeface="游ゴシック体 ボールド"/>
              </a:defRPr>
            </a:lvl1pPr>
          </a:lstStyle>
          <a:p>
            <a:pPr/>
            <a:r>
              <a:t>顧客・商談・SFデータの横断分析  ⇒  運用設計を根本再構築</a:t>
            </a:r>
          </a:p>
        </p:txBody>
      </p:sp>
      <p:sp>
        <p:nvSpPr>
          <p:cNvPr id="573" name="TextBox 32"/>
          <p:cNvSpPr txBox="1"/>
          <p:nvPr/>
        </p:nvSpPr>
        <p:spPr>
          <a:xfrm>
            <a:off x="6309359" y="2743199"/>
            <a:ext cx="512064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3B82F6"/>
                </a:solidFill>
                <a:latin typeface="游ゴシック体 ボールド"/>
                <a:ea typeface="游ゴシック体 ボールド"/>
                <a:cs typeface="游ゴシック体 ボールド"/>
                <a:sym typeface="游ゴシック体 ボールド"/>
              </a:defRPr>
            </a:lvl1pPr>
          </a:lstStyle>
          <a:p>
            <a:pPr/>
            <a:r>
              <a:t>🔗 3つのデータソースを統合分析</a:t>
            </a:r>
          </a:p>
        </p:txBody>
      </p:sp>
      <p:sp>
        <p:nvSpPr>
          <p:cNvPr id="574" name="Rounded Rectangle 33"/>
          <p:cNvSpPr/>
          <p:nvPr/>
        </p:nvSpPr>
        <p:spPr>
          <a:xfrm>
            <a:off x="6355079" y="3063239"/>
            <a:ext cx="1615441" cy="777241"/>
          </a:xfrm>
          <a:prstGeom prst="roundRect">
            <a:avLst>
              <a:gd name="adj" fmla="val 12000"/>
            </a:avLst>
          </a:prstGeom>
          <a:solidFill>
            <a:srgbClr val="8B5C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75" name="TextBox 34"/>
          <p:cNvSpPr txBox="1"/>
          <p:nvPr/>
        </p:nvSpPr>
        <p:spPr>
          <a:xfrm>
            <a:off x="6355079" y="3168396"/>
            <a:ext cx="1615441"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FFFFF"/>
                </a:solidFill>
                <a:latin typeface="游ゴシック体 ボールド"/>
                <a:ea typeface="游ゴシック体 ボールド"/>
                <a:cs typeface="游ゴシック体 ボールド"/>
                <a:sym typeface="游ゴシック体 ボールド"/>
              </a:defRPr>
            </a:lvl1pPr>
          </a:lstStyle>
          <a:p>
            <a:pPr/>
            <a:r>
              <a:t>🎤 顧客ヒアリング</a:t>
            </a:r>
          </a:p>
        </p:txBody>
      </p:sp>
      <p:sp>
        <p:nvSpPr>
          <p:cNvPr id="576" name="TextBox 35"/>
          <p:cNvSpPr txBox="1"/>
          <p:nvPr/>
        </p:nvSpPr>
        <p:spPr>
          <a:xfrm>
            <a:off x="6355079" y="3571240"/>
            <a:ext cx="1615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ミディアム"/>
                <a:ea typeface="游ゴシック体 ミディアム"/>
                <a:cs typeface="游ゴシック体 ミディアム"/>
                <a:sym typeface="游ゴシック体 ミディアム"/>
              </a:defRPr>
            </a:lvl1pPr>
          </a:lstStyle>
          <a:p>
            <a:pPr/>
            <a:r>
              <a:t>定性ニーズ・課題</a:t>
            </a:r>
          </a:p>
        </p:txBody>
      </p:sp>
      <p:sp>
        <p:nvSpPr>
          <p:cNvPr id="577" name="Rounded Rectangle 36"/>
          <p:cNvSpPr/>
          <p:nvPr/>
        </p:nvSpPr>
        <p:spPr>
          <a:xfrm>
            <a:off x="8061959" y="3063239"/>
            <a:ext cx="1615441" cy="777241"/>
          </a:xfrm>
          <a:prstGeom prst="roundRect">
            <a:avLst>
              <a:gd name="adj" fmla="val 12000"/>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78" name="TextBox 37"/>
          <p:cNvSpPr txBox="1"/>
          <p:nvPr/>
        </p:nvSpPr>
        <p:spPr>
          <a:xfrm>
            <a:off x="8061959" y="3168396"/>
            <a:ext cx="1615441"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FFFFF"/>
                </a:solidFill>
                <a:latin typeface="游ゴシック体 ボールド"/>
                <a:ea typeface="游ゴシック体 ボールド"/>
                <a:cs typeface="游ゴシック体 ボールド"/>
                <a:sym typeface="游ゴシック体 ボールド"/>
              </a:defRPr>
            </a:lvl1pPr>
          </a:lstStyle>
          <a:p>
            <a:pPr/>
            <a:r>
              <a:t>💬 商談データ</a:t>
            </a:r>
          </a:p>
        </p:txBody>
      </p:sp>
      <p:sp>
        <p:nvSpPr>
          <p:cNvPr id="579" name="TextBox 38"/>
          <p:cNvSpPr txBox="1"/>
          <p:nvPr/>
        </p:nvSpPr>
        <p:spPr>
          <a:xfrm>
            <a:off x="8061959" y="3571240"/>
            <a:ext cx="1615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ミディアム"/>
                <a:ea typeface="游ゴシック体 ミディアム"/>
                <a:cs typeface="游ゴシック体 ミディアム"/>
                <a:sym typeface="游ゴシック体 ミディアム"/>
              </a:defRPr>
            </a:lvl1pPr>
          </a:lstStyle>
          <a:p>
            <a:pPr/>
            <a:r>
              <a:t>受注/失注理由</a:t>
            </a:r>
          </a:p>
        </p:txBody>
      </p:sp>
      <p:sp>
        <p:nvSpPr>
          <p:cNvPr id="580" name="Rounded Rectangle 39"/>
          <p:cNvSpPr/>
          <p:nvPr/>
        </p:nvSpPr>
        <p:spPr>
          <a:xfrm>
            <a:off x="9768840" y="3063239"/>
            <a:ext cx="1615441" cy="777241"/>
          </a:xfrm>
          <a:prstGeom prst="roundRect">
            <a:avLst>
              <a:gd name="adj" fmla="val 12000"/>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81" name="TextBox 40"/>
          <p:cNvSpPr txBox="1"/>
          <p:nvPr/>
        </p:nvSpPr>
        <p:spPr>
          <a:xfrm>
            <a:off x="9768840" y="3168396"/>
            <a:ext cx="1615441"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FFFFF"/>
                </a:solidFill>
                <a:latin typeface="游ゴシック体 ボールド"/>
                <a:ea typeface="游ゴシック体 ボールド"/>
                <a:cs typeface="游ゴシック体 ボールド"/>
                <a:sym typeface="游ゴシック体 ボールド"/>
              </a:defRPr>
            </a:lvl1pPr>
          </a:lstStyle>
          <a:p>
            <a:pPr/>
            <a:r>
              <a:t>📊 SF（Salesforce）</a:t>
            </a:r>
          </a:p>
        </p:txBody>
      </p:sp>
      <p:sp>
        <p:nvSpPr>
          <p:cNvPr id="582" name="TextBox 41"/>
          <p:cNvSpPr txBox="1"/>
          <p:nvPr/>
        </p:nvSpPr>
        <p:spPr>
          <a:xfrm>
            <a:off x="9768840" y="3571240"/>
            <a:ext cx="1615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ミディアム"/>
                <a:ea typeface="游ゴシック体 ミディアム"/>
                <a:cs typeface="游ゴシック体 ミディアム"/>
                <a:sym typeface="游ゴシック体 ミディアム"/>
              </a:defRPr>
            </a:lvl1pPr>
          </a:lstStyle>
          <a:p>
            <a:pPr/>
            <a:r>
              <a:t>パイプライン全量</a:t>
            </a:r>
          </a:p>
        </p:txBody>
      </p:sp>
      <p:sp>
        <p:nvSpPr>
          <p:cNvPr id="583" name="Down Arrow 42"/>
          <p:cNvSpPr/>
          <p:nvPr/>
        </p:nvSpPr>
        <p:spPr>
          <a:xfrm>
            <a:off x="7053071" y="3931920"/>
            <a:ext cx="219457" cy="2194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5400" y="10800"/>
                </a:lnTo>
                <a:lnTo>
                  <a:pt x="5400" y="0"/>
                </a:lnTo>
                <a:lnTo>
                  <a:pt x="16200" y="0"/>
                </a:lnTo>
                <a:lnTo>
                  <a:pt x="16200" y="10800"/>
                </a:lnTo>
                <a:lnTo>
                  <a:pt x="21600" y="10800"/>
                </a:lnTo>
                <a:lnTo>
                  <a:pt x="10800" y="21600"/>
                </a:lnTo>
                <a:close/>
              </a:path>
            </a:pathLst>
          </a:custGeom>
          <a:solidFill>
            <a:srgbClr val="94A3B8"/>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84" name="Down Arrow 43"/>
          <p:cNvSpPr/>
          <p:nvPr/>
        </p:nvSpPr>
        <p:spPr>
          <a:xfrm>
            <a:off x="8759952" y="3931920"/>
            <a:ext cx="219457" cy="2194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5400" y="10800"/>
                </a:lnTo>
                <a:lnTo>
                  <a:pt x="5400" y="0"/>
                </a:lnTo>
                <a:lnTo>
                  <a:pt x="16200" y="0"/>
                </a:lnTo>
                <a:lnTo>
                  <a:pt x="16200" y="10800"/>
                </a:lnTo>
                <a:lnTo>
                  <a:pt x="21600" y="10800"/>
                </a:lnTo>
                <a:lnTo>
                  <a:pt x="10800" y="21600"/>
                </a:lnTo>
                <a:close/>
              </a:path>
            </a:pathLst>
          </a:custGeom>
          <a:solidFill>
            <a:srgbClr val="94A3B8"/>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85" name="Down Arrow 44"/>
          <p:cNvSpPr/>
          <p:nvPr/>
        </p:nvSpPr>
        <p:spPr>
          <a:xfrm>
            <a:off x="10466831" y="3931920"/>
            <a:ext cx="219457" cy="2194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5400" y="10800"/>
                </a:lnTo>
                <a:lnTo>
                  <a:pt x="5400" y="0"/>
                </a:lnTo>
                <a:lnTo>
                  <a:pt x="16200" y="0"/>
                </a:lnTo>
                <a:lnTo>
                  <a:pt x="16200" y="10800"/>
                </a:lnTo>
                <a:lnTo>
                  <a:pt x="21600" y="10800"/>
                </a:lnTo>
                <a:lnTo>
                  <a:pt x="10800" y="21600"/>
                </a:lnTo>
                <a:close/>
              </a:path>
            </a:pathLst>
          </a:custGeom>
          <a:solidFill>
            <a:srgbClr val="94A3B8"/>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86" name="Rounded Rectangle 45"/>
          <p:cNvSpPr/>
          <p:nvPr/>
        </p:nvSpPr>
        <p:spPr>
          <a:xfrm>
            <a:off x="6492240" y="4251959"/>
            <a:ext cx="4754881" cy="457201"/>
          </a:xfrm>
          <a:prstGeom prst="roundRect">
            <a:avLst>
              <a:gd name="adj" fmla="val 12000"/>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87" name="TextBox 46"/>
          <p:cNvSpPr txBox="1"/>
          <p:nvPr/>
        </p:nvSpPr>
        <p:spPr>
          <a:xfrm>
            <a:off x="6492240" y="4407534"/>
            <a:ext cx="4754881" cy="1460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FFFFF"/>
                </a:solidFill>
                <a:latin typeface="游ゴシック体 ボールド"/>
                <a:ea typeface="游ゴシック体 ボールド"/>
                <a:cs typeface="游ゴシック体 ボールド"/>
                <a:sym typeface="游ゴシック体 ボールド"/>
              </a:defRPr>
            </a:lvl1pPr>
          </a:lstStyle>
          <a:p>
            <a:pPr/>
            <a:r>
              <a:t>横断分析  ⇒  運用設計の根本再構築</a:t>
            </a:r>
          </a:p>
        </p:txBody>
      </p:sp>
      <p:sp>
        <p:nvSpPr>
          <p:cNvPr id="588" name="Down Arrow 47"/>
          <p:cNvSpPr/>
          <p:nvPr/>
        </p:nvSpPr>
        <p:spPr>
          <a:xfrm>
            <a:off x="8759952" y="4782311"/>
            <a:ext cx="219457" cy="20116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5400" y="10800"/>
                </a:lnTo>
                <a:lnTo>
                  <a:pt x="5400" y="0"/>
                </a:lnTo>
                <a:lnTo>
                  <a:pt x="16200" y="0"/>
                </a:lnTo>
                <a:lnTo>
                  <a:pt x="16200" y="10800"/>
                </a:lnTo>
                <a:lnTo>
                  <a:pt x="21600" y="10800"/>
                </a:lnTo>
                <a:lnTo>
                  <a:pt x="10800" y="21600"/>
                </a:lnTo>
                <a:close/>
              </a:path>
            </a:pathLst>
          </a:custGeom>
          <a:solidFill>
            <a:srgbClr val="94A3B8"/>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89" name="Rounded Rectangle 48"/>
          <p:cNvSpPr/>
          <p:nvPr/>
        </p:nvSpPr>
        <p:spPr>
          <a:xfrm>
            <a:off x="6355079" y="5074920"/>
            <a:ext cx="1615441" cy="594361"/>
          </a:xfrm>
          <a:prstGeom prst="roundRect">
            <a:avLst>
              <a:gd name="adj" fmla="val 12000"/>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90" name="TextBox 49"/>
          <p:cNvSpPr txBox="1"/>
          <p:nvPr/>
        </p:nvSpPr>
        <p:spPr>
          <a:xfrm>
            <a:off x="6355079" y="5213350"/>
            <a:ext cx="161544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FFFFFF"/>
                </a:solidFill>
                <a:latin typeface="游ゴシック体 ボールド"/>
                <a:ea typeface="游ゴシック体 ボールド"/>
                <a:cs typeface="游ゴシック体 ボールド"/>
                <a:sym typeface="游ゴシック体 ボールド"/>
              </a:defRPr>
            </a:pPr>
            <a:r>
              <a:t>運用設計</a:t>
            </a:r>
          </a:p>
          <a:p>
            <a:pPr algn="ctr">
              <a:defRPr sz="1000">
                <a:solidFill>
                  <a:srgbClr val="FFFFFF"/>
                </a:solidFill>
                <a:latin typeface="游ゴシック体 ボールド"/>
                <a:ea typeface="游ゴシック体 ボールド"/>
                <a:cs typeface="游ゴシック体 ボールド"/>
                <a:sym typeface="游ゴシック体 ボールド"/>
              </a:defRPr>
            </a:pPr>
            <a:r>
              <a:t>刷新</a:t>
            </a:r>
          </a:p>
        </p:txBody>
      </p:sp>
      <p:sp>
        <p:nvSpPr>
          <p:cNvPr id="591" name="Rounded Rectangle 50"/>
          <p:cNvSpPr/>
          <p:nvPr/>
        </p:nvSpPr>
        <p:spPr>
          <a:xfrm>
            <a:off x="8061959" y="5074920"/>
            <a:ext cx="1615441" cy="594361"/>
          </a:xfrm>
          <a:prstGeom prst="roundRect">
            <a:avLst>
              <a:gd name="adj" fmla="val 12000"/>
            </a:avLst>
          </a:prstGeom>
          <a:solidFill>
            <a:srgbClr val="8B5C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92" name="TextBox 51"/>
          <p:cNvSpPr txBox="1"/>
          <p:nvPr/>
        </p:nvSpPr>
        <p:spPr>
          <a:xfrm>
            <a:off x="8061959" y="5213350"/>
            <a:ext cx="161544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FFFFFF"/>
                </a:solidFill>
                <a:latin typeface="游ゴシック体 ボールド"/>
                <a:ea typeface="游ゴシック体 ボールド"/>
                <a:cs typeface="游ゴシック体 ボールド"/>
                <a:sym typeface="游ゴシック体 ボールド"/>
              </a:defRPr>
            </a:pPr>
            <a:r>
              <a:t>サイト改善</a:t>
            </a:r>
          </a:p>
          <a:p>
            <a:pPr algn="ctr">
              <a:defRPr sz="1000">
                <a:solidFill>
                  <a:srgbClr val="FFFFFF"/>
                </a:solidFill>
                <a:latin typeface="游ゴシック体 ボールド"/>
                <a:ea typeface="游ゴシック体 ボールド"/>
                <a:cs typeface="游ゴシック体 ボールド"/>
                <a:sym typeface="游ゴシック体 ボールド"/>
              </a:defRPr>
            </a:pPr>
            <a:r>
              <a:t>LPO</a:t>
            </a:r>
          </a:p>
        </p:txBody>
      </p:sp>
      <p:sp>
        <p:nvSpPr>
          <p:cNvPr id="593" name="Rounded Rectangle 52"/>
          <p:cNvSpPr/>
          <p:nvPr/>
        </p:nvSpPr>
        <p:spPr>
          <a:xfrm>
            <a:off x="9768840" y="5074920"/>
            <a:ext cx="1615441" cy="594361"/>
          </a:xfrm>
          <a:prstGeom prst="roundRect">
            <a:avLst>
              <a:gd name="adj" fmla="val 12000"/>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94" name="TextBox 53"/>
          <p:cNvSpPr txBox="1"/>
          <p:nvPr/>
        </p:nvSpPr>
        <p:spPr>
          <a:xfrm>
            <a:off x="9768840" y="5213350"/>
            <a:ext cx="161544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FFFFFF"/>
                </a:solidFill>
                <a:latin typeface="游ゴシック体 ボールド"/>
                <a:ea typeface="游ゴシック体 ボールド"/>
                <a:cs typeface="游ゴシック体 ボールド"/>
                <a:sym typeface="游ゴシック体 ボールド"/>
              </a:defRPr>
            </a:pPr>
            <a:r>
              <a:t>商談 1.5倍</a:t>
            </a:r>
          </a:p>
          <a:p>
            <a:pPr algn="ctr">
              <a:defRPr sz="1000">
                <a:solidFill>
                  <a:srgbClr val="FFFFFF"/>
                </a:solidFill>
                <a:latin typeface="游ゴシック体 ボールド"/>
                <a:ea typeface="游ゴシック体 ボールド"/>
                <a:cs typeface="游ゴシック体 ボールド"/>
                <a:sym typeface="游ゴシック体 ボールド"/>
              </a:defRPr>
            </a:pPr>
            <a:r>
              <a:t>CVR 135%</a:t>
            </a:r>
          </a:p>
        </p:txBody>
      </p:sp>
      <p:sp>
        <p:nvSpPr>
          <p:cNvPr id="595" name="Rounded Rectangle 54"/>
          <p:cNvSpPr/>
          <p:nvPr/>
        </p:nvSpPr>
        <p:spPr>
          <a:xfrm>
            <a:off x="6217920" y="5806440"/>
            <a:ext cx="5303521" cy="502921"/>
          </a:xfrm>
          <a:prstGeom prst="roundRect">
            <a:avLst>
              <a:gd name="adj" fmla="val 12000"/>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596" name="TextBox 55"/>
          <p:cNvSpPr txBox="1"/>
          <p:nvPr/>
        </p:nvSpPr>
        <p:spPr>
          <a:xfrm>
            <a:off x="6217920" y="5994399"/>
            <a:ext cx="5303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FFFFF"/>
                </a:solidFill>
                <a:latin typeface="游ゴシック体 ボールド"/>
                <a:ea typeface="游ゴシック体 ボールド"/>
                <a:cs typeface="游ゴシック体 ボールド"/>
                <a:sym typeface="游ゴシック体 ボールド"/>
              </a:defRPr>
            </a:lvl1pPr>
          </a:lstStyle>
          <a:p>
            <a:pPr/>
            <a:r>
              <a:t>広告領域に閉じず、データ起点で運用設計を再構築する手法</a:t>
            </a:r>
          </a:p>
        </p:txBody>
      </p:sp>
      <p:sp>
        <p:nvSpPr>
          <p:cNvPr id="597" name="TextBox 56"/>
          <p:cNvSpPr txBox="1"/>
          <p:nvPr/>
        </p:nvSpPr>
        <p:spPr>
          <a:xfrm>
            <a:off x="457199" y="6565392"/>
            <a:ext cx="112471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94A3B8"/>
                </a:solidFill>
                <a:latin typeface="游ゴシック体 ミディアム"/>
                <a:ea typeface="游ゴシック体 ミディアム"/>
                <a:cs typeface="游ゴシック体 ミディアム"/>
                <a:sym typeface="游ゴシック体 ミディアム"/>
              </a:defRPr>
            </a:lvl1pPr>
          </a:lstStyle>
          <a:p>
            <a:pPr/>
            <a:r>
              <a:t>※ 守秘義務の関係上、社名は非公開としております。詳細は個別にご説明いたします。</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9" name="Rectangle 1"/>
          <p:cNvSpPr/>
          <p:nvPr/>
        </p:nvSpPr>
        <p:spPr>
          <a:xfrm>
            <a:off x="-1" y="0"/>
            <a:ext cx="12188954" cy="685800"/>
          </a:xfrm>
          <a:prstGeom prst="rect">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00" name="TextBox 2"/>
          <p:cNvSpPr txBox="1"/>
          <p:nvPr/>
        </p:nvSpPr>
        <p:spPr>
          <a:xfrm>
            <a:off x="457200" y="164591"/>
            <a:ext cx="73152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FFFFF"/>
                </a:solidFill>
                <a:latin typeface="游ゴシック体 ボールド"/>
                <a:ea typeface="游ゴシック体 ボールド"/>
                <a:cs typeface="游ゴシック体 ボールド"/>
                <a:sym typeface="游ゴシック体 ボールド"/>
              </a:defRPr>
            </a:lvl1pPr>
          </a:lstStyle>
          <a:p>
            <a:pPr/>
            <a:r>
              <a:t>CASE STUDIES</a:t>
            </a:r>
          </a:p>
        </p:txBody>
      </p:sp>
      <p:sp>
        <p:nvSpPr>
          <p:cNvPr id="601" name="TextBox 3"/>
          <p:cNvSpPr txBox="1"/>
          <p:nvPr/>
        </p:nvSpPr>
        <p:spPr>
          <a:xfrm>
            <a:off x="10058400" y="164591"/>
            <a:ext cx="18288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FFFFFF"/>
                </a:solidFill>
                <a:latin typeface="游ゴシック体 ボールド"/>
                <a:ea typeface="游ゴシック体 ボールド"/>
                <a:cs typeface="游ゴシック体 ボールド"/>
                <a:sym typeface="游ゴシック体 ボールド"/>
              </a:defRPr>
            </a:lvl1pPr>
          </a:lstStyle>
          <a:p>
            <a:pPr/>
            <a:r>
              <a:t>08 / 13</a:t>
            </a:r>
          </a:p>
        </p:txBody>
      </p:sp>
      <p:sp>
        <p:nvSpPr>
          <p:cNvPr id="602" name="TextBox 4"/>
          <p:cNvSpPr txBox="1"/>
          <p:nvPr/>
        </p:nvSpPr>
        <p:spPr>
          <a:xfrm>
            <a:off x="457200" y="868680"/>
            <a:ext cx="7772400"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400">
                <a:solidFill>
                  <a:srgbClr val="1B2A4A"/>
                </a:solidFill>
                <a:latin typeface="游ゴシック体 ボールド"/>
                <a:ea typeface="游ゴシック体 ボールド"/>
                <a:cs typeface="游ゴシック体 ボールド"/>
                <a:sym typeface="游ゴシック体 ボールド"/>
              </a:defRPr>
            </a:lvl1pPr>
          </a:lstStyle>
          <a:p>
            <a:pPr/>
            <a:r>
              <a:t>BtoB（領域特化 採用サービス）</a:t>
            </a:r>
          </a:p>
        </p:txBody>
      </p:sp>
      <p:sp>
        <p:nvSpPr>
          <p:cNvPr id="603" name="TextBox 5"/>
          <p:cNvSpPr txBox="1"/>
          <p:nvPr/>
        </p:nvSpPr>
        <p:spPr>
          <a:xfrm>
            <a:off x="457200" y="1325880"/>
            <a:ext cx="77724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4748B"/>
                </a:solidFill>
                <a:latin typeface="游ゴシック体 ミディアム"/>
                <a:ea typeface="游ゴシック体 ミディアム"/>
                <a:cs typeface="游ゴシック体 ミディアム"/>
                <a:sym typeface="游ゴシック体 ミディアム"/>
              </a:defRPr>
            </a:lvl1pPr>
          </a:lstStyle>
          <a:p>
            <a:pPr/>
            <a:r>
              <a:t>顧客担当   |   リスティング / DSP / SNS / 営業支援 / DM / AI活用</a:t>
            </a:r>
          </a:p>
        </p:txBody>
      </p:sp>
      <p:sp>
        <p:nvSpPr>
          <p:cNvPr id="604" name="Rectangle 6"/>
          <p:cNvSpPr/>
          <p:nvPr/>
        </p:nvSpPr>
        <p:spPr>
          <a:xfrm>
            <a:off x="457200" y="1645920"/>
            <a:ext cx="457200" cy="45721"/>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05" name="Rectangle 7"/>
          <p:cNvSpPr/>
          <p:nvPr/>
        </p:nvSpPr>
        <p:spPr>
          <a:xfrm>
            <a:off x="914399" y="1645920"/>
            <a:ext cx="10789922"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06" name="Oval 8"/>
          <p:cNvSpPr/>
          <p:nvPr/>
        </p:nvSpPr>
        <p:spPr>
          <a:xfrm>
            <a:off x="457199" y="1874518"/>
            <a:ext cx="274322" cy="274321"/>
          </a:xfrm>
          <a:prstGeom prst="ellipse">
            <a:avLst/>
          </a:prstGeom>
          <a:solidFill>
            <a:srgbClr val="EF4444"/>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07" name="TextBox 9"/>
          <p:cNvSpPr txBox="1"/>
          <p:nvPr/>
        </p:nvSpPr>
        <p:spPr>
          <a:xfrm>
            <a:off x="457199" y="1948178"/>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01</a:t>
            </a:r>
          </a:p>
        </p:txBody>
      </p:sp>
      <p:sp>
        <p:nvSpPr>
          <p:cNvPr id="608" name="TextBox 10"/>
          <p:cNvSpPr txBox="1"/>
          <p:nvPr/>
        </p:nvSpPr>
        <p:spPr>
          <a:xfrm>
            <a:off x="822960" y="1856231"/>
            <a:ext cx="3657601"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課題</a:t>
            </a:r>
          </a:p>
        </p:txBody>
      </p:sp>
      <p:sp>
        <p:nvSpPr>
          <p:cNvPr id="609" name="Rectangle 11"/>
          <p:cNvSpPr/>
          <p:nvPr/>
        </p:nvSpPr>
        <p:spPr>
          <a:xfrm>
            <a:off x="822960" y="2148838"/>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10" name="TextBox 12"/>
          <p:cNvSpPr txBox="1"/>
          <p:nvPr/>
        </p:nvSpPr>
        <p:spPr>
          <a:xfrm>
            <a:off x="594359" y="2331720"/>
            <a:ext cx="5074922" cy="4057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0000"/>
              </a:lnSpc>
              <a:defRPr sz="1100">
                <a:solidFill>
                  <a:srgbClr val="334455"/>
                </a:solidFill>
                <a:latin typeface="游ゴシック体 ミディアム"/>
                <a:ea typeface="游ゴシック体 ミディアム"/>
                <a:cs typeface="游ゴシック体 ミディアム"/>
                <a:sym typeface="游ゴシック体 ミディアム"/>
              </a:defRPr>
            </a:lvl1pPr>
          </a:lstStyle>
          <a:p>
            <a:pPr/>
            <a:r>
              <a:t>広告施策だけではリード数の拡大に限界。営業体制側にも商談化のボトルネックが存在していた。</a:t>
            </a:r>
          </a:p>
        </p:txBody>
      </p:sp>
      <p:sp>
        <p:nvSpPr>
          <p:cNvPr id="611" name="Oval 13"/>
          <p:cNvSpPr/>
          <p:nvPr/>
        </p:nvSpPr>
        <p:spPr>
          <a:xfrm>
            <a:off x="457199" y="3246120"/>
            <a:ext cx="274322" cy="274321"/>
          </a:xfrm>
          <a:prstGeom prst="ellipse">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12" name="TextBox 14"/>
          <p:cNvSpPr txBox="1"/>
          <p:nvPr/>
        </p:nvSpPr>
        <p:spPr>
          <a:xfrm>
            <a:off x="457199" y="3319780"/>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02</a:t>
            </a:r>
          </a:p>
        </p:txBody>
      </p:sp>
      <p:sp>
        <p:nvSpPr>
          <p:cNvPr id="613" name="TextBox 15"/>
          <p:cNvSpPr txBox="1"/>
          <p:nvPr/>
        </p:nvSpPr>
        <p:spPr>
          <a:xfrm>
            <a:off x="822960" y="3227832"/>
            <a:ext cx="3657601"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アプローチ</a:t>
            </a:r>
          </a:p>
        </p:txBody>
      </p:sp>
      <p:sp>
        <p:nvSpPr>
          <p:cNvPr id="614" name="Rectangle 16"/>
          <p:cNvSpPr/>
          <p:nvPr/>
        </p:nvSpPr>
        <p:spPr>
          <a:xfrm>
            <a:off x="822960" y="3520440"/>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15" name="TextBox 17"/>
          <p:cNvSpPr txBox="1"/>
          <p:nvPr/>
        </p:nvSpPr>
        <p:spPr>
          <a:xfrm>
            <a:off x="594359" y="3703320"/>
            <a:ext cx="5074922" cy="4057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0000"/>
              </a:lnSpc>
              <a:defRPr sz="1100">
                <a:solidFill>
                  <a:srgbClr val="334455"/>
                </a:solidFill>
                <a:latin typeface="游ゴシック体 ミディアム"/>
                <a:ea typeface="游ゴシック体 ミディアム"/>
                <a:cs typeface="游ゴシック体 ミディアム"/>
                <a:sym typeface="游ゴシック体 ミディアム"/>
              </a:defRPr>
            </a:lvl1pPr>
          </a:lstStyle>
          <a:p>
            <a:pPr/>
            <a:r>
              <a:t>広告領域を超え、営業体制の課題を特定。営業代行施策を企画・実行し、商談獲得のフローを根本から強化。</a:t>
            </a:r>
          </a:p>
        </p:txBody>
      </p:sp>
      <p:sp>
        <p:nvSpPr>
          <p:cNvPr id="616" name="Oval 18"/>
          <p:cNvSpPr/>
          <p:nvPr/>
        </p:nvSpPr>
        <p:spPr>
          <a:xfrm>
            <a:off x="457199" y="5029199"/>
            <a:ext cx="274322" cy="274322"/>
          </a:xfrm>
          <a:prstGeom prst="ellipse">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17" name="TextBox 19"/>
          <p:cNvSpPr txBox="1"/>
          <p:nvPr/>
        </p:nvSpPr>
        <p:spPr>
          <a:xfrm>
            <a:off x="457199" y="5102859"/>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03</a:t>
            </a:r>
          </a:p>
        </p:txBody>
      </p:sp>
      <p:sp>
        <p:nvSpPr>
          <p:cNvPr id="618" name="TextBox 20"/>
          <p:cNvSpPr txBox="1"/>
          <p:nvPr/>
        </p:nvSpPr>
        <p:spPr>
          <a:xfrm>
            <a:off x="822960" y="5010911"/>
            <a:ext cx="36576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成果</a:t>
            </a:r>
          </a:p>
        </p:txBody>
      </p:sp>
      <p:sp>
        <p:nvSpPr>
          <p:cNvPr id="619" name="Rectangle 21"/>
          <p:cNvSpPr/>
          <p:nvPr/>
        </p:nvSpPr>
        <p:spPr>
          <a:xfrm>
            <a:off x="822960" y="5303520"/>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20" name="Rounded Rectangle 22"/>
          <p:cNvSpPr/>
          <p:nvPr/>
        </p:nvSpPr>
        <p:spPr>
          <a:xfrm>
            <a:off x="594359" y="5486400"/>
            <a:ext cx="2468881" cy="960120"/>
          </a:xfrm>
          <a:prstGeom prst="roundRect">
            <a:avLst>
              <a:gd name="adj" fmla="val 12000"/>
            </a:avLst>
          </a:prstGeom>
          <a:solidFill>
            <a:srgbClr val="D1FAE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21" name="TextBox 23"/>
          <p:cNvSpPr txBox="1"/>
          <p:nvPr/>
        </p:nvSpPr>
        <p:spPr>
          <a:xfrm>
            <a:off x="594359" y="5643879"/>
            <a:ext cx="246888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10B981"/>
                </a:solidFill>
                <a:latin typeface="游ゴシック体 ボールド"/>
                <a:ea typeface="游ゴシック体 ボールド"/>
                <a:cs typeface="游ゴシック体 ボールド"/>
                <a:sym typeface="游ゴシック体 ボールド"/>
              </a:defRPr>
            </a:lvl1pPr>
          </a:lstStyle>
          <a:p>
            <a:pPr/>
            <a:r>
              <a:t>+130%</a:t>
            </a:r>
          </a:p>
        </p:txBody>
      </p:sp>
      <p:sp>
        <p:nvSpPr>
          <p:cNvPr id="622" name="TextBox 24"/>
          <p:cNvSpPr txBox="1"/>
          <p:nvPr/>
        </p:nvSpPr>
        <p:spPr>
          <a:xfrm>
            <a:off x="594359" y="6154420"/>
            <a:ext cx="24688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64748B"/>
                </a:solidFill>
                <a:latin typeface="游ゴシック体 ミディアム"/>
                <a:ea typeface="游ゴシック体 ミディアム"/>
                <a:cs typeface="游ゴシック体 ミディアム"/>
                <a:sym typeface="游ゴシック体 ミディアム"/>
              </a:defRPr>
            </a:lvl1pPr>
          </a:lstStyle>
          <a:p>
            <a:pPr/>
            <a:r>
              <a:t>リード数</a:t>
            </a:r>
          </a:p>
        </p:txBody>
      </p:sp>
      <p:sp>
        <p:nvSpPr>
          <p:cNvPr id="623" name="Rounded Rectangle 25"/>
          <p:cNvSpPr/>
          <p:nvPr/>
        </p:nvSpPr>
        <p:spPr>
          <a:xfrm>
            <a:off x="3200400" y="5486400"/>
            <a:ext cx="2468880" cy="960120"/>
          </a:xfrm>
          <a:prstGeom prst="roundRect">
            <a:avLst>
              <a:gd name="adj" fmla="val 12000"/>
            </a:avLst>
          </a:prstGeom>
          <a:solidFill>
            <a:srgbClr val="D1FAE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24" name="TextBox 26"/>
          <p:cNvSpPr txBox="1"/>
          <p:nvPr/>
        </p:nvSpPr>
        <p:spPr>
          <a:xfrm>
            <a:off x="3200399" y="5643879"/>
            <a:ext cx="246888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10B981"/>
                </a:solidFill>
                <a:latin typeface="游ゴシック体 ボールド"/>
                <a:ea typeface="游ゴシック体 ボールド"/>
                <a:cs typeface="游ゴシック体 ボールド"/>
                <a:sym typeface="游ゴシック体 ボールド"/>
              </a:defRPr>
            </a:lvl1pPr>
          </a:lstStyle>
          <a:p>
            <a:pPr/>
            <a:r>
              <a:t>+50件/月</a:t>
            </a:r>
          </a:p>
        </p:txBody>
      </p:sp>
      <p:sp>
        <p:nvSpPr>
          <p:cNvPr id="625" name="TextBox 27"/>
          <p:cNvSpPr txBox="1"/>
          <p:nvPr/>
        </p:nvSpPr>
        <p:spPr>
          <a:xfrm>
            <a:off x="3200399" y="6154420"/>
            <a:ext cx="24688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64748B"/>
                </a:solidFill>
                <a:latin typeface="游ゴシック体 ミディアム"/>
                <a:ea typeface="游ゴシック体 ミディアム"/>
                <a:cs typeface="游ゴシック体 ミディアム"/>
                <a:sym typeface="游ゴシック体 ミディアム"/>
              </a:defRPr>
            </a:lvl1pPr>
          </a:lstStyle>
          <a:p>
            <a:pPr/>
            <a:r>
              <a:t>営業代行 商談</a:t>
            </a:r>
          </a:p>
        </p:txBody>
      </p:sp>
      <p:sp>
        <p:nvSpPr>
          <p:cNvPr id="626" name="Rounded Rectangle 28"/>
          <p:cNvSpPr/>
          <p:nvPr/>
        </p:nvSpPr>
        <p:spPr>
          <a:xfrm>
            <a:off x="5943600" y="1828800"/>
            <a:ext cx="5852160" cy="4572000"/>
          </a:xfrm>
          <a:prstGeom prst="roundRect">
            <a:avLst>
              <a:gd name="adj" fmla="val 12000"/>
            </a:avLst>
          </a:prstGeom>
          <a:solidFill>
            <a:srgbClr val="F1F5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27" name="TextBox 29"/>
          <p:cNvSpPr txBox="1"/>
          <p:nvPr/>
        </p:nvSpPr>
        <p:spPr>
          <a:xfrm>
            <a:off x="6217920" y="1965960"/>
            <a:ext cx="5303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4748B"/>
                </a:solidFill>
                <a:latin typeface="游ゴシック体 ボールド"/>
                <a:ea typeface="游ゴシック体 ボールド"/>
                <a:cs typeface="游ゴシック体 ボールド"/>
                <a:sym typeface="游ゴシック体 ボールド"/>
              </a:defRPr>
            </a:lvl1pPr>
          </a:lstStyle>
          <a:p>
            <a:pPr/>
            <a:r>
              <a:t>施策の図解</a:t>
            </a:r>
          </a:p>
        </p:txBody>
      </p:sp>
      <p:sp>
        <p:nvSpPr>
          <p:cNvPr id="628" name="Rectangle 30"/>
          <p:cNvSpPr/>
          <p:nvPr/>
        </p:nvSpPr>
        <p:spPr>
          <a:xfrm>
            <a:off x="6217920" y="2285999"/>
            <a:ext cx="365761" cy="36578"/>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29" name="TextBox 31"/>
          <p:cNvSpPr txBox="1"/>
          <p:nvPr/>
        </p:nvSpPr>
        <p:spPr>
          <a:xfrm>
            <a:off x="6217920" y="2423160"/>
            <a:ext cx="5303521" cy="1460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1B2A4A"/>
                </a:solidFill>
                <a:latin typeface="游ゴシック体 ボールド"/>
                <a:ea typeface="游ゴシック体 ボールド"/>
                <a:cs typeface="游ゴシック体 ボールド"/>
                <a:sym typeface="游ゴシック体 ボールド"/>
              </a:defRPr>
            </a:lvl1pPr>
          </a:lstStyle>
          <a:p>
            <a:pPr/>
            <a:r>
              <a:t>広告領域を超えた営業体制までの統合施策</a:t>
            </a:r>
          </a:p>
        </p:txBody>
      </p:sp>
      <p:sp>
        <p:nvSpPr>
          <p:cNvPr id="630" name="Rounded Rectangle 32"/>
          <p:cNvSpPr/>
          <p:nvPr/>
        </p:nvSpPr>
        <p:spPr>
          <a:xfrm>
            <a:off x="6309359" y="2788920"/>
            <a:ext cx="2423161" cy="2834641"/>
          </a:xfrm>
          <a:prstGeom prst="roundRect">
            <a:avLst>
              <a:gd name="adj" fmla="val 12000"/>
            </a:avLst>
          </a:prstGeom>
          <a:solidFill>
            <a:srgbClr val="DBEAFE"/>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31" name="TextBox 33"/>
          <p:cNvSpPr txBox="1"/>
          <p:nvPr/>
        </p:nvSpPr>
        <p:spPr>
          <a:xfrm>
            <a:off x="6309359" y="2834639"/>
            <a:ext cx="2423161" cy="1460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3B82F6"/>
                </a:solidFill>
                <a:latin typeface="游ゴシック体 ボールド"/>
                <a:ea typeface="游ゴシック体 ボールド"/>
                <a:cs typeface="游ゴシック体 ボールド"/>
                <a:sym typeface="游ゴシック体 ボールド"/>
              </a:defRPr>
            </a:lvl1pPr>
          </a:lstStyle>
          <a:p>
            <a:pPr/>
            <a:r>
              <a:t>【 広告施策 】</a:t>
            </a:r>
          </a:p>
        </p:txBody>
      </p:sp>
      <p:sp>
        <p:nvSpPr>
          <p:cNvPr id="632" name="Rounded Rectangle 34"/>
          <p:cNvSpPr/>
          <p:nvPr/>
        </p:nvSpPr>
        <p:spPr>
          <a:xfrm>
            <a:off x="6583680" y="3200400"/>
            <a:ext cx="1874521" cy="329185"/>
          </a:xfrm>
          <a:prstGeom prst="roundRect">
            <a:avLst>
              <a:gd name="adj" fmla="val 12000"/>
            </a:avLst>
          </a:prstGeom>
          <a:solidFill>
            <a:srgbClr val="FFFFFF"/>
          </a:solidFill>
          <a:ln w="19050">
            <a:solidFill>
              <a:srgbClr val="3B82F6"/>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33" name="TextBox 35"/>
          <p:cNvSpPr txBox="1"/>
          <p:nvPr/>
        </p:nvSpPr>
        <p:spPr>
          <a:xfrm>
            <a:off x="6583680" y="3301491"/>
            <a:ext cx="1874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1B2A4A"/>
                </a:solidFill>
                <a:latin typeface="游ゴシック体 ミディアム"/>
                <a:ea typeface="游ゴシック体 ミディアム"/>
                <a:cs typeface="游ゴシック体 ミディアム"/>
                <a:sym typeface="游ゴシック体 ミディアム"/>
              </a:defRPr>
            </a:lvl1pPr>
          </a:lstStyle>
          <a:p>
            <a:pPr/>
            <a:r>
              <a:t>リスティング</a:t>
            </a:r>
          </a:p>
        </p:txBody>
      </p:sp>
      <p:sp>
        <p:nvSpPr>
          <p:cNvPr id="634" name="Rounded Rectangle 36"/>
          <p:cNvSpPr/>
          <p:nvPr/>
        </p:nvSpPr>
        <p:spPr>
          <a:xfrm>
            <a:off x="6583680" y="3621023"/>
            <a:ext cx="1874521" cy="329185"/>
          </a:xfrm>
          <a:prstGeom prst="roundRect">
            <a:avLst>
              <a:gd name="adj" fmla="val 12000"/>
            </a:avLst>
          </a:prstGeom>
          <a:solidFill>
            <a:srgbClr val="FFFFFF"/>
          </a:solidFill>
          <a:ln w="19050">
            <a:solidFill>
              <a:srgbClr val="3B82F6"/>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35" name="TextBox 37"/>
          <p:cNvSpPr txBox="1"/>
          <p:nvPr/>
        </p:nvSpPr>
        <p:spPr>
          <a:xfrm>
            <a:off x="6583680" y="3722115"/>
            <a:ext cx="1874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1B2A4A"/>
                </a:solidFill>
                <a:latin typeface="游ゴシック体 ミディアム"/>
                <a:ea typeface="游ゴシック体 ミディアム"/>
                <a:cs typeface="游ゴシック体 ミディアム"/>
                <a:sym typeface="游ゴシック体 ミディアム"/>
              </a:defRPr>
            </a:lvl1pPr>
          </a:lstStyle>
          <a:p>
            <a:pPr/>
            <a:r>
              <a:t>ディスプレイ</a:t>
            </a:r>
          </a:p>
        </p:txBody>
      </p:sp>
      <p:sp>
        <p:nvSpPr>
          <p:cNvPr id="636" name="Rounded Rectangle 38"/>
          <p:cNvSpPr/>
          <p:nvPr/>
        </p:nvSpPr>
        <p:spPr>
          <a:xfrm>
            <a:off x="6583680" y="4041647"/>
            <a:ext cx="1874521" cy="329185"/>
          </a:xfrm>
          <a:prstGeom prst="roundRect">
            <a:avLst>
              <a:gd name="adj" fmla="val 12000"/>
            </a:avLst>
          </a:prstGeom>
          <a:solidFill>
            <a:srgbClr val="FFFFFF"/>
          </a:solidFill>
          <a:ln w="19050">
            <a:solidFill>
              <a:srgbClr val="3B82F6"/>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37" name="TextBox 39"/>
          <p:cNvSpPr txBox="1"/>
          <p:nvPr/>
        </p:nvSpPr>
        <p:spPr>
          <a:xfrm>
            <a:off x="6583680" y="4142739"/>
            <a:ext cx="1874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1B2A4A"/>
                </a:solidFill>
                <a:latin typeface="游ゴシック体 ミディアム"/>
                <a:ea typeface="游ゴシック体 ミディアム"/>
                <a:cs typeface="游ゴシック体 ミディアム"/>
                <a:sym typeface="游ゴシック体 ミディアム"/>
              </a:defRPr>
            </a:lvl1pPr>
          </a:lstStyle>
          <a:p>
            <a:pPr/>
            <a:r>
              <a:t>SNS広告</a:t>
            </a:r>
          </a:p>
        </p:txBody>
      </p:sp>
      <p:sp>
        <p:nvSpPr>
          <p:cNvPr id="638" name="Rounded Rectangle 40"/>
          <p:cNvSpPr/>
          <p:nvPr/>
        </p:nvSpPr>
        <p:spPr>
          <a:xfrm>
            <a:off x="6583680" y="4462271"/>
            <a:ext cx="1874521" cy="329185"/>
          </a:xfrm>
          <a:prstGeom prst="roundRect">
            <a:avLst>
              <a:gd name="adj" fmla="val 12000"/>
            </a:avLst>
          </a:prstGeom>
          <a:solidFill>
            <a:srgbClr val="FFFFFF"/>
          </a:solidFill>
          <a:ln w="19050">
            <a:solidFill>
              <a:srgbClr val="3B82F6"/>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39" name="TextBox 41"/>
          <p:cNvSpPr txBox="1"/>
          <p:nvPr/>
        </p:nvSpPr>
        <p:spPr>
          <a:xfrm>
            <a:off x="6583680" y="4563363"/>
            <a:ext cx="1874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1B2A4A"/>
                </a:solidFill>
                <a:latin typeface="游ゴシック体 ミディアム"/>
                <a:ea typeface="游ゴシック体 ミディアム"/>
                <a:cs typeface="游ゴシック体 ミディアム"/>
                <a:sym typeface="游ゴシック体 ミディアム"/>
              </a:defRPr>
            </a:lvl1pPr>
          </a:lstStyle>
          <a:p>
            <a:pPr/>
            <a:r>
              <a:t>DM施策</a:t>
            </a:r>
          </a:p>
        </p:txBody>
      </p:sp>
      <p:sp>
        <p:nvSpPr>
          <p:cNvPr id="640" name="Rounded Rectangle 42"/>
          <p:cNvSpPr/>
          <p:nvPr/>
        </p:nvSpPr>
        <p:spPr>
          <a:xfrm>
            <a:off x="6583680" y="4882896"/>
            <a:ext cx="1874521" cy="329185"/>
          </a:xfrm>
          <a:prstGeom prst="roundRect">
            <a:avLst>
              <a:gd name="adj" fmla="val 12000"/>
            </a:avLst>
          </a:prstGeom>
          <a:solidFill>
            <a:srgbClr val="FFFFFF"/>
          </a:solidFill>
          <a:ln w="19050">
            <a:solidFill>
              <a:srgbClr val="3B82F6"/>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41" name="TextBox 43"/>
          <p:cNvSpPr txBox="1"/>
          <p:nvPr/>
        </p:nvSpPr>
        <p:spPr>
          <a:xfrm>
            <a:off x="6583680" y="4983988"/>
            <a:ext cx="1874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1B2A4A"/>
                </a:solidFill>
                <a:latin typeface="游ゴシック体 ミディアム"/>
                <a:ea typeface="游ゴシック体 ミディアム"/>
                <a:cs typeface="游ゴシック体 ミディアム"/>
                <a:sym typeface="游ゴシック体 ミディアム"/>
              </a:defRPr>
            </a:lvl1pPr>
          </a:lstStyle>
          <a:p>
            <a:pPr/>
            <a:r>
              <a:t>AI活用クリエイティブ</a:t>
            </a:r>
          </a:p>
        </p:txBody>
      </p:sp>
      <p:sp>
        <p:nvSpPr>
          <p:cNvPr id="642" name="Rounded Rectangle 44"/>
          <p:cNvSpPr/>
          <p:nvPr/>
        </p:nvSpPr>
        <p:spPr>
          <a:xfrm>
            <a:off x="9006840" y="2788920"/>
            <a:ext cx="2423161" cy="2834641"/>
          </a:xfrm>
          <a:prstGeom prst="roundRect">
            <a:avLst>
              <a:gd name="adj" fmla="val 12000"/>
            </a:avLst>
          </a:prstGeom>
          <a:solidFill>
            <a:srgbClr val="FEF3C7"/>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43" name="TextBox 45"/>
          <p:cNvSpPr txBox="1"/>
          <p:nvPr/>
        </p:nvSpPr>
        <p:spPr>
          <a:xfrm>
            <a:off x="9006840" y="2834639"/>
            <a:ext cx="2423161" cy="1460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F59E0B"/>
                </a:solidFill>
                <a:latin typeface="游ゴシック体 ボールド"/>
                <a:ea typeface="游ゴシック体 ボールド"/>
                <a:cs typeface="游ゴシック体 ボールド"/>
                <a:sym typeface="游ゴシック体 ボールド"/>
              </a:defRPr>
            </a:lvl1pPr>
          </a:lstStyle>
          <a:p>
            <a:pPr/>
            <a:r>
              <a:t>【 営業代行・支援 】</a:t>
            </a:r>
          </a:p>
        </p:txBody>
      </p:sp>
      <p:sp>
        <p:nvSpPr>
          <p:cNvPr id="644" name="TextBox 46"/>
          <p:cNvSpPr txBox="1"/>
          <p:nvPr/>
        </p:nvSpPr>
        <p:spPr>
          <a:xfrm>
            <a:off x="9006840" y="3108960"/>
            <a:ext cx="24231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900">
                <a:solidFill>
                  <a:srgbClr val="64748B"/>
                </a:solidFill>
                <a:latin typeface="游ゴシック体 ミディアム"/>
                <a:ea typeface="游ゴシック体 ミディアム"/>
                <a:cs typeface="游ゴシック体 ミディアム"/>
                <a:sym typeface="游ゴシック体 ミディアム"/>
              </a:defRPr>
            </a:lvl1pPr>
          </a:lstStyle>
          <a:p>
            <a:pPr/>
            <a:r>
              <a:t>広告領域を超えた施策</a:t>
            </a:r>
          </a:p>
        </p:txBody>
      </p:sp>
      <p:sp>
        <p:nvSpPr>
          <p:cNvPr id="645" name="Rounded Rectangle 47"/>
          <p:cNvSpPr/>
          <p:nvPr/>
        </p:nvSpPr>
        <p:spPr>
          <a:xfrm>
            <a:off x="9281159" y="3474720"/>
            <a:ext cx="1874521" cy="457201"/>
          </a:xfrm>
          <a:prstGeom prst="roundRect">
            <a:avLst>
              <a:gd name="adj" fmla="val 12000"/>
            </a:avLst>
          </a:prstGeom>
          <a:solidFill>
            <a:srgbClr val="F59E0B"/>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46" name="TextBox 48"/>
          <p:cNvSpPr txBox="1"/>
          <p:nvPr/>
        </p:nvSpPr>
        <p:spPr>
          <a:xfrm>
            <a:off x="9281159" y="3639820"/>
            <a:ext cx="1874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FFFFF"/>
                </a:solidFill>
                <a:latin typeface="游ゴシック体 ボールド"/>
                <a:ea typeface="游ゴシック体 ボールド"/>
                <a:cs typeface="游ゴシック体 ボールド"/>
                <a:sym typeface="游ゴシック体 ボールド"/>
              </a:defRPr>
            </a:lvl1pPr>
          </a:lstStyle>
          <a:p>
            <a:pPr/>
            <a:r>
              <a:t>営業ボトルネック特定</a:t>
            </a:r>
          </a:p>
        </p:txBody>
      </p:sp>
      <p:sp>
        <p:nvSpPr>
          <p:cNvPr id="647" name="Down Arrow 49"/>
          <p:cNvSpPr/>
          <p:nvPr/>
        </p:nvSpPr>
        <p:spPr>
          <a:xfrm>
            <a:off x="10099547" y="3977640"/>
            <a:ext cx="237744" cy="20116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5400" y="10800"/>
                </a:lnTo>
                <a:lnTo>
                  <a:pt x="5400" y="0"/>
                </a:lnTo>
                <a:lnTo>
                  <a:pt x="16200" y="0"/>
                </a:lnTo>
                <a:lnTo>
                  <a:pt x="16200" y="10800"/>
                </a:lnTo>
                <a:lnTo>
                  <a:pt x="21600" y="10800"/>
                </a:lnTo>
                <a:lnTo>
                  <a:pt x="10800" y="21600"/>
                </a:lnTo>
                <a:close/>
              </a:path>
            </a:pathLst>
          </a:custGeom>
          <a:solidFill>
            <a:srgbClr val="94A3B8"/>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48" name="Rounded Rectangle 50"/>
          <p:cNvSpPr/>
          <p:nvPr/>
        </p:nvSpPr>
        <p:spPr>
          <a:xfrm>
            <a:off x="9281159" y="4233671"/>
            <a:ext cx="1874521" cy="457201"/>
          </a:xfrm>
          <a:prstGeom prst="roundRect">
            <a:avLst>
              <a:gd name="adj" fmla="val 12000"/>
            </a:avLst>
          </a:prstGeom>
          <a:solidFill>
            <a:srgbClr val="F59E0B"/>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49" name="TextBox 51"/>
          <p:cNvSpPr txBox="1"/>
          <p:nvPr/>
        </p:nvSpPr>
        <p:spPr>
          <a:xfrm>
            <a:off x="9281159" y="4398771"/>
            <a:ext cx="1874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FFFFF"/>
                </a:solidFill>
                <a:latin typeface="游ゴシック体 ボールド"/>
                <a:ea typeface="游ゴシック体 ボールド"/>
                <a:cs typeface="游ゴシック体 ボールド"/>
                <a:sym typeface="游ゴシック体 ボールド"/>
              </a:defRPr>
            </a:lvl1pPr>
          </a:lstStyle>
          <a:p>
            <a:pPr/>
            <a:r>
              <a:t>営業代行 企画・実行</a:t>
            </a:r>
          </a:p>
        </p:txBody>
      </p:sp>
      <p:sp>
        <p:nvSpPr>
          <p:cNvPr id="650" name="Down Arrow 52"/>
          <p:cNvSpPr/>
          <p:nvPr/>
        </p:nvSpPr>
        <p:spPr>
          <a:xfrm>
            <a:off x="10099547" y="4736591"/>
            <a:ext cx="237744" cy="20116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5400" y="10800"/>
                </a:lnTo>
                <a:lnTo>
                  <a:pt x="5400" y="0"/>
                </a:lnTo>
                <a:lnTo>
                  <a:pt x="16200" y="0"/>
                </a:lnTo>
                <a:lnTo>
                  <a:pt x="16200" y="10800"/>
                </a:lnTo>
                <a:lnTo>
                  <a:pt x="21600" y="10800"/>
                </a:lnTo>
                <a:lnTo>
                  <a:pt x="10800" y="21600"/>
                </a:lnTo>
                <a:close/>
              </a:path>
            </a:pathLst>
          </a:custGeom>
          <a:solidFill>
            <a:srgbClr val="94A3B8"/>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51" name="Rounded Rectangle 53"/>
          <p:cNvSpPr/>
          <p:nvPr/>
        </p:nvSpPr>
        <p:spPr>
          <a:xfrm>
            <a:off x="9281159" y="4983479"/>
            <a:ext cx="1874521" cy="502921"/>
          </a:xfrm>
          <a:prstGeom prst="roundRect">
            <a:avLst>
              <a:gd name="adj" fmla="val 12000"/>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52" name="TextBox 54"/>
          <p:cNvSpPr txBox="1"/>
          <p:nvPr/>
        </p:nvSpPr>
        <p:spPr>
          <a:xfrm>
            <a:off x="9281159" y="5161914"/>
            <a:ext cx="1874521" cy="1460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FFFFF"/>
                </a:solidFill>
                <a:latin typeface="游ゴシック体 ボールド"/>
                <a:ea typeface="游ゴシック体 ボールド"/>
                <a:cs typeface="游ゴシック体 ボールド"/>
                <a:sym typeface="游ゴシック体 ボールド"/>
              </a:defRPr>
            </a:lvl1pPr>
          </a:lstStyle>
          <a:p>
            <a:pPr/>
            <a:r>
              <a:t>商談 +50件/月</a:t>
            </a:r>
          </a:p>
        </p:txBody>
      </p:sp>
      <p:sp>
        <p:nvSpPr>
          <p:cNvPr id="653" name="Rounded Rectangle 55"/>
          <p:cNvSpPr/>
          <p:nvPr/>
        </p:nvSpPr>
        <p:spPr>
          <a:xfrm>
            <a:off x="6217920" y="5806440"/>
            <a:ext cx="5303521" cy="502921"/>
          </a:xfrm>
          <a:prstGeom prst="roundRect">
            <a:avLst>
              <a:gd name="adj" fmla="val 12000"/>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54" name="TextBox 56"/>
          <p:cNvSpPr txBox="1"/>
          <p:nvPr/>
        </p:nvSpPr>
        <p:spPr>
          <a:xfrm>
            <a:off x="6217920" y="5994399"/>
            <a:ext cx="5303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FFFFF"/>
                </a:solidFill>
                <a:latin typeface="游ゴシック体 ボールド"/>
                <a:ea typeface="游ゴシック体 ボールド"/>
                <a:cs typeface="游ゴシック体 ボールド"/>
                <a:sym typeface="游ゴシック体 ボールド"/>
              </a:defRPr>
            </a:lvl1pPr>
          </a:lstStyle>
          <a:p>
            <a:pPr/>
            <a:r>
              <a:t>リード 130%  |  商談 120%  |  営業代行で新規 +50件/月</a:t>
            </a:r>
          </a:p>
        </p:txBody>
      </p:sp>
      <p:sp>
        <p:nvSpPr>
          <p:cNvPr id="655" name="TextBox 57"/>
          <p:cNvSpPr txBox="1"/>
          <p:nvPr/>
        </p:nvSpPr>
        <p:spPr>
          <a:xfrm>
            <a:off x="457199" y="6565392"/>
            <a:ext cx="112471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94A3B8"/>
                </a:solidFill>
                <a:latin typeface="游ゴシック体 ミディアム"/>
                <a:ea typeface="游ゴシック体 ミディアム"/>
                <a:cs typeface="游ゴシック体 ミディアム"/>
                <a:sym typeface="游ゴシック体 ミディアム"/>
              </a:defRPr>
            </a:lvl1pPr>
          </a:lstStyle>
          <a:p>
            <a:pPr/>
            <a:r>
              <a:t>※ 守秘義務の関係上、社名は非公開としております。詳細は個別にご説明いたします。</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7" name="Rectangle 1"/>
          <p:cNvSpPr/>
          <p:nvPr/>
        </p:nvSpPr>
        <p:spPr>
          <a:xfrm>
            <a:off x="-1" y="0"/>
            <a:ext cx="12188954" cy="685800"/>
          </a:xfrm>
          <a:prstGeom prst="rect">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58" name="TextBox 2"/>
          <p:cNvSpPr txBox="1"/>
          <p:nvPr/>
        </p:nvSpPr>
        <p:spPr>
          <a:xfrm>
            <a:off x="457200" y="164591"/>
            <a:ext cx="73152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FFFFF"/>
                </a:solidFill>
                <a:latin typeface="游ゴシック体 ボールド"/>
                <a:ea typeface="游ゴシック体 ボールド"/>
                <a:cs typeface="游ゴシック体 ボールド"/>
                <a:sym typeface="游ゴシック体 ボールド"/>
              </a:defRPr>
            </a:lvl1pPr>
          </a:lstStyle>
          <a:p>
            <a:pPr/>
            <a:r>
              <a:t>CASE STUDIES</a:t>
            </a:r>
          </a:p>
        </p:txBody>
      </p:sp>
      <p:sp>
        <p:nvSpPr>
          <p:cNvPr id="659" name="TextBox 3"/>
          <p:cNvSpPr txBox="1"/>
          <p:nvPr/>
        </p:nvSpPr>
        <p:spPr>
          <a:xfrm>
            <a:off x="10058400" y="164591"/>
            <a:ext cx="18288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FFFFFF"/>
                </a:solidFill>
                <a:latin typeface="游ゴシック体 ボールド"/>
                <a:ea typeface="游ゴシック体 ボールド"/>
                <a:cs typeface="游ゴシック体 ボールド"/>
                <a:sym typeface="游ゴシック体 ボールド"/>
              </a:defRPr>
            </a:lvl1pPr>
          </a:lstStyle>
          <a:p>
            <a:pPr/>
            <a:r>
              <a:t>GROUP</a:t>
            </a:r>
          </a:p>
        </p:txBody>
      </p:sp>
      <p:sp>
        <p:nvSpPr>
          <p:cNvPr id="660" name="Rectangle 4"/>
          <p:cNvSpPr/>
          <p:nvPr/>
        </p:nvSpPr>
        <p:spPr>
          <a:xfrm>
            <a:off x="0" y="685800"/>
            <a:ext cx="5029200" cy="6172200"/>
          </a:xfrm>
          <a:prstGeom prst="rect">
            <a:avLst/>
          </a:prstGeom>
          <a:solidFill>
            <a:srgbClr val="FEF3C7"/>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61" name="Rectangle 5"/>
          <p:cNvSpPr/>
          <p:nvPr/>
        </p:nvSpPr>
        <p:spPr>
          <a:xfrm>
            <a:off x="-1" y="685800"/>
            <a:ext cx="137162" cy="6172200"/>
          </a:xfrm>
          <a:prstGeom prst="rect">
            <a:avLst/>
          </a:prstGeom>
          <a:solidFill>
            <a:srgbClr val="F59E0B"/>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62" name="Rectangle 6"/>
          <p:cNvSpPr/>
          <p:nvPr/>
        </p:nvSpPr>
        <p:spPr>
          <a:xfrm>
            <a:off x="1856232" y="2029967"/>
            <a:ext cx="1316737" cy="658369"/>
          </a:xfrm>
          <a:prstGeom prst="rect">
            <a:avLst/>
          </a:prstGeom>
          <a:solidFill>
            <a:srgbClr val="F59E0B"/>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63" name="Rectangle 7"/>
          <p:cNvSpPr/>
          <p:nvPr/>
        </p:nvSpPr>
        <p:spPr>
          <a:xfrm>
            <a:off x="1773935" y="1700783"/>
            <a:ext cx="329185" cy="164593"/>
          </a:xfrm>
          <a:prstGeom prst="rect">
            <a:avLst/>
          </a:prstGeom>
          <a:solidFill>
            <a:srgbClr val="F59E0B"/>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64" name="Oval 8"/>
          <p:cNvSpPr/>
          <p:nvPr/>
        </p:nvSpPr>
        <p:spPr>
          <a:xfrm>
            <a:off x="2020823" y="2770632"/>
            <a:ext cx="246889" cy="246889"/>
          </a:xfrm>
          <a:prstGeom prst="ellipse">
            <a:avLst/>
          </a:prstGeom>
          <a:solidFill>
            <a:srgbClr val="F59E0B"/>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65" name="Oval 9"/>
          <p:cNvSpPr/>
          <p:nvPr/>
        </p:nvSpPr>
        <p:spPr>
          <a:xfrm>
            <a:off x="2761488" y="2770632"/>
            <a:ext cx="246889" cy="246889"/>
          </a:xfrm>
          <a:prstGeom prst="ellipse">
            <a:avLst/>
          </a:prstGeom>
          <a:solidFill>
            <a:srgbClr val="F59E0B"/>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66" name="TextBox 10"/>
          <p:cNvSpPr txBox="1"/>
          <p:nvPr/>
        </p:nvSpPr>
        <p:spPr>
          <a:xfrm>
            <a:off x="548640" y="4023359"/>
            <a:ext cx="411480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200">
                <a:solidFill>
                  <a:srgbClr val="F59E0B"/>
                </a:solidFill>
                <a:latin typeface="游ゴシック体 ボールド"/>
                <a:ea typeface="游ゴシック体 ボールド"/>
                <a:cs typeface="游ゴシック体 ボールド"/>
                <a:sym typeface="游ゴシック体 ボールド"/>
              </a:defRPr>
            </a:lvl1pPr>
          </a:lstStyle>
          <a:p>
            <a:pPr/>
            <a:r>
              <a:t>E-COMMERCE  /  1 CASE</a:t>
            </a:r>
          </a:p>
        </p:txBody>
      </p:sp>
      <p:sp>
        <p:nvSpPr>
          <p:cNvPr id="667" name="TextBox 11"/>
          <p:cNvSpPr txBox="1"/>
          <p:nvPr/>
        </p:nvSpPr>
        <p:spPr>
          <a:xfrm>
            <a:off x="548640" y="4434840"/>
            <a:ext cx="4114801"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4400">
                <a:solidFill>
                  <a:srgbClr val="1B2A4A"/>
                </a:solidFill>
                <a:latin typeface="游ゴシック体 ボールド"/>
                <a:ea typeface="游ゴシック体 ボールド"/>
                <a:cs typeface="游ゴシック体 ボールド"/>
                <a:sym typeface="游ゴシック体 ボールド"/>
              </a:defRPr>
            </a:lvl1pPr>
          </a:lstStyle>
          <a:p>
            <a:pPr/>
            <a:r>
              <a:t>EC</a:t>
            </a:r>
          </a:p>
        </p:txBody>
      </p:sp>
      <p:sp>
        <p:nvSpPr>
          <p:cNvPr id="668" name="Rectangle 12"/>
          <p:cNvSpPr/>
          <p:nvPr/>
        </p:nvSpPr>
        <p:spPr>
          <a:xfrm>
            <a:off x="2285999" y="5532120"/>
            <a:ext cx="640082" cy="45721"/>
          </a:xfrm>
          <a:prstGeom prst="rect">
            <a:avLst/>
          </a:prstGeom>
          <a:solidFill>
            <a:srgbClr val="F59E0B"/>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69" name="TextBox 13"/>
          <p:cNvSpPr txBox="1"/>
          <p:nvPr/>
        </p:nvSpPr>
        <p:spPr>
          <a:xfrm>
            <a:off x="5486399" y="914399"/>
            <a:ext cx="630936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4748B"/>
                </a:solidFill>
                <a:latin typeface="游ゴシック体 ボールド"/>
                <a:ea typeface="游ゴシック体 ボールド"/>
                <a:cs typeface="游ゴシック体 ボールド"/>
                <a:sym typeface="游ゴシック体 ボールド"/>
              </a:defRPr>
            </a:lvl1pPr>
          </a:lstStyle>
          <a:p>
            <a:pPr/>
            <a:r>
              <a:t>CASES IN THIS GROUP</a:t>
            </a:r>
          </a:p>
        </p:txBody>
      </p:sp>
      <p:sp>
        <p:nvSpPr>
          <p:cNvPr id="670" name="Rectangle 14"/>
          <p:cNvSpPr/>
          <p:nvPr/>
        </p:nvSpPr>
        <p:spPr>
          <a:xfrm>
            <a:off x="5486399" y="1234439"/>
            <a:ext cx="6309362" cy="18289"/>
          </a:xfrm>
          <a:prstGeom prst="rect">
            <a:avLst/>
          </a:prstGeom>
          <a:solidFill>
            <a:srgbClr val="F59E0B"/>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71" name="Rectangle 15"/>
          <p:cNvSpPr/>
          <p:nvPr/>
        </p:nvSpPr>
        <p:spPr>
          <a:xfrm>
            <a:off x="5486399" y="1463039"/>
            <a:ext cx="640082" cy="640081"/>
          </a:xfrm>
          <a:prstGeom prst="rect">
            <a:avLst/>
          </a:prstGeom>
          <a:solidFill>
            <a:srgbClr val="F59E0B"/>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72" name="TextBox 16"/>
          <p:cNvSpPr txBox="1"/>
          <p:nvPr/>
        </p:nvSpPr>
        <p:spPr>
          <a:xfrm>
            <a:off x="5486399" y="1668780"/>
            <a:ext cx="640082"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FFFFFF"/>
                </a:solidFill>
                <a:latin typeface="游ゴシック体 ボールド"/>
                <a:ea typeface="游ゴシック体 ボールド"/>
                <a:cs typeface="游ゴシック体 ボールド"/>
                <a:sym typeface="游ゴシック体 ボールド"/>
              </a:defRPr>
            </a:lvl1pPr>
          </a:lstStyle>
          <a:p>
            <a:pPr/>
            <a:r>
              <a:t>09</a:t>
            </a:r>
          </a:p>
        </p:txBody>
      </p:sp>
      <p:sp>
        <p:nvSpPr>
          <p:cNvPr id="673" name="TextBox 17"/>
          <p:cNvSpPr txBox="1"/>
          <p:nvPr/>
        </p:nvSpPr>
        <p:spPr>
          <a:xfrm>
            <a:off x="6263640" y="1463039"/>
            <a:ext cx="5532121" cy="1714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1B2A4A"/>
                </a:solidFill>
                <a:latin typeface="游ゴシック体 ボールド"/>
                <a:ea typeface="游ゴシック体 ボールド"/>
                <a:cs typeface="游ゴシック体 ボールド"/>
                <a:sym typeface="游ゴシック体 ボールド"/>
              </a:defRPr>
            </a:lvl1pPr>
          </a:lstStyle>
          <a:p>
            <a:pPr/>
            <a:r>
              <a:t>EC（住宅設備・建設資材）</a:t>
            </a:r>
          </a:p>
        </p:txBody>
      </p:sp>
      <p:sp>
        <p:nvSpPr>
          <p:cNvPr id="674" name="TextBox 18"/>
          <p:cNvSpPr txBox="1"/>
          <p:nvPr/>
        </p:nvSpPr>
        <p:spPr>
          <a:xfrm>
            <a:off x="6263640" y="1783079"/>
            <a:ext cx="5532121" cy="1460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F59E0B"/>
                </a:solidFill>
                <a:latin typeface="游ゴシック体 ボールド"/>
                <a:ea typeface="游ゴシック体 ボールド"/>
                <a:cs typeface="游ゴシック体 ボールド"/>
                <a:sym typeface="游ゴシック体 ボールド"/>
              </a:defRPr>
            </a:lvl1pPr>
          </a:lstStyle>
          <a:p>
            <a:pPr/>
            <a:r>
              <a:t>売上 260%  |  運用費 約4倍 拡大</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6" name="Rectangle 1"/>
          <p:cNvSpPr/>
          <p:nvPr/>
        </p:nvSpPr>
        <p:spPr>
          <a:xfrm>
            <a:off x="-1" y="0"/>
            <a:ext cx="12188954" cy="685800"/>
          </a:xfrm>
          <a:prstGeom prst="rect">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77" name="TextBox 2"/>
          <p:cNvSpPr txBox="1"/>
          <p:nvPr/>
        </p:nvSpPr>
        <p:spPr>
          <a:xfrm>
            <a:off x="457200" y="164591"/>
            <a:ext cx="73152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FFFFF"/>
                </a:solidFill>
                <a:latin typeface="游ゴシック体 ボールド"/>
                <a:ea typeface="游ゴシック体 ボールド"/>
                <a:cs typeface="游ゴシック体 ボールド"/>
                <a:sym typeface="游ゴシック体 ボールド"/>
              </a:defRPr>
            </a:lvl1pPr>
          </a:lstStyle>
          <a:p>
            <a:pPr/>
            <a:r>
              <a:t>CASE STUDIES</a:t>
            </a:r>
          </a:p>
        </p:txBody>
      </p:sp>
      <p:sp>
        <p:nvSpPr>
          <p:cNvPr id="678" name="TextBox 3"/>
          <p:cNvSpPr txBox="1"/>
          <p:nvPr/>
        </p:nvSpPr>
        <p:spPr>
          <a:xfrm>
            <a:off x="10058400" y="164591"/>
            <a:ext cx="18288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FFFFFF"/>
                </a:solidFill>
                <a:latin typeface="游ゴシック体 ボールド"/>
                <a:ea typeface="游ゴシック体 ボールド"/>
                <a:cs typeface="游ゴシック体 ボールド"/>
                <a:sym typeface="游ゴシック体 ボールド"/>
              </a:defRPr>
            </a:lvl1pPr>
          </a:lstStyle>
          <a:p>
            <a:pPr/>
            <a:r>
              <a:t>09 / 13</a:t>
            </a:r>
          </a:p>
        </p:txBody>
      </p:sp>
      <p:sp>
        <p:nvSpPr>
          <p:cNvPr id="679" name="TextBox 4"/>
          <p:cNvSpPr txBox="1"/>
          <p:nvPr/>
        </p:nvSpPr>
        <p:spPr>
          <a:xfrm>
            <a:off x="457200" y="868680"/>
            <a:ext cx="7772400"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400">
                <a:solidFill>
                  <a:srgbClr val="1B2A4A"/>
                </a:solidFill>
                <a:latin typeface="游ゴシック体 ボールド"/>
                <a:ea typeface="游ゴシック体 ボールド"/>
                <a:cs typeface="游ゴシック体 ボールド"/>
                <a:sym typeface="游ゴシック体 ボールド"/>
              </a:defRPr>
            </a:lvl1pPr>
          </a:lstStyle>
          <a:p>
            <a:pPr/>
            <a:r>
              <a:t>EC（住宅設備・建設資材）</a:t>
            </a:r>
          </a:p>
        </p:txBody>
      </p:sp>
      <p:sp>
        <p:nvSpPr>
          <p:cNvPr id="680" name="TextBox 5"/>
          <p:cNvSpPr txBox="1"/>
          <p:nvPr/>
        </p:nvSpPr>
        <p:spPr>
          <a:xfrm>
            <a:off x="457200" y="1325880"/>
            <a:ext cx="77724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4748B"/>
                </a:solidFill>
                <a:latin typeface="游ゴシック体 ミディアム"/>
                <a:ea typeface="游ゴシック体 ミディアム"/>
                <a:cs typeface="游ゴシック体 ミディアム"/>
                <a:sym typeface="游ゴシック体 ミディアム"/>
              </a:defRPr>
            </a:lvl1pPr>
          </a:lstStyle>
          <a:p>
            <a:pPr/>
            <a:r>
              <a:t>顧客担当   |   リスティング / DSP / SNS / ダイナミック / Instagram運用</a:t>
            </a:r>
          </a:p>
        </p:txBody>
      </p:sp>
      <p:sp>
        <p:nvSpPr>
          <p:cNvPr id="681" name="Rectangle 6"/>
          <p:cNvSpPr/>
          <p:nvPr/>
        </p:nvSpPr>
        <p:spPr>
          <a:xfrm>
            <a:off x="457200" y="1645920"/>
            <a:ext cx="457200" cy="45721"/>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82" name="Rectangle 7"/>
          <p:cNvSpPr/>
          <p:nvPr/>
        </p:nvSpPr>
        <p:spPr>
          <a:xfrm>
            <a:off x="914399" y="1645920"/>
            <a:ext cx="10789922"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83" name="Oval 8"/>
          <p:cNvSpPr/>
          <p:nvPr/>
        </p:nvSpPr>
        <p:spPr>
          <a:xfrm>
            <a:off x="457199" y="1874518"/>
            <a:ext cx="274322" cy="274321"/>
          </a:xfrm>
          <a:prstGeom prst="ellipse">
            <a:avLst/>
          </a:prstGeom>
          <a:solidFill>
            <a:srgbClr val="EF4444"/>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84" name="TextBox 9"/>
          <p:cNvSpPr txBox="1"/>
          <p:nvPr/>
        </p:nvSpPr>
        <p:spPr>
          <a:xfrm>
            <a:off x="457199" y="1948178"/>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01</a:t>
            </a:r>
          </a:p>
        </p:txBody>
      </p:sp>
      <p:sp>
        <p:nvSpPr>
          <p:cNvPr id="685" name="TextBox 10"/>
          <p:cNvSpPr txBox="1"/>
          <p:nvPr/>
        </p:nvSpPr>
        <p:spPr>
          <a:xfrm>
            <a:off x="822960" y="1856231"/>
            <a:ext cx="3657601"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課題</a:t>
            </a:r>
          </a:p>
        </p:txBody>
      </p:sp>
      <p:sp>
        <p:nvSpPr>
          <p:cNvPr id="686" name="Rectangle 11"/>
          <p:cNvSpPr/>
          <p:nvPr/>
        </p:nvSpPr>
        <p:spPr>
          <a:xfrm>
            <a:off x="822960" y="2148838"/>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87" name="TextBox 12"/>
          <p:cNvSpPr txBox="1"/>
          <p:nvPr/>
        </p:nvSpPr>
        <p:spPr>
          <a:xfrm>
            <a:off x="594359" y="2331720"/>
            <a:ext cx="5074922" cy="4057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0000"/>
              </a:lnSpc>
              <a:defRPr sz="1100">
                <a:solidFill>
                  <a:srgbClr val="334455"/>
                </a:solidFill>
                <a:latin typeface="游ゴシック体 ミディアム"/>
                <a:ea typeface="游ゴシック体 ミディアム"/>
                <a:cs typeface="游ゴシック体 ミディアム"/>
                <a:sym typeface="游ゴシック体 ミディアム"/>
              </a:defRPr>
            </a:lvl1pPr>
          </a:lstStyle>
          <a:p>
            <a:pPr/>
            <a:r>
              <a:t>ECで売上拡張を目指すには刈り取り型施策だけでは限界。認知から購入までのフルファネル設計が必要だった。</a:t>
            </a:r>
          </a:p>
        </p:txBody>
      </p:sp>
      <p:sp>
        <p:nvSpPr>
          <p:cNvPr id="688" name="Oval 13"/>
          <p:cNvSpPr/>
          <p:nvPr/>
        </p:nvSpPr>
        <p:spPr>
          <a:xfrm>
            <a:off x="457199" y="3246120"/>
            <a:ext cx="274322" cy="274321"/>
          </a:xfrm>
          <a:prstGeom prst="ellipse">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89" name="TextBox 14"/>
          <p:cNvSpPr txBox="1"/>
          <p:nvPr/>
        </p:nvSpPr>
        <p:spPr>
          <a:xfrm>
            <a:off x="457199" y="3319780"/>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02</a:t>
            </a:r>
          </a:p>
        </p:txBody>
      </p:sp>
      <p:sp>
        <p:nvSpPr>
          <p:cNvPr id="690" name="TextBox 15"/>
          <p:cNvSpPr txBox="1"/>
          <p:nvPr/>
        </p:nvSpPr>
        <p:spPr>
          <a:xfrm>
            <a:off x="822960" y="3227832"/>
            <a:ext cx="3657601"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アプローチ</a:t>
            </a:r>
          </a:p>
        </p:txBody>
      </p:sp>
      <p:sp>
        <p:nvSpPr>
          <p:cNvPr id="691" name="Rectangle 16"/>
          <p:cNvSpPr/>
          <p:nvPr/>
        </p:nvSpPr>
        <p:spPr>
          <a:xfrm>
            <a:off x="822960" y="3520440"/>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92" name="TextBox 17"/>
          <p:cNvSpPr txBox="1"/>
          <p:nvPr/>
        </p:nvSpPr>
        <p:spPr>
          <a:xfrm>
            <a:off x="594359" y="3703320"/>
            <a:ext cx="5074922" cy="4057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0000"/>
              </a:lnSpc>
              <a:defRPr sz="1100">
                <a:solidFill>
                  <a:srgbClr val="334455"/>
                </a:solidFill>
                <a:latin typeface="游ゴシック体 ミディアム"/>
                <a:ea typeface="游ゴシック体 ミディアム"/>
                <a:cs typeface="游ゴシック体 ミディアム"/>
                <a:sym typeface="游ゴシック体 ミディアム"/>
              </a:defRPr>
            </a:lvl1pPr>
          </a:lstStyle>
          <a:p>
            <a:pPr/>
            <a:r>
              <a:t>潜在〜顕在までのフルファネル施策を企画・提案から実行まで一気通貫で担当。媒体ごとの役割を再定義し、運用費の拡大投資を獲得。</a:t>
            </a:r>
          </a:p>
        </p:txBody>
      </p:sp>
      <p:sp>
        <p:nvSpPr>
          <p:cNvPr id="693" name="Oval 18"/>
          <p:cNvSpPr/>
          <p:nvPr/>
        </p:nvSpPr>
        <p:spPr>
          <a:xfrm>
            <a:off x="457199" y="5029199"/>
            <a:ext cx="274322" cy="274322"/>
          </a:xfrm>
          <a:prstGeom prst="ellipse">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94" name="TextBox 19"/>
          <p:cNvSpPr txBox="1"/>
          <p:nvPr/>
        </p:nvSpPr>
        <p:spPr>
          <a:xfrm>
            <a:off x="457199" y="5102859"/>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03</a:t>
            </a:r>
          </a:p>
        </p:txBody>
      </p:sp>
      <p:sp>
        <p:nvSpPr>
          <p:cNvPr id="695" name="TextBox 20"/>
          <p:cNvSpPr txBox="1"/>
          <p:nvPr/>
        </p:nvSpPr>
        <p:spPr>
          <a:xfrm>
            <a:off x="822960" y="5010911"/>
            <a:ext cx="36576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成果</a:t>
            </a:r>
          </a:p>
        </p:txBody>
      </p:sp>
      <p:sp>
        <p:nvSpPr>
          <p:cNvPr id="696" name="Rectangle 21"/>
          <p:cNvSpPr/>
          <p:nvPr/>
        </p:nvSpPr>
        <p:spPr>
          <a:xfrm>
            <a:off x="822960" y="5303520"/>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97" name="Rounded Rectangle 22"/>
          <p:cNvSpPr/>
          <p:nvPr/>
        </p:nvSpPr>
        <p:spPr>
          <a:xfrm>
            <a:off x="594359" y="5486400"/>
            <a:ext cx="2468881" cy="960120"/>
          </a:xfrm>
          <a:prstGeom prst="roundRect">
            <a:avLst>
              <a:gd name="adj" fmla="val 12000"/>
            </a:avLst>
          </a:prstGeom>
          <a:solidFill>
            <a:srgbClr val="D1FAE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698" name="TextBox 23"/>
          <p:cNvSpPr txBox="1"/>
          <p:nvPr/>
        </p:nvSpPr>
        <p:spPr>
          <a:xfrm>
            <a:off x="594359" y="5643879"/>
            <a:ext cx="246888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10B981"/>
                </a:solidFill>
                <a:latin typeface="游ゴシック体 ボールド"/>
                <a:ea typeface="游ゴシック体 ボールド"/>
                <a:cs typeface="游ゴシック体 ボールド"/>
                <a:sym typeface="游ゴシック体 ボールド"/>
              </a:defRPr>
            </a:lvl1pPr>
          </a:lstStyle>
          <a:p>
            <a:pPr/>
            <a:r>
              <a:t>260%</a:t>
            </a:r>
          </a:p>
        </p:txBody>
      </p:sp>
      <p:sp>
        <p:nvSpPr>
          <p:cNvPr id="699" name="TextBox 24"/>
          <p:cNvSpPr txBox="1"/>
          <p:nvPr/>
        </p:nvSpPr>
        <p:spPr>
          <a:xfrm>
            <a:off x="594359" y="6154420"/>
            <a:ext cx="24688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64748B"/>
                </a:solidFill>
                <a:latin typeface="游ゴシック体 ミディアム"/>
                <a:ea typeface="游ゴシック体 ミディアム"/>
                <a:cs typeface="游ゴシック体 ミディアム"/>
                <a:sym typeface="游ゴシック体 ミディアム"/>
              </a:defRPr>
            </a:lvl1pPr>
          </a:lstStyle>
          <a:p>
            <a:pPr/>
            <a:r>
              <a:t>担当領域経由 売上</a:t>
            </a:r>
          </a:p>
        </p:txBody>
      </p:sp>
      <p:sp>
        <p:nvSpPr>
          <p:cNvPr id="700" name="Rounded Rectangle 25"/>
          <p:cNvSpPr/>
          <p:nvPr/>
        </p:nvSpPr>
        <p:spPr>
          <a:xfrm>
            <a:off x="3200400" y="5486400"/>
            <a:ext cx="2468880" cy="960120"/>
          </a:xfrm>
          <a:prstGeom prst="roundRect">
            <a:avLst>
              <a:gd name="adj" fmla="val 12000"/>
            </a:avLst>
          </a:prstGeom>
          <a:solidFill>
            <a:srgbClr val="D1FAE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01" name="TextBox 26"/>
          <p:cNvSpPr txBox="1"/>
          <p:nvPr/>
        </p:nvSpPr>
        <p:spPr>
          <a:xfrm>
            <a:off x="3200399" y="5643879"/>
            <a:ext cx="246888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F59E0B"/>
                </a:solidFill>
                <a:latin typeface="游ゴシック体 ボールド"/>
                <a:ea typeface="游ゴシック体 ボールド"/>
                <a:cs typeface="游ゴシック体 ボールド"/>
                <a:sym typeface="游ゴシック体 ボールド"/>
              </a:defRPr>
            </a:lvl1pPr>
          </a:lstStyle>
          <a:p>
            <a:pPr/>
            <a:r>
              <a:t>約4倍</a:t>
            </a:r>
          </a:p>
        </p:txBody>
      </p:sp>
      <p:sp>
        <p:nvSpPr>
          <p:cNvPr id="702" name="TextBox 27"/>
          <p:cNvSpPr txBox="1"/>
          <p:nvPr/>
        </p:nvSpPr>
        <p:spPr>
          <a:xfrm>
            <a:off x="3200399" y="6154420"/>
            <a:ext cx="24688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64748B"/>
                </a:solidFill>
                <a:latin typeface="游ゴシック体 ミディアム"/>
                <a:ea typeface="游ゴシック体 ミディアム"/>
                <a:cs typeface="游ゴシック体 ミディアム"/>
                <a:sym typeface="游ゴシック体 ミディアム"/>
              </a:defRPr>
            </a:lvl1pPr>
          </a:lstStyle>
          <a:p>
            <a:pPr/>
            <a:r>
              <a:t>運用費 拡大</a:t>
            </a:r>
          </a:p>
        </p:txBody>
      </p:sp>
      <p:sp>
        <p:nvSpPr>
          <p:cNvPr id="703" name="Rounded Rectangle 28"/>
          <p:cNvSpPr/>
          <p:nvPr/>
        </p:nvSpPr>
        <p:spPr>
          <a:xfrm>
            <a:off x="5943600" y="1828800"/>
            <a:ext cx="5852160" cy="4572000"/>
          </a:xfrm>
          <a:prstGeom prst="roundRect">
            <a:avLst>
              <a:gd name="adj" fmla="val 12000"/>
            </a:avLst>
          </a:prstGeom>
          <a:solidFill>
            <a:srgbClr val="F1F5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04" name="TextBox 29"/>
          <p:cNvSpPr txBox="1"/>
          <p:nvPr/>
        </p:nvSpPr>
        <p:spPr>
          <a:xfrm>
            <a:off x="6217920" y="1965960"/>
            <a:ext cx="5303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4748B"/>
                </a:solidFill>
                <a:latin typeface="游ゴシック体 ボールド"/>
                <a:ea typeface="游ゴシック体 ボールド"/>
                <a:cs typeface="游ゴシック体 ボールド"/>
                <a:sym typeface="游ゴシック体 ボールド"/>
              </a:defRPr>
            </a:lvl1pPr>
          </a:lstStyle>
          <a:p>
            <a:pPr/>
            <a:r>
              <a:t>施策の図解</a:t>
            </a:r>
          </a:p>
        </p:txBody>
      </p:sp>
      <p:sp>
        <p:nvSpPr>
          <p:cNvPr id="705" name="Rectangle 30"/>
          <p:cNvSpPr/>
          <p:nvPr/>
        </p:nvSpPr>
        <p:spPr>
          <a:xfrm>
            <a:off x="6217920" y="2285999"/>
            <a:ext cx="365761" cy="36578"/>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06" name="TextBox 31"/>
          <p:cNvSpPr txBox="1"/>
          <p:nvPr/>
        </p:nvSpPr>
        <p:spPr>
          <a:xfrm>
            <a:off x="6217920" y="2423160"/>
            <a:ext cx="5303521" cy="1460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1B2A4A"/>
                </a:solidFill>
                <a:latin typeface="游ゴシック体 ボールド"/>
                <a:ea typeface="游ゴシック体 ボールド"/>
                <a:cs typeface="游ゴシック体 ボールド"/>
                <a:sym typeface="游ゴシック体 ボールド"/>
              </a:defRPr>
            </a:lvl1pPr>
          </a:lstStyle>
          <a:p>
            <a:pPr/>
            <a:r>
              <a:t>フルファネル施策 × 媒体マッピング</a:t>
            </a:r>
          </a:p>
        </p:txBody>
      </p:sp>
      <p:sp>
        <p:nvSpPr>
          <p:cNvPr id="707" name="Rounded Rectangle 32"/>
          <p:cNvSpPr/>
          <p:nvPr/>
        </p:nvSpPr>
        <p:spPr>
          <a:xfrm>
            <a:off x="6400800" y="2834639"/>
            <a:ext cx="4937760" cy="438913"/>
          </a:xfrm>
          <a:prstGeom prst="roundRect">
            <a:avLst>
              <a:gd name="adj" fmla="val 12000"/>
            </a:avLst>
          </a:prstGeom>
          <a:solidFill>
            <a:srgbClr val="8B5C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08" name="TextBox 33"/>
          <p:cNvSpPr txBox="1"/>
          <p:nvPr/>
        </p:nvSpPr>
        <p:spPr>
          <a:xfrm>
            <a:off x="6492240" y="2981071"/>
            <a:ext cx="640081" cy="14605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FFFFF"/>
                </a:solidFill>
                <a:latin typeface="游ゴシック体 ボールド"/>
                <a:ea typeface="游ゴシック体 ボールド"/>
                <a:cs typeface="游ゴシック体 ボールド"/>
                <a:sym typeface="游ゴシック体 ボールド"/>
              </a:defRPr>
            </a:lvl1pPr>
          </a:lstStyle>
          <a:p>
            <a:pPr/>
            <a:r>
              <a:t>認知</a:t>
            </a:r>
          </a:p>
        </p:txBody>
      </p:sp>
      <p:sp>
        <p:nvSpPr>
          <p:cNvPr id="709" name="TextBox 34"/>
          <p:cNvSpPr txBox="1"/>
          <p:nvPr/>
        </p:nvSpPr>
        <p:spPr>
          <a:xfrm>
            <a:off x="7132319" y="2990595"/>
            <a:ext cx="34747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FFFFFF"/>
                </a:solidFill>
                <a:latin typeface="游ゴシック体 ミディアム"/>
                <a:ea typeface="游ゴシック体 ミディアム"/>
                <a:cs typeface="游ゴシック体 ミディアム"/>
                <a:sym typeface="游ゴシック体 ミディアム"/>
              </a:defRPr>
            </a:lvl1pPr>
          </a:lstStyle>
          <a:p>
            <a:pPr/>
            <a:r>
              <a:t>広く想起獲得</a:t>
            </a:r>
          </a:p>
        </p:txBody>
      </p:sp>
      <p:sp>
        <p:nvSpPr>
          <p:cNvPr id="710" name="TextBox 35"/>
          <p:cNvSpPr txBox="1"/>
          <p:nvPr/>
        </p:nvSpPr>
        <p:spPr>
          <a:xfrm>
            <a:off x="9326880" y="2990595"/>
            <a:ext cx="19202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FFFFFF"/>
                </a:solidFill>
                <a:latin typeface="游ゴシック体 ボールド"/>
                <a:ea typeface="游ゴシック体 ボールド"/>
                <a:cs typeface="游ゴシック体 ボールド"/>
                <a:sym typeface="游ゴシック体 ボールド"/>
              </a:defRPr>
            </a:lvl1pPr>
          </a:lstStyle>
          <a:p>
            <a:pPr/>
            <a:r>
              <a:t>認知広告 / Instagram</a:t>
            </a:r>
          </a:p>
        </p:txBody>
      </p:sp>
      <p:sp>
        <p:nvSpPr>
          <p:cNvPr id="711" name="Rounded Rectangle 36"/>
          <p:cNvSpPr/>
          <p:nvPr/>
        </p:nvSpPr>
        <p:spPr>
          <a:xfrm>
            <a:off x="6766559" y="3364991"/>
            <a:ext cx="4206241" cy="438913"/>
          </a:xfrm>
          <a:prstGeom prst="roundRect">
            <a:avLst>
              <a:gd name="adj" fmla="val 12000"/>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12" name="TextBox 37"/>
          <p:cNvSpPr txBox="1"/>
          <p:nvPr/>
        </p:nvSpPr>
        <p:spPr>
          <a:xfrm>
            <a:off x="6857999" y="3511422"/>
            <a:ext cx="640082" cy="1460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FFFFF"/>
                </a:solidFill>
                <a:latin typeface="游ゴシック体 ボールド"/>
                <a:ea typeface="游ゴシック体 ボールド"/>
                <a:cs typeface="游ゴシック体 ボールド"/>
                <a:sym typeface="游ゴシック体 ボールド"/>
              </a:defRPr>
            </a:lvl1pPr>
          </a:lstStyle>
          <a:p>
            <a:pPr/>
            <a:r>
              <a:t>興味</a:t>
            </a:r>
          </a:p>
        </p:txBody>
      </p:sp>
      <p:sp>
        <p:nvSpPr>
          <p:cNvPr id="713" name="TextBox 38"/>
          <p:cNvSpPr txBox="1"/>
          <p:nvPr/>
        </p:nvSpPr>
        <p:spPr>
          <a:xfrm>
            <a:off x="7498080" y="3520947"/>
            <a:ext cx="2743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FFFFFF"/>
                </a:solidFill>
                <a:latin typeface="游ゴシック体 ミディアム"/>
                <a:ea typeface="游ゴシック体 ミディアム"/>
                <a:cs typeface="游ゴシック体 ミディアム"/>
                <a:sym typeface="游ゴシック体 ミディアム"/>
              </a:defRPr>
            </a:lvl1pPr>
          </a:lstStyle>
          <a:p>
            <a:pPr/>
            <a:r>
              <a:t>商品理解促進</a:t>
            </a:r>
          </a:p>
        </p:txBody>
      </p:sp>
      <p:sp>
        <p:nvSpPr>
          <p:cNvPr id="714" name="TextBox 39"/>
          <p:cNvSpPr txBox="1"/>
          <p:nvPr/>
        </p:nvSpPr>
        <p:spPr>
          <a:xfrm>
            <a:off x="8961119" y="3520947"/>
            <a:ext cx="19202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FFFFFF"/>
                </a:solidFill>
                <a:latin typeface="游ゴシック体 ボールド"/>
                <a:ea typeface="游ゴシック体 ボールド"/>
                <a:cs typeface="游ゴシック体 ボールド"/>
                <a:sym typeface="游ゴシック体 ボールド"/>
              </a:defRPr>
            </a:lvl1pPr>
          </a:lstStyle>
          <a:p>
            <a:pPr/>
            <a:r>
              <a:t>ディスプレイ / SNS</a:t>
            </a:r>
          </a:p>
        </p:txBody>
      </p:sp>
      <p:sp>
        <p:nvSpPr>
          <p:cNvPr id="715" name="Rounded Rectangle 40"/>
          <p:cNvSpPr/>
          <p:nvPr/>
        </p:nvSpPr>
        <p:spPr>
          <a:xfrm>
            <a:off x="7132319" y="3895344"/>
            <a:ext cx="3474721" cy="438913"/>
          </a:xfrm>
          <a:prstGeom prst="roundRect">
            <a:avLst>
              <a:gd name="adj" fmla="val 12000"/>
            </a:avLst>
          </a:prstGeom>
          <a:solidFill>
            <a:srgbClr val="F59E0B"/>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16" name="TextBox 41"/>
          <p:cNvSpPr txBox="1"/>
          <p:nvPr/>
        </p:nvSpPr>
        <p:spPr>
          <a:xfrm>
            <a:off x="7223759" y="4041775"/>
            <a:ext cx="640081" cy="14605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FFFFF"/>
                </a:solidFill>
                <a:latin typeface="游ゴシック体 ボールド"/>
                <a:ea typeface="游ゴシック体 ボールド"/>
                <a:cs typeface="游ゴシック体 ボールド"/>
                <a:sym typeface="游ゴシック体 ボールド"/>
              </a:defRPr>
            </a:lvl1pPr>
          </a:lstStyle>
          <a:p>
            <a:pPr/>
            <a:r>
              <a:t>比較</a:t>
            </a:r>
          </a:p>
        </p:txBody>
      </p:sp>
      <p:sp>
        <p:nvSpPr>
          <p:cNvPr id="717" name="TextBox 42"/>
          <p:cNvSpPr txBox="1"/>
          <p:nvPr/>
        </p:nvSpPr>
        <p:spPr>
          <a:xfrm>
            <a:off x="7863840" y="4051300"/>
            <a:ext cx="201168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FFFFFF"/>
                </a:solidFill>
                <a:latin typeface="游ゴシック体 ミディアム"/>
                <a:ea typeface="游ゴシック体 ミディアム"/>
                <a:cs typeface="游ゴシック体 ミディアム"/>
                <a:sym typeface="游ゴシック体 ミディアム"/>
              </a:defRPr>
            </a:lvl1pPr>
          </a:lstStyle>
          <a:p>
            <a:pPr/>
            <a:r>
              <a:t>購入候補化</a:t>
            </a:r>
          </a:p>
        </p:txBody>
      </p:sp>
      <p:sp>
        <p:nvSpPr>
          <p:cNvPr id="718" name="TextBox 43"/>
          <p:cNvSpPr txBox="1"/>
          <p:nvPr/>
        </p:nvSpPr>
        <p:spPr>
          <a:xfrm>
            <a:off x="8595359" y="4051300"/>
            <a:ext cx="19202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FFFFFF"/>
                </a:solidFill>
                <a:latin typeface="游ゴシック体 ボールド"/>
                <a:ea typeface="游ゴシック体 ボールド"/>
                <a:cs typeface="游ゴシック体 ボールド"/>
                <a:sym typeface="游ゴシック体 ボールド"/>
              </a:defRPr>
            </a:lvl1pPr>
          </a:lstStyle>
          <a:p>
            <a:pPr/>
            <a:r>
              <a:t>リスティング</a:t>
            </a:r>
          </a:p>
        </p:txBody>
      </p:sp>
      <p:sp>
        <p:nvSpPr>
          <p:cNvPr id="719" name="Rounded Rectangle 44"/>
          <p:cNvSpPr/>
          <p:nvPr/>
        </p:nvSpPr>
        <p:spPr>
          <a:xfrm>
            <a:off x="7498080" y="4425696"/>
            <a:ext cx="2743201" cy="438913"/>
          </a:xfrm>
          <a:prstGeom prst="roundRect">
            <a:avLst>
              <a:gd name="adj" fmla="val 12000"/>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20" name="TextBox 45"/>
          <p:cNvSpPr txBox="1"/>
          <p:nvPr/>
        </p:nvSpPr>
        <p:spPr>
          <a:xfrm>
            <a:off x="7589519" y="4572127"/>
            <a:ext cx="640081" cy="1460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FFFFF"/>
                </a:solidFill>
                <a:latin typeface="游ゴシック体 ボールド"/>
                <a:ea typeface="游ゴシック体 ボールド"/>
                <a:cs typeface="游ゴシック体 ボールド"/>
                <a:sym typeface="游ゴシック体 ボールド"/>
              </a:defRPr>
            </a:lvl1pPr>
          </a:lstStyle>
          <a:p>
            <a:pPr/>
            <a:r>
              <a:t>購入</a:t>
            </a:r>
          </a:p>
        </p:txBody>
      </p:sp>
      <p:sp>
        <p:nvSpPr>
          <p:cNvPr id="721" name="TextBox 46"/>
          <p:cNvSpPr txBox="1"/>
          <p:nvPr/>
        </p:nvSpPr>
        <p:spPr>
          <a:xfrm>
            <a:off x="8229599" y="4581652"/>
            <a:ext cx="128016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FFFFFF"/>
                </a:solidFill>
                <a:latin typeface="游ゴシック体 ミディアム"/>
                <a:ea typeface="游ゴシック体 ミディアム"/>
                <a:cs typeface="游ゴシック体 ミディアム"/>
                <a:sym typeface="游ゴシック体 ミディアム"/>
              </a:defRPr>
            </a:lvl1pPr>
          </a:lstStyle>
          <a:p>
            <a:pPr/>
            <a:r>
              <a:t>CV刈り取り</a:t>
            </a:r>
          </a:p>
        </p:txBody>
      </p:sp>
      <p:sp>
        <p:nvSpPr>
          <p:cNvPr id="722" name="TextBox 47"/>
          <p:cNvSpPr txBox="1"/>
          <p:nvPr/>
        </p:nvSpPr>
        <p:spPr>
          <a:xfrm>
            <a:off x="8229600" y="4581652"/>
            <a:ext cx="19202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FFFFFF"/>
                </a:solidFill>
                <a:latin typeface="游ゴシック体 ボールド"/>
                <a:ea typeface="游ゴシック体 ボールド"/>
                <a:cs typeface="游ゴシック体 ボールド"/>
                <a:sym typeface="游ゴシック体 ボールド"/>
              </a:defRPr>
            </a:lvl1pPr>
          </a:lstStyle>
          <a:p>
            <a:pPr/>
            <a:r>
              <a:t>ダイナミック広告</a:t>
            </a:r>
          </a:p>
        </p:txBody>
      </p:sp>
      <p:sp>
        <p:nvSpPr>
          <p:cNvPr id="723" name="Rounded Rectangle 48"/>
          <p:cNvSpPr/>
          <p:nvPr/>
        </p:nvSpPr>
        <p:spPr>
          <a:xfrm>
            <a:off x="6309359" y="5257800"/>
            <a:ext cx="2514601" cy="502920"/>
          </a:xfrm>
          <a:prstGeom prst="roundRect">
            <a:avLst>
              <a:gd name="adj" fmla="val 12000"/>
            </a:avLst>
          </a:prstGeom>
          <a:solidFill>
            <a:srgbClr val="D1FAE5"/>
          </a:solidFill>
          <a:ln w="19050">
            <a:solidFill>
              <a:srgbClr val="10B981"/>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24" name="TextBox 49"/>
          <p:cNvSpPr txBox="1"/>
          <p:nvPr/>
        </p:nvSpPr>
        <p:spPr>
          <a:xfrm>
            <a:off x="6309359" y="5382259"/>
            <a:ext cx="2514601"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solidFill>
                  <a:srgbClr val="10B981"/>
                </a:solidFill>
                <a:latin typeface="游ゴシック体 ボールド"/>
                <a:ea typeface="游ゴシック体 ボールド"/>
                <a:cs typeface="游ゴシック体 ボールド"/>
                <a:sym typeface="游ゴシック体 ボールド"/>
              </a:defRPr>
            </a:lvl1pPr>
          </a:lstStyle>
          <a:p>
            <a:pPr/>
            <a:r>
              <a:t>🚀  売上  260%  に伸長</a:t>
            </a:r>
          </a:p>
        </p:txBody>
      </p:sp>
      <p:sp>
        <p:nvSpPr>
          <p:cNvPr id="725" name="Rounded Rectangle 50"/>
          <p:cNvSpPr/>
          <p:nvPr/>
        </p:nvSpPr>
        <p:spPr>
          <a:xfrm>
            <a:off x="8915400" y="5257800"/>
            <a:ext cx="2514600" cy="502920"/>
          </a:xfrm>
          <a:prstGeom prst="roundRect">
            <a:avLst>
              <a:gd name="adj" fmla="val 12000"/>
            </a:avLst>
          </a:prstGeom>
          <a:solidFill>
            <a:srgbClr val="FEF3C7"/>
          </a:solidFill>
          <a:ln w="19050">
            <a:solidFill>
              <a:srgbClr val="F59E0B"/>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26" name="TextBox 51"/>
          <p:cNvSpPr txBox="1"/>
          <p:nvPr/>
        </p:nvSpPr>
        <p:spPr>
          <a:xfrm>
            <a:off x="8915400" y="5382259"/>
            <a:ext cx="2514600"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solidFill>
                  <a:srgbClr val="F59E0B"/>
                </a:solidFill>
                <a:latin typeface="游ゴシック体 ボールド"/>
                <a:ea typeface="游ゴシック体 ボールド"/>
                <a:cs typeface="游ゴシック体 ボールド"/>
                <a:sym typeface="游ゴシック体 ボールド"/>
              </a:defRPr>
            </a:lvl1pPr>
          </a:lstStyle>
          <a:p>
            <a:pPr/>
            <a:r>
              <a:t>💰  運用費  約4倍  に拡大獲得</a:t>
            </a:r>
          </a:p>
        </p:txBody>
      </p:sp>
      <p:sp>
        <p:nvSpPr>
          <p:cNvPr id="727" name="Rounded Rectangle 52"/>
          <p:cNvSpPr/>
          <p:nvPr/>
        </p:nvSpPr>
        <p:spPr>
          <a:xfrm>
            <a:off x="6217920" y="5806440"/>
            <a:ext cx="5303521" cy="502921"/>
          </a:xfrm>
          <a:prstGeom prst="roundRect">
            <a:avLst>
              <a:gd name="adj" fmla="val 12000"/>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28" name="TextBox 53"/>
          <p:cNvSpPr txBox="1"/>
          <p:nvPr/>
        </p:nvSpPr>
        <p:spPr>
          <a:xfrm>
            <a:off x="6217920" y="5994399"/>
            <a:ext cx="5303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FFFFF"/>
                </a:solidFill>
                <a:latin typeface="游ゴシック体 ボールド"/>
                <a:ea typeface="游ゴシック体 ボールド"/>
                <a:cs typeface="游ゴシック体 ボールド"/>
                <a:sym typeface="游ゴシック体 ボールド"/>
              </a:defRPr>
            </a:lvl1pPr>
          </a:lstStyle>
          <a:p>
            <a:pPr/>
            <a:r>
              <a:t>担当領域経由の売上 260%  |  運用費 約4倍に拡大獲得</a:t>
            </a:r>
          </a:p>
        </p:txBody>
      </p:sp>
      <p:sp>
        <p:nvSpPr>
          <p:cNvPr id="729" name="TextBox 54"/>
          <p:cNvSpPr txBox="1"/>
          <p:nvPr/>
        </p:nvSpPr>
        <p:spPr>
          <a:xfrm>
            <a:off x="457199" y="6565392"/>
            <a:ext cx="112471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94A3B8"/>
                </a:solidFill>
                <a:latin typeface="游ゴシック体 ミディアム"/>
                <a:ea typeface="游ゴシック体 ミディアム"/>
                <a:cs typeface="游ゴシック体 ミディアム"/>
                <a:sym typeface="游ゴシック体 ミディアム"/>
              </a:defRPr>
            </a:lvl1pPr>
          </a:lstStyle>
          <a:p>
            <a:pPr/>
            <a:r>
              <a:t>※ 守秘義務の関係上、社名は非公開としております。詳細は個別にご説明いたします。</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31" name="Rectangle 1"/>
          <p:cNvSpPr/>
          <p:nvPr/>
        </p:nvSpPr>
        <p:spPr>
          <a:xfrm>
            <a:off x="-1" y="0"/>
            <a:ext cx="12188954" cy="685800"/>
          </a:xfrm>
          <a:prstGeom prst="rect">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32" name="TextBox 2"/>
          <p:cNvSpPr txBox="1"/>
          <p:nvPr/>
        </p:nvSpPr>
        <p:spPr>
          <a:xfrm>
            <a:off x="457200" y="164591"/>
            <a:ext cx="73152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FFFFF"/>
                </a:solidFill>
                <a:latin typeface="游ゴシック体 ボールド"/>
                <a:ea typeface="游ゴシック体 ボールド"/>
                <a:cs typeface="游ゴシック体 ボールド"/>
                <a:sym typeface="游ゴシック体 ボールド"/>
              </a:defRPr>
            </a:lvl1pPr>
          </a:lstStyle>
          <a:p>
            <a:pPr/>
            <a:r>
              <a:t>CASE STUDIES</a:t>
            </a:r>
          </a:p>
        </p:txBody>
      </p:sp>
      <p:sp>
        <p:nvSpPr>
          <p:cNvPr id="733" name="TextBox 3"/>
          <p:cNvSpPr txBox="1"/>
          <p:nvPr/>
        </p:nvSpPr>
        <p:spPr>
          <a:xfrm>
            <a:off x="10058400" y="164591"/>
            <a:ext cx="18288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FFFFFF"/>
                </a:solidFill>
                <a:latin typeface="游ゴシック体 ボールド"/>
                <a:ea typeface="游ゴシック体 ボールド"/>
                <a:cs typeface="游ゴシック体 ボールド"/>
                <a:sym typeface="游ゴシック体 ボールド"/>
              </a:defRPr>
            </a:lvl1pPr>
          </a:lstStyle>
          <a:p>
            <a:pPr/>
            <a:r>
              <a:t>GROUP</a:t>
            </a:r>
          </a:p>
        </p:txBody>
      </p:sp>
      <p:sp>
        <p:nvSpPr>
          <p:cNvPr id="734" name="Rectangle 4"/>
          <p:cNvSpPr/>
          <p:nvPr/>
        </p:nvSpPr>
        <p:spPr>
          <a:xfrm>
            <a:off x="0" y="685800"/>
            <a:ext cx="5029200" cy="6172200"/>
          </a:xfrm>
          <a:prstGeom prst="rect">
            <a:avLst/>
          </a:prstGeom>
          <a:solidFill>
            <a:srgbClr val="D1FAE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35" name="Rectangle 5"/>
          <p:cNvSpPr/>
          <p:nvPr/>
        </p:nvSpPr>
        <p:spPr>
          <a:xfrm>
            <a:off x="-1" y="685800"/>
            <a:ext cx="137162" cy="6172200"/>
          </a:xfrm>
          <a:prstGeom prst="rect">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36" name="Rectangle 6"/>
          <p:cNvSpPr/>
          <p:nvPr/>
        </p:nvSpPr>
        <p:spPr>
          <a:xfrm>
            <a:off x="1691639" y="1618488"/>
            <a:ext cx="1645921" cy="296266"/>
          </a:xfrm>
          <a:prstGeom prst="rect">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37" name="Rectangle 7"/>
          <p:cNvSpPr/>
          <p:nvPr/>
        </p:nvSpPr>
        <p:spPr>
          <a:xfrm>
            <a:off x="1773935" y="1947672"/>
            <a:ext cx="1481329" cy="905256"/>
          </a:xfrm>
          <a:prstGeom prst="rect">
            <a:avLst/>
          </a:prstGeom>
          <a:solidFill>
            <a:srgbClr val="FFFFFF"/>
          </a:solidFill>
          <a:ln w="31750">
            <a:solidFill>
              <a:srgbClr val="10B981"/>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38" name="Rectangle 8"/>
          <p:cNvSpPr/>
          <p:nvPr/>
        </p:nvSpPr>
        <p:spPr>
          <a:xfrm>
            <a:off x="2317088" y="2276855"/>
            <a:ext cx="395021" cy="576073"/>
          </a:xfrm>
          <a:prstGeom prst="rect">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39" name="TextBox 9"/>
          <p:cNvSpPr txBox="1"/>
          <p:nvPr/>
        </p:nvSpPr>
        <p:spPr>
          <a:xfrm>
            <a:off x="548640" y="4023359"/>
            <a:ext cx="411480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200">
                <a:solidFill>
                  <a:srgbClr val="10B981"/>
                </a:solidFill>
                <a:latin typeface="游ゴシック体 ボールド"/>
                <a:ea typeface="游ゴシック体 ボールド"/>
                <a:cs typeface="游ゴシック体 ボールド"/>
                <a:sym typeface="游ゴシック体 ボールド"/>
              </a:defRPr>
            </a:lvl1pPr>
          </a:lstStyle>
          <a:p>
            <a:pPr/>
            <a:r>
              <a:t>RETAIL  /  4 CASES</a:t>
            </a:r>
          </a:p>
        </p:txBody>
      </p:sp>
      <p:sp>
        <p:nvSpPr>
          <p:cNvPr id="740" name="TextBox 10"/>
          <p:cNvSpPr txBox="1"/>
          <p:nvPr/>
        </p:nvSpPr>
        <p:spPr>
          <a:xfrm>
            <a:off x="548640" y="4434840"/>
            <a:ext cx="4114801"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4400">
                <a:solidFill>
                  <a:srgbClr val="1B2A4A"/>
                </a:solidFill>
                <a:latin typeface="游ゴシック体 ボールド"/>
                <a:ea typeface="游ゴシック体 ボールド"/>
                <a:cs typeface="游ゴシック体 ボールド"/>
                <a:sym typeface="游ゴシック体 ボールド"/>
              </a:defRPr>
            </a:lvl1pPr>
          </a:lstStyle>
          <a:p>
            <a:pPr/>
            <a:r>
              <a:t>店舗系 / 買取</a:t>
            </a:r>
          </a:p>
        </p:txBody>
      </p:sp>
      <p:sp>
        <p:nvSpPr>
          <p:cNvPr id="741" name="Rectangle 11"/>
          <p:cNvSpPr/>
          <p:nvPr/>
        </p:nvSpPr>
        <p:spPr>
          <a:xfrm>
            <a:off x="2285999" y="5532120"/>
            <a:ext cx="640082" cy="45721"/>
          </a:xfrm>
          <a:prstGeom prst="rect">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42" name="TextBox 12"/>
          <p:cNvSpPr txBox="1"/>
          <p:nvPr/>
        </p:nvSpPr>
        <p:spPr>
          <a:xfrm>
            <a:off x="5486399" y="914399"/>
            <a:ext cx="630936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4748B"/>
                </a:solidFill>
                <a:latin typeface="游ゴシック体 ボールド"/>
                <a:ea typeface="游ゴシック体 ボールド"/>
                <a:cs typeface="游ゴシック体 ボールド"/>
                <a:sym typeface="游ゴシック体 ボールド"/>
              </a:defRPr>
            </a:lvl1pPr>
          </a:lstStyle>
          <a:p>
            <a:pPr/>
            <a:r>
              <a:t>CASES IN THIS GROUP</a:t>
            </a:r>
          </a:p>
        </p:txBody>
      </p:sp>
      <p:sp>
        <p:nvSpPr>
          <p:cNvPr id="743" name="Rectangle 13"/>
          <p:cNvSpPr/>
          <p:nvPr/>
        </p:nvSpPr>
        <p:spPr>
          <a:xfrm>
            <a:off x="5486399" y="1234439"/>
            <a:ext cx="6309362" cy="18289"/>
          </a:xfrm>
          <a:prstGeom prst="rect">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44" name="Rectangle 14"/>
          <p:cNvSpPr/>
          <p:nvPr/>
        </p:nvSpPr>
        <p:spPr>
          <a:xfrm>
            <a:off x="5486399" y="1463039"/>
            <a:ext cx="640082" cy="640081"/>
          </a:xfrm>
          <a:prstGeom prst="rect">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45" name="TextBox 15"/>
          <p:cNvSpPr txBox="1"/>
          <p:nvPr/>
        </p:nvSpPr>
        <p:spPr>
          <a:xfrm>
            <a:off x="5486399" y="1668780"/>
            <a:ext cx="640082"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FFFFFF"/>
                </a:solidFill>
                <a:latin typeface="游ゴシック体 ボールド"/>
                <a:ea typeface="游ゴシック体 ボールド"/>
                <a:cs typeface="游ゴシック体 ボールド"/>
                <a:sym typeface="游ゴシック体 ボールド"/>
              </a:defRPr>
            </a:lvl1pPr>
          </a:lstStyle>
          <a:p>
            <a:pPr/>
            <a:r>
              <a:t>10</a:t>
            </a:r>
          </a:p>
        </p:txBody>
      </p:sp>
      <p:sp>
        <p:nvSpPr>
          <p:cNvPr id="746" name="TextBox 16"/>
          <p:cNvSpPr txBox="1"/>
          <p:nvPr/>
        </p:nvSpPr>
        <p:spPr>
          <a:xfrm>
            <a:off x="6263640" y="1463039"/>
            <a:ext cx="5532121" cy="1714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1B2A4A"/>
                </a:solidFill>
                <a:latin typeface="游ゴシック体 ボールド"/>
                <a:ea typeface="游ゴシック体 ボールド"/>
                <a:cs typeface="游ゴシック体 ボールド"/>
                <a:sym typeface="游ゴシック体 ボールド"/>
              </a:defRPr>
            </a:lvl1pPr>
          </a:lstStyle>
          <a:p>
            <a:pPr/>
            <a:r>
              <a:t>店舗系（車整備）</a:t>
            </a:r>
          </a:p>
        </p:txBody>
      </p:sp>
      <p:sp>
        <p:nvSpPr>
          <p:cNvPr id="747" name="TextBox 17"/>
          <p:cNvSpPr txBox="1"/>
          <p:nvPr/>
        </p:nvSpPr>
        <p:spPr>
          <a:xfrm>
            <a:off x="6263640" y="1783079"/>
            <a:ext cx="5532121" cy="1460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10B981"/>
                </a:solidFill>
                <a:latin typeface="游ゴシック体 ボールド"/>
                <a:ea typeface="游ゴシック体 ボールド"/>
                <a:cs typeface="游ゴシック体 ボールド"/>
                <a:sym typeface="游ゴシック体 ボールド"/>
              </a:defRPr>
            </a:lvl1pPr>
          </a:lstStyle>
          <a:p>
            <a:pPr/>
            <a:r>
              <a:t>CPA -25%  |  独自エリア戦略</a:t>
            </a:r>
          </a:p>
        </p:txBody>
      </p:sp>
      <p:sp>
        <p:nvSpPr>
          <p:cNvPr id="748" name="Rectangle 18"/>
          <p:cNvSpPr/>
          <p:nvPr/>
        </p:nvSpPr>
        <p:spPr>
          <a:xfrm>
            <a:off x="5486399" y="2606039"/>
            <a:ext cx="640082" cy="640081"/>
          </a:xfrm>
          <a:prstGeom prst="rect">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49" name="TextBox 19"/>
          <p:cNvSpPr txBox="1"/>
          <p:nvPr/>
        </p:nvSpPr>
        <p:spPr>
          <a:xfrm>
            <a:off x="5486399" y="2811780"/>
            <a:ext cx="640082"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FFFFFF"/>
                </a:solidFill>
                <a:latin typeface="游ゴシック体 ボールド"/>
                <a:ea typeface="游ゴシック体 ボールド"/>
                <a:cs typeface="游ゴシック体 ボールド"/>
                <a:sym typeface="游ゴシック体 ボールド"/>
              </a:defRPr>
            </a:lvl1pPr>
          </a:lstStyle>
          <a:p>
            <a:pPr/>
            <a:r>
              <a:t>11</a:t>
            </a:r>
          </a:p>
        </p:txBody>
      </p:sp>
      <p:sp>
        <p:nvSpPr>
          <p:cNvPr id="750" name="TextBox 20"/>
          <p:cNvSpPr txBox="1"/>
          <p:nvPr/>
        </p:nvSpPr>
        <p:spPr>
          <a:xfrm>
            <a:off x="6263640" y="2606039"/>
            <a:ext cx="5532121" cy="1714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1B2A4A"/>
                </a:solidFill>
                <a:latin typeface="游ゴシック体 ボールド"/>
                <a:ea typeface="游ゴシック体 ボールド"/>
                <a:cs typeface="游ゴシック体 ボールド"/>
                <a:sym typeface="游ゴシック体 ボールド"/>
              </a:defRPr>
            </a:lvl1pPr>
          </a:lstStyle>
          <a:p>
            <a:pPr/>
            <a:r>
              <a:t>店舗系（歯科矯正）</a:t>
            </a:r>
          </a:p>
        </p:txBody>
      </p:sp>
      <p:sp>
        <p:nvSpPr>
          <p:cNvPr id="751" name="TextBox 21"/>
          <p:cNvSpPr txBox="1"/>
          <p:nvPr/>
        </p:nvSpPr>
        <p:spPr>
          <a:xfrm>
            <a:off x="6263640" y="2926079"/>
            <a:ext cx="5532121" cy="1460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10B981"/>
                </a:solidFill>
                <a:latin typeface="游ゴシック体 ボールド"/>
                <a:ea typeface="游ゴシック体 ボールド"/>
                <a:cs typeface="游ゴシック体 ボールド"/>
                <a:sym typeface="游ゴシック体 ボールド"/>
              </a:defRPr>
            </a:lvl1pPr>
          </a:lstStyle>
          <a:p>
            <a:pPr/>
            <a:r>
              <a:t>予約CPA 1/3  |  AI動画モデル</a:t>
            </a:r>
          </a:p>
        </p:txBody>
      </p:sp>
      <p:sp>
        <p:nvSpPr>
          <p:cNvPr id="752" name="Rectangle 22"/>
          <p:cNvSpPr/>
          <p:nvPr/>
        </p:nvSpPr>
        <p:spPr>
          <a:xfrm>
            <a:off x="5486399" y="3749040"/>
            <a:ext cx="640082" cy="640081"/>
          </a:xfrm>
          <a:prstGeom prst="rect">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53" name="TextBox 23"/>
          <p:cNvSpPr txBox="1"/>
          <p:nvPr/>
        </p:nvSpPr>
        <p:spPr>
          <a:xfrm>
            <a:off x="5486399" y="3954780"/>
            <a:ext cx="640082"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FFFFFF"/>
                </a:solidFill>
                <a:latin typeface="游ゴシック体 ボールド"/>
                <a:ea typeface="游ゴシック体 ボールド"/>
                <a:cs typeface="游ゴシック体 ボールド"/>
                <a:sym typeface="游ゴシック体 ボールド"/>
              </a:defRPr>
            </a:lvl1pPr>
          </a:lstStyle>
          <a:p>
            <a:pPr/>
            <a:r>
              <a:t>12</a:t>
            </a:r>
          </a:p>
        </p:txBody>
      </p:sp>
      <p:sp>
        <p:nvSpPr>
          <p:cNvPr id="754" name="TextBox 24"/>
          <p:cNvSpPr txBox="1"/>
          <p:nvPr/>
        </p:nvSpPr>
        <p:spPr>
          <a:xfrm>
            <a:off x="6263640" y="3749040"/>
            <a:ext cx="5532121" cy="1714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1B2A4A"/>
                </a:solidFill>
                <a:latin typeface="游ゴシック体 ボールド"/>
                <a:ea typeface="游ゴシック体 ボールド"/>
                <a:cs typeface="游ゴシック体 ボールド"/>
                <a:sym typeface="游ゴシック体 ボールド"/>
              </a:defRPr>
            </a:lvl1pPr>
          </a:lstStyle>
          <a:p>
            <a:pPr/>
            <a:r>
              <a:t>店舗系（着物）</a:t>
            </a:r>
          </a:p>
        </p:txBody>
      </p:sp>
      <p:sp>
        <p:nvSpPr>
          <p:cNvPr id="755" name="TextBox 25"/>
          <p:cNvSpPr txBox="1"/>
          <p:nvPr/>
        </p:nvSpPr>
        <p:spPr>
          <a:xfrm>
            <a:off x="6263640" y="4069079"/>
            <a:ext cx="5532121" cy="1460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10B981"/>
                </a:solidFill>
                <a:latin typeface="游ゴシック体 ボールド"/>
                <a:ea typeface="游ゴシック体 ボールド"/>
                <a:cs typeface="游ゴシック体 ボールド"/>
                <a:sym typeface="游ゴシック体 ボールド"/>
              </a:defRPr>
            </a:lvl1pPr>
          </a:lstStyle>
          <a:p>
            <a:pPr/>
            <a:r>
              <a:t>CVR 約150%  |  定量×定性 改善</a:t>
            </a:r>
          </a:p>
        </p:txBody>
      </p:sp>
      <p:sp>
        <p:nvSpPr>
          <p:cNvPr id="756" name="Rectangle 26"/>
          <p:cNvSpPr/>
          <p:nvPr/>
        </p:nvSpPr>
        <p:spPr>
          <a:xfrm>
            <a:off x="5486399" y="4892040"/>
            <a:ext cx="640082" cy="640081"/>
          </a:xfrm>
          <a:prstGeom prst="rect">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57" name="TextBox 27"/>
          <p:cNvSpPr txBox="1"/>
          <p:nvPr/>
        </p:nvSpPr>
        <p:spPr>
          <a:xfrm>
            <a:off x="5486399" y="5097780"/>
            <a:ext cx="640082"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FFFFFF"/>
                </a:solidFill>
                <a:latin typeface="游ゴシック体 ボールド"/>
                <a:ea typeface="游ゴシック体 ボールド"/>
                <a:cs typeface="游ゴシック体 ボールド"/>
                <a:sym typeface="游ゴシック体 ボールド"/>
              </a:defRPr>
            </a:lvl1pPr>
          </a:lstStyle>
          <a:p>
            <a:pPr/>
            <a:r>
              <a:t>13</a:t>
            </a:r>
          </a:p>
        </p:txBody>
      </p:sp>
      <p:sp>
        <p:nvSpPr>
          <p:cNvPr id="758" name="TextBox 28"/>
          <p:cNvSpPr txBox="1"/>
          <p:nvPr/>
        </p:nvSpPr>
        <p:spPr>
          <a:xfrm>
            <a:off x="6263640" y="4892040"/>
            <a:ext cx="5532121" cy="1714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1B2A4A"/>
                </a:solidFill>
                <a:latin typeface="游ゴシック体 ボールド"/>
                <a:ea typeface="游ゴシック体 ボールド"/>
                <a:cs typeface="游ゴシック体 ボールド"/>
                <a:sym typeface="游ゴシック体 ボールド"/>
              </a:defRPr>
            </a:lvl1pPr>
          </a:lstStyle>
          <a:p>
            <a:pPr/>
            <a:r>
              <a:t>買取系（商業車）</a:t>
            </a:r>
          </a:p>
        </p:txBody>
      </p:sp>
      <p:sp>
        <p:nvSpPr>
          <p:cNvPr id="759" name="TextBox 29"/>
          <p:cNvSpPr txBox="1"/>
          <p:nvPr/>
        </p:nvSpPr>
        <p:spPr>
          <a:xfrm>
            <a:off x="6263640" y="5212079"/>
            <a:ext cx="5532121" cy="1460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10B981"/>
                </a:solidFill>
                <a:latin typeface="游ゴシック体 ボールド"/>
                <a:ea typeface="游ゴシック体 ボールド"/>
                <a:cs typeface="游ゴシック体 ボールド"/>
                <a:sym typeface="游ゴシック体 ボールド"/>
              </a:defRPr>
            </a:lvl1pPr>
          </a:lstStyle>
          <a:p>
            <a:pPr/>
            <a:r>
              <a:t>単価 +20%  |  運用費 約3倍</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61" name="Rectangle 1"/>
          <p:cNvSpPr/>
          <p:nvPr/>
        </p:nvSpPr>
        <p:spPr>
          <a:xfrm>
            <a:off x="-1" y="0"/>
            <a:ext cx="12188954" cy="685800"/>
          </a:xfrm>
          <a:prstGeom prst="rect">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62" name="TextBox 2"/>
          <p:cNvSpPr txBox="1"/>
          <p:nvPr/>
        </p:nvSpPr>
        <p:spPr>
          <a:xfrm>
            <a:off x="457200" y="164591"/>
            <a:ext cx="73152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FFFFF"/>
                </a:solidFill>
                <a:latin typeface="游ゴシック体 ボールド"/>
                <a:ea typeface="游ゴシック体 ボールド"/>
                <a:cs typeface="游ゴシック体 ボールド"/>
                <a:sym typeface="游ゴシック体 ボールド"/>
              </a:defRPr>
            </a:lvl1pPr>
          </a:lstStyle>
          <a:p>
            <a:pPr/>
            <a:r>
              <a:t>CASE STUDIES</a:t>
            </a:r>
          </a:p>
        </p:txBody>
      </p:sp>
      <p:sp>
        <p:nvSpPr>
          <p:cNvPr id="763" name="TextBox 3"/>
          <p:cNvSpPr txBox="1"/>
          <p:nvPr/>
        </p:nvSpPr>
        <p:spPr>
          <a:xfrm>
            <a:off x="10058400" y="164591"/>
            <a:ext cx="18288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FFFFFF"/>
                </a:solidFill>
                <a:latin typeface="游ゴシック体 ボールド"/>
                <a:ea typeface="游ゴシック体 ボールド"/>
                <a:cs typeface="游ゴシック体 ボールド"/>
                <a:sym typeface="游ゴシック体 ボールド"/>
              </a:defRPr>
            </a:lvl1pPr>
          </a:lstStyle>
          <a:p>
            <a:pPr/>
            <a:r>
              <a:t>10 / 13</a:t>
            </a:r>
          </a:p>
        </p:txBody>
      </p:sp>
      <p:sp>
        <p:nvSpPr>
          <p:cNvPr id="764" name="TextBox 4"/>
          <p:cNvSpPr txBox="1"/>
          <p:nvPr/>
        </p:nvSpPr>
        <p:spPr>
          <a:xfrm>
            <a:off x="457200" y="868680"/>
            <a:ext cx="7772400"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400">
                <a:solidFill>
                  <a:srgbClr val="1B2A4A"/>
                </a:solidFill>
                <a:latin typeface="游ゴシック体 ボールド"/>
                <a:ea typeface="游ゴシック体 ボールド"/>
                <a:cs typeface="游ゴシック体 ボールド"/>
                <a:sym typeface="游ゴシック体 ボールド"/>
              </a:defRPr>
            </a:lvl1pPr>
          </a:lstStyle>
          <a:p>
            <a:pPr/>
            <a:r>
              <a:t>店舗系（車整備）</a:t>
            </a:r>
          </a:p>
        </p:txBody>
      </p:sp>
      <p:sp>
        <p:nvSpPr>
          <p:cNvPr id="765" name="TextBox 5"/>
          <p:cNvSpPr txBox="1"/>
          <p:nvPr/>
        </p:nvSpPr>
        <p:spPr>
          <a:xfrm>
            <a:off x="457200" y="1325880"/>
            <a:ext cx="77724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4748B"/>
                </a:solidFill>
                <a:latin typeface="游ゴシック体 ミディアム"/>
                <a:ea typeface="游ゴシック体 ミディアム"/>
                <a:cs typeface="游ゴシック体 ミディアム"/>
                <a:sym typeface="游ゴシック体 ミディアム"/>
              </a:defRPr>
            </a:lvl1pPr>
          </a:lstStyle>
          <a:p>
            <a:pPr/>
            <a:r>
              <a:t>顧客担当 兼 案件統括   |   リスティング広告</a:t>
            </a:r>
          </a:p>
        </p:txBody>
      </p:sp>
      <p:sp>
        <p:nvSpPr>
          <p:cNvPr id="766" name="Rectangle 6"/>
          <p:cNvSpPr/>
          <p:nvPr/>
        </p:nvSpPr>
        <p:spPr>
          <a:xfrm>
            <a:off x="457200" y="1645920"/>
            <a:ext cx="457200" cy="45721"/>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67" name="Rectangle 7"/>
          <p:cNvSpPr/>
          <p:nvPr/>
        </p:nvSpPr>
        <p:spPr>
          <a:xfrm>
            <a:off x="914399" y="1645920"/>
            <a:ext cx="10789922"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68" name="Oval 8"/>
          <p:cNvSpPr/>
          <p:nvPr/>
        </p:nvSpPr>
        <p:spPr>
          <a:xfrm>
            <a:off x="457199" y="1874518"/>
            <a:ext cx="274322" cy="274321"/>
          </a:xfrm>
          <a:prstGeom prst="ellipse">
            <a:avLst/>
          </a:prstGeom>
          <a:solidFill>
            <a:srgbClr val="EF4444"/>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69" name="TextBox 9"/>
          <p:cNvSpPr txBox="1"/>
          <p:nvPr/>
        </p:nvSpPr>
        <p:spPr>
          <a:xfrm>
            <a:off x="457199" y="1948178"/>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01</a:t>
            </a:r>
          </a:p>
        </p:txBody>
      </p:sp>
      <p:sp>
        <p:nvSpPr>
          <p:cNvPr id="770" name="TextBox 10"/>
          <p:cNvSpPr txBox="1"/>
          <p:nvPr/>
        </p:nvSpPr>
        <p:spPr>
          <a:xfrm>
            <a:off x="822960" y="1856231"/>
            <a:ext cx="3657601"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課題</a:t>
            </a:r>
          </a:p>
        </p:txBody>
      </p:sp>
      <p:sp>
        <p:nvSpPr>
          <p:cNvPr id="771" name="Rectangle 11"/>
          <p:cNvSpPr/>
          <p:nvPr/>
        </p:nvSpPr>
        <p:spPr>
          <a:xfrm>
            <a:off x="822960" y="2148838"/>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72" name="TextBox 12"/>
          <p:cNvSpPr txBox="1"/>
          <p:nvPr/>
        </p:nvSpPr>
        <p:spPr>
          <a:xfrm>
            <a:off x="594359" y="2331720"/>
            <a:ext cx="5074922" cy="4057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0000"/>
              </a:lnSpc>
              <a:defRPr sz="1100">
                <a:solidFill>
                  <a:srgbClr val="334455"/>
                </a:solidFill>
                <a:latin typeface="游ゴシック体 ミディアム"/>
                <a:ea typeface="游ゴシック体 ミディアム"/>
                <a:cs typeface="游ゴシック体 ミディアム"/>
                <a:sym typeface="游ゴシック体 ミディアム"/>
              </a:defRPr>
            </a:lvl1pPr>
          </a:lstStyle>
          <a:p>
            <a:pPr/>
            <a:r>
              <a:t>全国展開の店舗。エリアによって需要構造が大きく異なり、画一的な配信ではCPAが安定しなかった。</a:t>
            </a:r>
          </a:p>
        </p:txBody>
      </p:sp>
      <p:sp>
        <p:nvSpPr>
          <p:cNvPr id="773" name="Oval 13"/>
          <p:cNvSpPr/>
          <p:nvPr/>
        </p:nvSpPr>
        <p:spPr>
          <a:xfrm>
            <a:off x="457199" y="3246120"/>
            <a:ext cx="274322" cy="274321"/>
          </a:xfrm>
          <a:prstGeom prst="ellipse">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74" name="TextBox 14"/>
          <p:cNvSpPr txBox="1"/>
          <p:nvPr/>
        </p:nvSpPr>
        <p:spPr>
          <a:xfrm>
            <a:off x="457199" y="3319780"/>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02</a:t>
            </a:r>
          </a:p>
        </p:txBody>
      </p:sp>
      <p:sp>
        <p:nvSpPr>
          <p:cNvPr id="775" name="TextBox 15"/>
          <p:cNvSpPr txBox="1"/>
          <p:nvPr/>
        </p:nvSpPr>
        <p:spPr>
          <a:xfrm>
            <a:off x="822960" y="3227832"/>
            <a:ext cx="3657601"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アプローチ</a:t>
            </a:r>
          </a:p>
        </p:txBody>
      </p:sp>
      <p:sp>
        <p:nvSpPr>
          <p:cNvPr id="776" name="Rectangle 16"/>
          <p:cNvSpPr/>
          <p:nvPr/>
        </p:nvSpPr>
        <p:spPr>
          <a:xfrm>
            <a:off x="822960" y="3520440"/>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77" name="TextBox 17"/>
          <p:cNvSpPr txBox="1"/>
          <p:nvPr/>
        </p:nvSpPr>
        <p:spPr>
          <a:xfrm>
            <a:off x="594359" y="3703320"/>
            <a:ext cx="5074922" cy="4057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0000"/>
              </a:lnSpc>
              <a:defRPr sz="1100">
                <a:solidFill>
                  <a:srgbClr val="334455"/>
                </a:solidFill>
                <a:latin typeface="游ゴシック体 ミディアム"/>
                <a:ea typeface="游ゴシック体 ミディアム"/>
                <a:cs typeface="游ゴシック体 ミディアム"/>
                <a:sym typeface="游ゴシック体 ミディアム"/>
              </a:defRPr>
            </a:lvl1pPr>
          </a:lstStyle>
          <a:p>
            <a:pPr/>
            <a:r>
              <a:t>車保有人口・高速道路有無・店舗周囲の地形等の地域特性データを独自調査・分析。エリアごとの配信戦略を精緻に設計し直し。</a:t>
            </a:r>
          </a:p>
        </p:txBody>
      </p:sp>
      <p:sp>
        <p:nvSpPr>
          <p:cNvPr id="778" name="Oval 18"/>
          <p:cNvSpPr/>
          <p:nvPr/>
        </p:nvSpPr>
        <p:spPr>
          <a:xfrm>
            <a:off x="457199" y="5029199"/>
            <a:ext cx="274322" cy="274322"/>
          </a:xfrm>
          <a:prstGeom prst="ellipse">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79" name="TextBox 19"/>
          <p:cNvSpPr txBox="1"/>
          <p:nvPr/>
        </p:nvSpPr>
        <p:spPr>
          <a:xfrm>
            <a:off x="457199" y="5102859"/>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03</a:t>
            </a:r>
          </a:p>
        </p:txBody>
      </p:sp>
      <p:sp>
        <p:nvSpPr>
          <p:cNvPr id="780" name="TextBox 20"/>
          <p:cNvSpPr txBox="1"/>
          <p:nvPr/>
        </p:nvSpPr>
        <p:spPr>
          <a:xfrm>
            <a:off x="822960" y="5010911"/>
            <a:ext cx="36576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成果</a:t>
            </a:r>
          </a:p>
        </p:txBody>
      </p:sp>
      <p:sp>
        <p:nvSpPr>
          <p:cNvPr id="781" name="Rectangle 21"/>
          <p:cNvSpPr/>
          <p:nvPr/>
        </p:nvSpPr>
        <p:spPr>
          <a:xfrm>
            <a:off x="822960" y="5303520"/>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82" name="Rounded Rectangle 22"/>
          <p:cNvSpPr/>
          <p:nvPr/>
        </p:nvSpPr>
        <p:spPr>
          <a:xfrm>
            <a:off x="594359" y="5486400"/>
            <a:ext cx="2468881" cy="960120"/>
          </a:xfrm>
          <a:prstGeom prst="roundRect">
            <a:avLst>
              <a:gd name="adj" fmla="val 12000"/>
            </a:avLst>
          </a:prstGeom>
          <a:solidFill>
            <a:srgbClr val="D1FAE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83" name="TextBox 23"/>
          <p:cNvSpPr txBox="1"/>
          <p:nvPr/>
        </p:nvSpPr>
        <p:spPr>
          <a:xfrm>
            <a:off x="594359" y="5643879"/>
            <a:ext cx="246888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10B981"/>
                </a:solidFill>
                <a:latin typeface="游ゴシック体 ボールド"/>
                <a:ea typeface="游ゴシック体 ボールド"/>
                <a:cs typeface="游ゴシック体 ボールド"/>
                <a:sym typeface="游ゴシック体 ボールド"/>
              </a:defRPr>
            </a:lvl1pPr>
          </a:lstStyle>
          <a:p>
            <a:pPr/>
            <a:r>
              <a:t>-25%</a:t>
            </a:r>
          </a:p>
        </p:txBody>
      </p:sp>
      <p:sp>
        <p:nvSpPr>
          <p:cNvPr id="784" name="TextBox 24"/>
          <p:cNvSpPr txBox="1"/>
          <p:nvPr/>
        </p:nvSpPr>
        <p:spPr>
          <a:xfrm>
            <a:off x="594359" y="6154420"/>
            <a:ext cx="24688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64748B"/>
                </a:solidFill>
                <a:latin typeface="游ゴシック体 ミディアム"/>
                <a:ea typeface="游ゴシック体 ミディアム"/>
                <a:cs typeface="游ゴシック体 ミディアム"/>
                <a:sym typeface="游ゴシック体 ミディアム"/>
              </a:defRPr>
            </a:lvl1pPr>
          </a:lstStyle>
          <a:p>
            <a:pPr/>
            <a:r>
              <a:t>CPA</a:t>
            </a:r>
          </a:p>
        </p:txBody>
      </p:sp>
      <p:sp>
        <p:nvSpPr>
          <p:cNvPr id="785" name="Rounded Rectangle 25"/>
          <p:cNvSpPr/>
          <p:nvPr/>
        </p:nvSpPr>
        <p:spPr>
          <a:xfrm>
            <a:off x="3200400" y="5486400"/>
            <a:ext cx="2468880" cy="960120"/>
          </a:xfrm>
          <a:prstGeom prst="roundRect">
            <a:avLst>
              <a:gd name="adj" fmla="val 12000"/>
            </a:avLst>
          </a:prstGeom>
          <a:solidFill>
            <a:srgbClr val="D1FAE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86" name="TextBox 26"/>
          <p:cNvSpPr txBox="1"/>
          <p:nvPr/>
        </p:nvSpPr>
        <p:spPr>
          <a:xfrm>
            <a:off x="3200399" y="5643879"/>
            <a:ext cx="246888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F59E0B"/>
                </a:solidFill>
                <a:latin typeface="游ゴシック体 ボールド"/>
                <a:ea typeface="游ゴシック体 ボールド"/>
                <a:cs typeface="游ゴシック体 ボールド"/>
                <a:sym typeface="游ゴシック体 ボールド"/>
              </a:defRPr>
            </a:lvl1pPr>
          </a:lstStyle>
          <a:p>
            <a:pPr/>
            <a:r>
              <a:t>独自</a:t>
            </a:r>
          </a:p>
        </p:txBody>
      </p:sp>
      <p:sp>
        <p:nvSpPr>
          <p:cNvPr id="787" name="TextBox 27"/>
          <p:cNvSpPr txBox="1"/>
          <p:nvPr/>
        </p:nvSpPr>
        <p:spPr>
          <a:xfrm>
            <a:off x="3200399" y="6154420"/>
            <a:ext cx="24688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64748B"/>
                </a:solidFill>
                <a:latin typeface="游ゴシック体 ミディアム"/>
                <a:ea typeface="游ゴシック体 ミディアム"/>
                <a:cs typeface="游ゴシック体 ミディアム"/>
                <a:sym typeface="游ゴシック体 ミディアム"/>
              </a:defRPr>
            </a:lvl1pPr>
          </a:lstStyle>
          <a:p>
            <a:pPr/>
            <a:r>
              <a:t>エリア配信戦略</a:t>
            </a:r>
          </a:p>
        </p:txBody>
      </p:sp>
      <p:sp>
        <p:nvSpPr>
          <p:cNvPr id="788" name="Rounded Rectangle 28"/>
          <p:cNvSpPr/>
          <p:nvPr/>
        </p:nvSpPr>
        <p:spPr>
          <a:xfrm>
            <a:off x="5943600" y="1828800"/>
            <a:ext cx="5852160" cy="4572000"/>
          </a:xfrm>
          <a:prstGeom prst="roundRect">
            <a:avLst>
              <a:gd name="adj" fmla="val 12000"/>
            </a:avLst>
          </a:prstGeom>
          <a:solidFill>
            <a:srgbClr val="F1F5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89" name="TextBox 29"/>
          <p:cNvSpPr txBox="1"/>
          <p:nvPr/>
        </p:nvSpPr>
        <p:spPr>
          <a:xfrm>
            <a:off x="6217920" y="1965960"/>
            <a:ext cx="5303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4748B"/>
                </a:solidFill>
                <a:latin typeface="游ゴシック体 ボールド"/>
                <a:ea typeface="游ゴシック体 ボールド"/>
                <a:cs typeface="游ゴシック体 ボールド"/>
                <a:sym typeface="游ゴシック体 ボールド"/>
              </a:defRPr>
            </a:lvl1pPr>
          </a:lstStyle>
          <a:p>
            <a:pPr/>
            <a:r>
              <a:t>施策の図解</a:t>
            </a:r>
          </a:p>
        </p:txBody>
      </p:sp>
      <p:sp>
        <p:nvSpPr>
          <p:cNvPr id="790" name="Rectangle 30"/>
          <p:cNvSpPr/>
          <p:nvPr/>
        </p:nvSpPr>
        <p:spPr>
          <a:xfrm>
            <a:off x="6217920" y="2285999"/>
            <a:ext cx="365761" cy="36578"/>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91" name="TextBox 31"/>
          <p:cNvSpPr txBox="1"/>
          <p:nvPr/>
        </p:nvSpPr>
        <p:spPr>
          <a:xfrm>
            <a:off x="6217920" y="2423160"/>
            <a:ext cx="5303521" cy="1460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1B2A4A"/>
                </a:solidFill>
                <a:latin typeface="游ゴシック体 ボールド"/>
                <a:ea typeface="游ゴシック体 ボールド"/>
                <a:cs typeface="游ゴシック体 ボールド"/>
                <a:sym typeface="游ゴシック体 ボールド"/>
              </a:defRPr>
            </a:lvl1pPr>
          </a:lstStyle>
          <a:p>
            <a:pPr/>
            <a:r>
              <a:t>地域特性データを独自調査  ⇒  エリア別配信戦略を精緻設計</a:t>
            </a:r>
          </a:p>
        </p:txBody>
      </p:sp>
      <p:sp>
        <p:nvSpPr>
          <p:cNvPr id="792" name="TextBox 32"/>
          <p:cNvSpPr txBox="1"/>
          <p:nvPr/>
        </p:nvSpPr>
        <p:spPr>
          <a:xfrm>
            <a:off x="6309359" y="2743199"/>
            <a:ext cx="512064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3B82F6"/>
                </a:solidFill>
                <a:latin typeface="游ゴシック体 ボールド"/>
                <a:ea typeface="游ゴシック体 ボールド"/>
                <a:cs typeface="游ゴシック体 ボールド"/>
                <a:sym typeface="游ゴシック体 ボールド"/>
              </a:defRPr>
            </a:lvl1pPr>
          </a:lstStyle>
          <a:p>
            <a:pPr/>
            <a:r>
              <a:t>📍 独自調査した 4種類の地域特性データ</a:t>
            </a:r>
          </a:p>
        </p:txBody>
      </p:sp>
      <p:sp>
        <p:nvSpPr>
          <p:cNvPr id="793" name="Rounded Rectangle 33"/>
          <p:cNvSpPr/>
          <p:nvPr/>
        </p:nvSpPr>
        <p:spPr>
          <a:xfrm>
            <a:off x="6309359" y="3063239"/>
            <a:ext cx="1234441" cy="685801"/>
          </a:xfrm>
          <a:prstGeom prst="roundRect">
            <a:avLst>
              <a:gd name="adj" fmla="val 12000"/>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94" name="TextBox 34"/>
          <p:cNvSpPr txBox="1"/>
          <p:nvPr/>
        </p:nvSpPr>
        <p:spPr>
          <a:xfrm>
            <a:off x="6309359" y="3234690"/>
            <a:ext cx="1234441" cy="3429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FFFFFF"/>
                </a:solidFill>
                <a:latin typeface="游ゴシック体 ボールド"/>
                <a:ea typeface="游ゴシック体 ボールド"/>
                <a:cs typeface="游ゴシック体 ボールド"/>
                <a:sym typeface="游ゴシック体 ボールド"/>
              </a:defRPr>
            </a:pPr>
            <a:r>
              <a:t>🚗</a:t>
            </a:r>
          </a:p>
          <a:p>
            <a:pPr algn="ctr">
              <a:defRPr sz="1000">
                <a:solidFill>
                  <a:srgbClr val="FFFFFF"/>
                </a:solidFill>
                <a:latin typeface="游ゴシック体 ボールド"/>
                <a:ea typeface="游ゴシック体 ボールド"/>
                <a:cs typeface="游ゴシック体 ボールド"/>
                <a:sym typeface="游ゴシック体 ボールド"/>
              </a:defRPr>
            </a:pPr>
            <a:r>
              <a:t>車保有人口</a:t>
            </a:r>
          </a:p>
        </p:txBody>
      </p:sp>
      <p:sp>
        <p:nvSpPr>
          <p:cNvPr id="795" name="Rounded Rectangle 35"/>
          <p:cNvSpPr/>
          <p:nvPr/>
        </p:nvSpPr>
        <p:spPr>
          <a:xfrm>
            <a:off x="7605063" y="3063239"/>
            <a:ext cx="1234441" cy="685801"/>
          </a:xfrm>
          <a:prstGeom prst="roundRect">
            <a:avLst>
              <a:gd name="adj" fmla="val 12000"/>
            </a:avLst>
          </a:prstGeom>
          <a:solidFill>
            <a:srgbClr val="8B5C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96" name="TextBox 36"/>
          <p:cNvSpPr txBox="1"/>
          <p:nvPr/>
        </p:nvSpPr>
        <p:spPr>
          <a:xfrm>
            <a:off x="7605063" y="3234690"/>
            <a:ext cx="1234441" cy="3429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FFFFFF"/>
                </a:solidFill>
                <a:latin typeface="游ゴシック体 ボールド"/>
                <a:ea typeface="游ゴシック体 ボールド"/>
                <a:cs typeface="游ゴシック体 ボールド"/>
                <a:sym typeface="游ゴシック体 ボールド"/>
              </a:defRPr>
            </a:pPr>
            <a:r>
              <a:t>🛣</a:t>
            </a:r>
          </a:p>
          <a:p>
            <a:pPr algn="ctr">
              <a:defRPr sz="1000">
                <a:solidFill>
                  <a:srgbClr val="FFFFFF"/>
                </a:solidFill>
                <a:latin typeface="游ゴシック体 ボールド"/>
                <a:ea typeface="游ゴシック体 ボールド"/>
                <a:cs typeface="游ゴシック体 ボールド"/>
                <a:sym typeface="游ゴシック体 ボールド"/>
              </a:defRPr>
            </a:pPr>
            <a:r>
              <a:t>高速道路有無</a:t>
            </a:r>
          </a:p>
        </p:txBody>
      </p:sp>
      <p:sp>
        <p:nvSpPr>
          <p:cNvPr id="797" name="Rounded Rectangle 37"/>
          <p:cNvSpPr/>
          <p:nvPr/>
        </p:nvSpPr>
        <p:spPr>
          <a:xfrm>
            <a:off x="8900768" y="3063239"/>
            <a:ext cx="1234441" cy="685801"/>
          </a:xfrm>
          <a:prstGeom prst="roundRect">
            <a:avLst>
              <a:gd name="adj" fmla="val 12000"/>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798" name="TextBox 38"/>
          <p:cNvSpPr txBox="1"/>
          <p:nvPr/>
        </p:nvSpPr>
        <p:spPr>
          <a:xfrm>
            <a:off x="8900768" y="3260090"/>
            <a:ext cx="1234441" cy="292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FFFFFF"/>
                </a:solidFill>
                <a:latin typeface="游ゴシック体 ボールド"/>
                <a:ea typeface="游ゴシック体 ボールド"/>
                <a:cs typeface="游ゴシック体 ボールド"/>
                <a:sym typeface="游ゴシック体 ボールド"/>
              </a:defRPr>
            </a:pPr>
            <a:r>
              <a:t>⛰</a:t>
            </a:r>
          </a:p>
          <a:p>
            <a:pPr algn="ctr">
              <a:defRPr sz="1000">
                <a:solidFill>
                  <a:srgbClr val="FFFFFF"/>
                </a:solidFill>
                <a:latin typeface="游ゴシック体 ボールド"/>
                <a:ea typeface="游ゴシック体 ボールド"/>
                <a:cs typeface="游ゴシック体 ボールド"/>
                <a:sym typeface="游ゴシック体 ボールド"/>
              </a:defRPr>
            </a:pPr>
            <a:r>
              <a:t>店舗周囲の地形</a:t>
            </a:r>
          </a:p>
        </p:txBody>
      </p:sp>
      <p:sp>
        <p:nvSpPr>
          <p:cNvPr id="799" name="Rounded Rectangle 39"/>
          <p:cNvSpPr/>
          <p:nvPr/>
        </p:nvSpPr>
        <p:spPr>
          <a:xfrm>
            <a:off x="10196472" y="3063239"/>
            <a:ext cx="1234441" cy="685801"/>
          </a:xfrm>
          <a:prstGeom prst="roundRect">
            <a:avLst>
              <a:gd name="adj" fmla="val 12000"/>
            </a:avLst>
          </a:prstGeom>
          <a:solidFill>
            <a:srgbClr val="F59E0B"/>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00" name="TextBox 40"/>
          <p:cNvSpPr txBox="1"/>
          <p:nvPr/>
        </p:nvSpPr>
        <p:spPr>
          <a:xfrm>
            <a:off x="10196472" y="3234690"/>
            <a:ext cx="1234441" cy="3429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FFFFFF"/>
                </a:solidFill>
                <a:latin typeface="游ゴシック体 ボールド"/>
                <a:ea typeface="游ゴシック体 ボールド"/>
                <a:cs typeface="游ゴシック体 ボールド"/>
                <a:sym typeface="游ゴシック体 ボールド"/>
              </a:defRPr>
            </a:pPr>
            <a:r>
              <a:t>🏘</a:t>
            </a:r>
          </a:p>
          <a:p>
            <a:pPr algn="ctr">
              <a:defRPr sz="1000">
                <a:solidFill>
                  <a:srgbClr val="FFFFFF"/>
                </a:solidFill>
                <a:latin typeface="游ゴシック体 ボールド"/>
                <a:ea typeface="游ゴシック体 ボールド"/>
                <a:cs typeface="游ゴシック体 ボールド"/>
                <a:sym typeface="游ゴシック体 ボールド"/>
              </a:defRPr>
            </a:pPr>
            <a:r>
              <a:t>人口密度</a:t>
            </a:r>
          </a:p>
        </p:txBody>
      </p:sp>
      <p:sp>
        <p:nvSpPr>
          <p:cNvPr id="801" name="Down Arrow 41"/>
          <p:cNvSpPr/>
          <p:nvPr/>
        </p:nvSpPr>
        <p:spPr>
          <a:xfrm>
            <a:off x="8750807" y="3840479"/>
            <a:ext cx="237744" cy="20116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5400" y="10800"/>
                </a:lnTo>
                <a:lnTo>
                  <a:pt x="5400" y="0"/>
                </a:lnTo>
                <a:lnTo>
                  <a:pt x="16200" y="0"/>
                </a:lnTo>
                <a:lnTo>
                  <a:pt x="16200" y="10800"/>
                </a:lnTo>
                <a:lnTo>
                  <a:pt x="21600" y="10800"/>
                </a:lnTo>
                <a:lnTo>
                  <a:pt x="10800" y="21600"/>
                </a:lnTo>
                <a:close/>
              </a:path>
            </a:pathLst>
          </a:custGeom>
          <a:solidFill>
            <a:srgbClr val="94A3B8"/>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02" name="Rounded Rectangle 42"/>
          <p:cNvSpPr/>
          <p:nvPr/>
        </p:nvSpPr>
        <p:spPr>
          <a:xfrm>
            <a:off x="6309359" y="4114800"/>
            <a:ext cx="2697481" cy="1691640"/>
          </a:xfrm>
          <a:prstGeom prst="roundRect">
            <a:avLst>
              <a:gd name="adj" fmla="val 12000"/>
            </a:avLst>
          </a:prstGeom>
          <a:solidFill>
            <a:srgbClr val="FFFFFF"/>
          </a:solidFill>
          <a:ln w="12700">
            <a:solidFill>
              <a:srgbClr val="E2E8F0"/>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03" name="TextBox 43"/>
          <p:cNvSpPr txBox="1"/>
          <p:nvPr/>
        </p:nvSpPr>
        <p:spPr>
          <a:xfrm>
            <a:off x="6309359" y="4160520"/>
            <a:ext cx="26974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000">
                <a:solidFill>
                  <a:srgbClr val="64748B"/>
                </a:solidFill>
                <a:latin typeface="游ゴシック体 ボールド"/>
                <a:ea typeface="游ゴシック体 ボールド"/>
                <a:cs typeface="游ゴシック体 ボールド"/>
                <a:sym typeface="游ゴシック体 ボールド"/>
              </a:defRPr>
            </a:lvl1pPr>
          </a:lstStyle>
          <a:p>
            <a:pPr/>
            <a:r>
              <a:t>配信ヒートマップ</a:t>
            </a:r>
          </a:p>
        </p:txBody>
      </p:sp>
      <p:sp>
        <p:nvSpPr>
          <p:cNvPr id="804" name="Oval 44"/>
          <p:cNvSpPr/>
          <p:nvPr/>
        </p:nvSpPr>
        <p:spPr>
          <a:xfrm>
            <a:off x="6800849" y="4777740"/>
            <a:ext cx="365762" cy="365761"/>
          </a:xfrm>
          <a:prstGeom prst="ellipse">
            <a:avLst/>
          </a:prstGeom>
          <a:solidFill>
            <a:srgbClr val="EF4444"/>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05" name="Oval 45"/>
          <p:cNvSpPr/>
          <p:nvPr/>
        </p:nvSpPr>
        <p:spPr>
          <a:xfrm>
            <a:off x="7646669" y="4729734"/>
            <a:ext cx="292609" cy="292609"/>
          </a:xfrm>
          <a:prstGeom prst="ellipse">
            <a:avLst/>
          </a:prstGeom>
          <a:solidFill>
            <a:srgbClr val="F59E0B"/>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06" name="Oval 46"/>
          <p:cNvSpPr/>
          <p:nvPr/>
        </p:nvSpPr>
        <p:spPr>
          <a:xfrm>
            <a:off x="8204454" y="4917185"/>
            <a:ext cx="256033" cy="256033"/>
          </a:xfrm>
          <a:prstGeom prst="ellipse">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07" name="Oval 47"/>
          <p:cNvSpPr/>
          <p:nvPr/>
        </p:nvSpPr>
        <p:spPr>
          <a:xfrm>
            <a:off x="7093457" y="5138928"/>
            <a:ext cx="320041" cy="320041"/>
          </a:xfrm>
          <a:prstGeom prst="ellipse">
            <a:avLst/>
          </a:prstGeom>
          <a:solidFill>
            <a:srgbClr val="EF4444"/>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08" name="Oval 48"/>
          <p:cNvSpPr/>
          <p:nvPr/>
        </p:nvSpPr>
        <p:spPr>
          <a:xfrm>
            <a:off x="7934706" y="5306262"/>
            <a:ext cx="256033" cy="256033"/>
          </a:xfrm>
          <a:prstGeom prst="ellipse">
            <a:avLst/>
          </a:prstGeom>
          <a:solidFill>
            <a:srgbClr val="F59E0B"/>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09" name="Oval 49"/>
          <p:cNvSpPr/>
          <p:nvPr/>
        </p:nvSpPr>
        <p:spPr>
          <a:xfrm>
            <a:off x="6766559" y="5419647"/>
            <a:ext cx="164593" cy="164593"/>
          </a:xfrm>
          <a:prstGeom prst="ellipse">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10" name="Right Arrow 50"/>
          <p:cNvSpPr/>
          <p:nvPr/>
        </p:nvSpPr>
        <p:spPr>
          <a:xfrm>
            <a:off x="9034271" y="4846320"/>
            <a:ext cx="274321" cy="201169"/>
          </a:xfrm>
          <a:prstGeom prst="rightArrow">
            <a:avLst>
              <a:gd name="adj1" fmla="val 50000"/>
              <a:gd name="adj2" fmla="val 50000"/>
            </a:avLst>
          </a:prstGeom>
          <a:solidFill>
            <a:srgbClr val="94A3B8"/>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11" name="TextBox 51"/>
          <p:cNvSpPr txBox="1"/>
          <p:nvPr/>
        </p:nvSpPr>
        <p:spPr>
          <a:xfrm>
            <a:off x="9372600" y="4114799"/>
            <a:ext cx="20574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3B82F6"/>
                </a:solidFill>
                <a:latin typeface="游ゴシック体 ボールド"/>
                <a:ea typeface="游ゴシック体 ボールド"/>
                <a:cs typeface="游ゴシック体 ボールド"/>
                <a:sym typeface="游ゴシック体 ボールド"/>
              </a:defRPr>
            </a:lvl1pPr>
          </a:lstStyle>
          <a:p>
            <a:pPr/>
            <a:r>
              <a:t>🎯 エリア別 配信戦略</a:t>
            </a:r>
          </a:p>
        </p:txBody>
      </p:sp>
      <p:sp>
        <p:nvSpPr>
          <p:cNvPr id="812" name="Rounded Rectangle 52"/>
          <p:cNvSpPr/>
          <p:nvPr/>
        </p:nvSpPr>
        <p:spPr>
          <a:xfrm>
            <a:off x="9372600" y="4434840"/>
            <a:ext cx="2057400" cy="411481"/>
          </a:xfrm>
          <a:prstGeom prst="roundRect">
            <a:avLst>
              <a:gd name="adj" fmla="val 12000"/>
            </a:avLst>
          </a:prstGeom>
          <a:solidFill>
            <a:srgbClr val="FFFFFF"/>
          </a:solidFill>
          <a:ln w="19050">
            <a:solidFill>
              <a:srgbClr val="EF4444"/>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13" name="TextBox 53"/>
          <p:cNvSpPr txBox="1"/>
          <p:nvPr/>
        </p:nvSpPr>
        <p:spPr>
          <a:xfrm>
            <a:off x="9482328" y="4471415"/>
            <a:ext cx="1874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EF4444"/>
                </a:solidFill>
                <a:latin typeface="游ゴシック体 ボールド"/>
                <a:ea typeface="游ゴシック体 ボールド"/>
                <a:cs typeface="游ゴシック体 ボールド"/>
                <a:sym typeface="游ゴシック体 ボールド"/>
              </a:defRPr>
            </a:lvl1pPr>
          </a:lstStyle>
          <a:p>
            <a:pPr/>
            <a:r>
              <a:t>高密度エリア</a:t>
            </a:r>
          </a:p>
        </p:txBody>
      </p:sp>
      <p:sp>
        <p:nvSpPr>
          <p:cNvPr id="814" name="TextBox 54"/>
          <p:cNvSpPr txBox="1"/>
          <p:nvPr/>
        </p:nvSpPr>
        <p:spPr>
          <a:xfrm>
            <a:off x="9482328" y="4636008"/>
            <a:ext cx="1874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334455"/>
                </a:solidFill>
                <a:latin typeface="游ゴシック体 ミディアム"/>
                <a:ea typeface="游ゴシック体 ミディアム"/>
                <a:cs typeface="游ゴシック体 ミディアム"/>
                <a:sym typeface="游ゴシック体 ミディアム"/>
              </a:defRPr>
            </a:lvl1pPr>
          </a:lstStyle>
          <a:p>
            <a:pPr/>
            <a:r>
              <a:t>入札強化 / 高頻度</a:t>
            </a:r>
          </a:p>
        </p:txBody>
      </p:sp>
      <p:sp>
        <p:nvSpPr>
          <p:cNvPr id="815" name="Rounded Rectangle 55"/>
          <p:cNvSpPr/>
          <p:nvPr/>
        </p:nvSpPr>
        <p:spPr>
          <a:xfrm>
            <a:off x="9372600" y="4910328"/>
            <a:ext cx="2057400" cy="411481"/>
          </a:xfrm>
          <a:prstGeom prst="roundRect">
            <a:avLst>
              <a:gd name="adj" fmla="val 12000"/>
            </a:avLst>
          </a:prstGeom>
          <a:solidFill>
            <a:srgbClr val="FFFFFF"/>
          </a:solidFill>
          <a:ln w="19050">
            <a:solidFill>
              <a:srgbClr val="F59E0B"/>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16" name="TextBox 56"/>
          <p:cNvSpPr txBox="1"/>
          <p:nvPr/>
        </p:nvSpPr>
        <p:spPr>
          <a:xfrm>
            <a:off x="9482328" y="4946903"/>
            <a:ext cx="1874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F59E0B"/>
                </a:solidFill>
                <a:latin typeface="游ゴシック体 ボールド"/>
                <a:ea typeface="游ゴシック体 ボールド"/>
                <a:cs typeface="游ゴシック体 ボールド"/>
                <a:sym typeface="游ゴシック体 ボールド"/>
              </a:defRPr>
            </a:lvl1pPr>
          </a:lstStyle>
          <a:p>
            <a:pPr/>
            <a:r>
              <a:t>中密度エリア</a:t>
            </a:r>
          </a:p>
        </p:txBody>
      </p:sp>
      <p:sp>
        <p:nvSpPr>
          <p:cNvPr id="817" name="TextBox 57"/>
          <p:cNvSpPr txBox="1"/>
          <p:nvPr/>
        </p:nvSpPr>
        <p:spPr>
          <a:xfrm>
            <a:off x="9482328" y="5111496"/>
            <a:ext cx="1874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334455"/>
                </a:solidFill>
                <a:latin typeface="游ゴシック体 ミディアム"/>
                <a:ea typeface="游ゴシック体 ミディアム"/>
                <a:cs typeface="游ゴシック体 ミディアム"/>
                <a:sym typeface="游ゴシック体 ミディアム"/>
              </a:defRPr>
            </a:lvl1pPr>
          </a:lstStyle>
          <a:p>
            <a:pPr/>
            <a:r>
              <a:t>効率重視</a:t>
            </a:r>
          </a:p>
        </p:txBody>
      </p:sp>
      <p:sp>
        <p:nvSpPr>
          <p:cNvPr id="818" name="Rounded Rectangle 58"/>
          <p:cNvSpPr/>
          <p:nvPr/>
        </p:nvSpPr>
        <p:spPr>
          <a:xfrm>
            <a:off x="9372600" y="5385815"/>
            <a:ext cx="2057400" cy="411481"/>
          </a:xfrm>
          <a:prstGeom prst="roundRect">
            <a:avLst>
              <a:gd name="adj" fmla="val 12000"/>
            </a:avLst>
          </a:prstGeom>
          <a:solidFill>
            <a:srgbClr val="FFFFFF"/>
          </a:solidFill>
          <a:ln w="19050">
            <a:solidFill>
              <a:srgbClr val="64748B"/>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19" name="TextBox 59"/>
          <p:cNvSpPr txBox="1"/>
          <p:nvPr/>
        </p:nvSpPr>
        <p:spPr>
          <a:xfrm>
            <a:off x="9482328" y="5422391"/>
            <a:ext cx="1874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4748B"/>
                </a:solidFill>
                <a:latin typeface="游ゴシック体 ボールド"/>
                <a:ea typeface="游ゴシック体 ボールド"/>
                <a:cs typeface="游ゴシック体 ボールド"/>
                <a:sym typeface="游ゴシック体 ボールド"/>
              </a:defRPr>
            </a:lvl1pPr>
          </a:lstStyle>
          <a:p>
            <a:pPr/>
            <a:r>
              <a:t>低密度エリア</a:t>
            </a:r>
          </a:p>
        </p:txBody>
      </p:sp>
      <p:sp>
        <p:nvSpPr>
          <p:cNvPr id="820" name="TextBox 60"/>
          <p:cNvSpPr txBox="1"/>
          <p:nvPr/>
        </p:nvSpPr>
        <p:spPr>
          <a:xfrm>
            <a:off x="9482328" y="5586984"/>
            <a:ext cx="1874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334455"/>
                </a:solidFill>
                <a:latin typeface="游ゴシック体 ミディアム"/>
                <a:ea typeface="游ゴシック体 ミディアム"/>
                <a:cs typeface="游ゴシック体 ミディアム"/>
                <a:sym typeface="游ゴシック体 ミディアム"/>
              </a:defRPr>
            </a:lvl1pPr>
          </a:lstStyle>
          <a:p>
            <a:pPr/>
            <a:r>
              <a:t>抑制 / 除外</a:t>
            </a:r>
          </a:p>
        </p:txBody>
      </p:sp>
      <p:sp>
        <p:nvSpPr>
          <p:cNvPr id="821" name="Rounded Rectangle 61"/>
          <p:cNvSpPr/>
          <p:nvPr/>
        </p:nvSpPr>
        <p:spPr>
          <a:xfrm>
            <a:off x="6217920" y="5806440"/>
            <a:ext cx="5303521" cy="502921"/>
          </a:xfrm>
          <a:prstGeom prst="roundRect">
            <a:avLst>
              <a:gd name="adj" fmla="val 12000"/>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22" name="TextBox 62"/>
          <p:cNvSpPr txBox="1"/>
          <p:nvPr/>
        </p:nvSpPr>
        <p:spPr>
          <a:xfrm>
            <a:off x="6217920" y="5994399"/>
            <a:ext cx="5303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FFFFF"/>
                </a:solidFill>
                <a:latin typeface="游ゴシック体 ボールド"/>
                <a:ea typeface="游ゴシック体 ボールド"/>
                <a:cs typeface="游ゴシック体 ボールド"/>
                <a:sym typeface="游ゴシック体 ボールド"/>
              </a:defRPr>
            </a:lvl1pPr>
          </a:lstStyle>
          <a:p>
            <a:pPr/>
            <a:r>
              <a:t>独自データ調査 × 地域戦略設計  ⇒  CPA 25%改善</a:t>
            </a:r>
          </a:p>
        </p:txBody>
      </p:sp>
      <p:sp>
        <p:nvSpPr>
          <p:cNvPr id="823" name="TextBox 63"/>
          <p:cNvSpPr txBox="1"/>
          <p:nvPr/>
        </p:nvSpPr>
        <p:spPr>
          <a:xfrm>
            <a:off x="457199" y="6565392"/>
            <a:ext cx="112471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94A3B8"/>
                </a:solidFill>
                <a:latin typeface="游ゴシック体 ミディアム"/>
                <a:ea typeface="游ゴシック体 ミディアム"/>
                <a:cs typeface="游ゴシック体 ミディアム"/>
                <a:sym typeface="游ゴシック体 ミディアム"/>
              </a:defRPr>
            </a:lvl1pPr>
          </a:lstStyle>
          <a:p>
            <a:pPr/>
            <a:r>
              <a:t>※ 守秘義務の関係上、社名は非公開としております。詳細は個別にご説明いたします。</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25" name="Rectangle 1"/>
          <p:cNvSpPr/>
          <p:nvPr/>
        </p:nvSpPr>
        <p:spPr>
          <a:xfrm>
            <a:off x="-1" y="0"/>
            <a:ext cx="12188954" cy="685800"/>
          </a:xfrm>
          <a:prstGeom prst="rect">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26" name="TextBox 2"/>
          <p:cNvSpPr txBox="1"/>
          <p:nvPr/>
        </p:nvSpPr>
        <p:spPr>
          <a:xfrm>
            <a:off x="457200" y="164591"/>
            <a:ext cx="73152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FFFFF"/>
                </a:solidFill>
                <a:latin typeface="游ゴシック体 ボールド"/>
                <a:ea typeface="游ゴシック体 ボールド"/>
                <a:cs typeface="游ゴシック体 ボールド"/>
                <a:sym typeface="游ゴシック体 ボールド"/>
              </a:defRPr>
            </a:lvl1pPr>
          </a:lstStyle>
          <a:p>
            <a:pPr/>
            <a:r>
              <a:t>CASE STUDIES</a:t>
            </a:r>
          </a:p>
        </p:txBody>
      </p:sp>
      <p:sp>
        <p:nvSpPr>
          <p:cNvPr id="827" name="TextBox 3"/>
          <p:cNvSpPr txBox="1"/>
          <p:nvPr/>
        </p:nvSpPr>
        <p:spPr>
          <a:xfrm>
            <a:off x="10058400" y="164591"/>
            <a:ext cx="18288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FFFFFF"/>
                </a:solidFill>
                <a:latin typeface="游ゴシック体 ボールド"/>
                <a:ea typeface="游ゴシック体 ボールド"/>
                <a:cs typeface="游ゴシック体 ボールド"/>
                <a:sym typeface="游ゴシック体 ボールド"/>
              </a:defRPr>
            </a:lvl1pPr>
          </a:lstStyle>
          <a:p>
            <a:pPr/>
            <a:r>
              <a:t>11 / 13</a:t>
            </a:r>
          </a:p>
        </p:txBody>
      </p:sp>
      <p:sp>
        <p:nvSpPr>
          <p:cNvPr id="828" name="TextBox 4"/>
          <p:cNvSpPr txBox="1"/>
          <p:nvPr/>
        </p:nvSpPr>
        <p:spPr>
          <a:xfrm>
            <a:off x="457200" y="868680"/>
            <a:ext cx="7772400"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400">
                <a:solidFill>
                  <a:srgbClr val="1B2A4A"/>
                </a:solidFill>
                <a:latin typeface="游ゴシック体 ボールド"/>
                <a:ea typeface="游ゴシック体 ボールド"/>
                <a:cs typeface="游ゴシック体 ボールド"/>
                <a:sym typeface="游ゴシック体 ボールド"/>
              </a:defRPr>
            </a:lvl1pPr>
          </a:lstStyle>
          <a:p>
            <a:pPr/>
            <a:r>
              <a:t>店舗系（歯科矯正）</a:t>
            </a:r>
          </a:p>
        </p:txBody>
      </p:sp>
      <p:sp>
        <p:nvSpPr>
          <p:cNvPr id="829" name="TextBox 5"/>
          <p:cNvSpPr txBox="1"/>
          <p:nvPr/>
        </p:nvSpPr>
        <p:spPr>
          <a:xfrm>
            <a:off x="457200" y="1325880"/>
            <a:ext cx="77724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4748B"/>
                </a:solidFill>
                <a:latin typeface="游ゴシック体 ミディアム"/>
                <a:ea typeface="游ゴシック体 ミディアム"/>
                <a:cs typeface="游ゴシック体 ミディアム"/>
                <a:sym typeface="游ゴシック体 ミディアム"/>
              </a:defRPr>
            </a:lvl1pPr>
          </a:lstStyle>
          <a:p>
            <a:pPr/>
            <a:r>
              <a:t>顧客担当   |   リスティング / SNS広告</a:t>
            </a:r>
          </a:p>
        </p:txBody>
      </p:sp>
      <p:sp>
        <p:nvSpPr>
          <p:cNvPr id="830" name="Rectangle 6"/>
          <p:cNvSpPr/>
          <p:nvPr/>
        </p:nvSpPr>
        <p:spPr>
          <a:xfrm>
            <a:off x="457200" y="1645920"/>
            <a:ext cx="457200" cy="45721"/>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31" name="Rectangle 7"/>
          <p:cNvSpPr/>
          <p:nvPr/>
        </p:nvSpPr>
        <p:spPr>
          <a:xfrm>
            <a:off x="914399" y="1645920"/>
            <a:ext cx="10789922"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32" name="Oval 8"/>
          <p:cNvSpPr/>
          <p:nvPr/>
        </p:nvSpPr>
        <p:spPr>
          <a:xfrm>
            <a:off x="457199" y="1874518"/>
            <a:ext cx="274322" cy="274321"/>
          </a:xfrm>
          <a:prstGeom prst="ellipse">
            <a:avLst/>
          </a:prstGeom>
          <a:solidFill>
            <a:srgbClr val="EF4444"/>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33" name="TextBox 9"/>
          <p:cNvSpPr txBox="1"/>
          <p:nvPr/>
        </p:nvSpPr>
        <p:spPr>
          <a:xfrm>
            <a:off x="457199" y="1948178"/>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01</a:t>
            </a:r>
          </a:p>
        </p:txBody>
      </p:sp>
      <p:sp>
        <p:nvSpPr>
          <p:cNvPr id="834" name="TextBox 10"/>
          <p:cNvSpPr txBox="1"/>
          <p:nvPr/>
        </p:nvSpPr>
        <p:spPr>
          <a:xfrm>
            <a:off x="822960" y="1856231"/>
            <a:ext cx="3657601"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課題</a:t>
            </a:r>
          </a:p>
        </p:txBody>
      </p:sp>
      <p:sp>
        <p:nvSpPr>
          <p:cNvPr id="835" name="Rectangle 11"/>
          <p:cNvSpPr/>
          <p:nvPr/>
        </p:nvSpPr>
        <p:spPr>
          <a:xfrm>
            <a:off x="822960" y="2148838"/>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36" name="TextBox 12"/>
          <p:cNvSpPr txBox="1"/>
          <p:nvPr/>
        </p:nvSpPr>
        <p:spPr>
          <a:xfrm>
            <a:off x="594359" y="2331720"/>
            <a:ext cx="5074922" cy="4057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0000"/>
              </a:lnSpc>
              <a:defRPr sz="1100">
                <a:solidFill>
                  <a:srgbClr val="334455"/>
                </a:solidFill>
                <a:latin typeface="游ゴシック体 ミディアム"/>
                <a:ea typeface="游ゴシック体 ミディアム"/>
                <a:cs typeface="游ゴシック体 ミディアム"/>
                <a:sym typeface="游ゴシック体 ミディアム"/>
              </a:defRPr>
            </a:lvl1pPr>
          </a:lstStyle>
          <a:p>
            <a:pPr/>
            <a:r>
              <a:t>動画クリエイティブ制作で出演モデルが確保できず、クリエイティブ量産が制約に。改善サイクルが回らない状態だった。</a:t>
            </a:r>
          </a:p>
        </p:txBody>
      </p:sp>
      <p:sp>
        <p:nvSpPr>
          <p:cNvPr id="837" name="Oval 13"/>
          <p:cNvSpPr/>
          <p:nvPr/>
        </p:nvSpPr>
        <p:spPr>
          <a:xfrm>
            <a:off x="457199" y="3246120"/>
            <a:ext cx="274322" cy="274321"/>
          </a:xfrm>
          <a:prstGeom prst="ellipse">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38" name="TextBox 14"/>
          <p:cNvSpPr txBox="1"/>
          <p:nvPr/>
        </p:nvSpPr>
        <p:spPr>
          <a:xfrm>
            <a:off x="457199" y="3319780"/>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02</a:t>
            </a:r>
          </a:p>
        </p:txBody>
      </p:sp>
      <p:sp>
        <p:nvSpPr>
          <p:cNvPr id="839" name="TextBox 15"/>
          <p:cNvSpPr txBox="1"/>
          <p:nvPr/>
        </p:nvSpPr>
        <p:spPr>
          <a:xfrm>
            <a:off x="822960" y="3227832"/>
            <a:ext cx="3657601"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アプローチ</a:t>
            </a:r>
          </a:p>
        </p:txBody>
      </p:sp>
      <p:sp>
        <p:nvSpPr>
          <p:cNvPr id="840" name="Rectangle 16"/>
          <p:cNvSpPr/>
          <p:nvPr/>
        </p:nvSpPr>
        <p:spPr>
          <a:xfrm>
            <a:off x="822960" y="3520440"/>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41" name="TextBox 17"/>
          <p:cNvSpPr txBox="1"/>
          <p:nvPr/>
        </p:nvSpPr>
        <p:spPr>
          <a:xfrm>
            <a:off x="594359" y="3703320"/>
            <a:ext cx="5074922" cy="4057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0000"/>
              </a:lnSpc>
              <a:defRPr sz="1100">
                <a:solidFill>
                  <a:srgbClr val="334455"/>
                </a:solidFill>
                <a:latin typeface="游ゴシック体 ミディアム"/>
                <a:ea typeface="游ゴシック体 ミディアム"/>
                <a:cs typeface="游ゴシック体 ミディアム"/>
                <a:sym typeface="游ゴシック体 ミディアム"/>
              </a:defRPr>
            </a:lvl1pPr>
          </a:lstStyle>
          <a:p>
            <a:pPr/>
            <a:r>
              <a:t>AI技術を活用して動画出演モデルを生成。クリエイティブ制作のボトルネックをテクノロジーで突破し、量産・高速ABテストを実現。</a:t>
            </a:r>
          </a:p>
        </p:txBody>
      </p:sp>
      <p:sp>
        <p:nvSpPr>
          <p:cNvPr id="842" name="Oval 18"/>
          <p:cNvSpPr/>
          <p:nvPr/>
        </p:nvSpPr>
        <p:spPr>
          <a:xfrm>
            <a:off x="457199" y="5029199"/>
            <a:ext cx="274322" cy="274322"/>
          </a:xfrm>
          <a:prstGeom prst="ellipse">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43" name="TextBox 19"/>
          <p:cNvSpPr txBox="1"/>
          <p:nvPr/>
        </p:nvSpPr>
        <p:spPr>
          <a:xfrm>
            <a:off x="457199" y="5102859"/>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03</a:t>
            </a:r>
          </a:p>
        </p:txBody>
      </p:sp>
      <p:sp>
        <p:nvSpPr>
          <p:cNvPr id="844" name="TextBox 20"/>
          <p:cNvSpPr txBox="1"/>
          <p:nvPr/>
        </p:nvSpPr>
        <p:spPr>
          <a:xfrm>
            <a:off x="822960" y="5010911"/>
            <a:ext cx="36576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成果</a:t>
            </a:r>
          </a:p>
        </p:txBody>
      </p:sp>
      <p:sp>
        <p:nvSpPr>
          <p:cNvPr id="845" name="Rectangle 21"/>
          <p:cNvSpPr/>
          <p:nvPr/>
        </p:nvSpPr>
        <p:spPr>
          <a:xfrm>
            <a:off x="822960" y="5303520"/>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46" name="Rounded Rectangle 22"/>
          <p:cNvSpPr/>
          <p:nvPr/>
        </p:nvSpPr>
        <p:spPr>
          <a:xfrm>
            <a:off x="594359" y="5486400"/>
            <a:ext cx="2468881" cy="960120"/>
          </a:xfrm>
          <a:prstGeom prst="roundRect">
            <a:avLst>
              <a:gd name="adj" fmla="val 12000"/>
            </a:avLst>
          </a:prstGeom>
          <a:solidFill>
            <a:srgbClr val="D1FAE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47" name="TextBox 23"/>
          <p:cNvSpPr txBox="1"/>
          <p:nvPr/>
        </p:nvSpPr>
        <p:spPr>
          <a:xfrm>
            <a:off x="594359" y="5643879"/>
            <a:ext cx="246888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10B981"/>
                </a:solidFill>
                <a:latin typeface="游ゴシック体 ボールド"/>
                <a:ea typeface="游ゴシック体 ボールド"/>
                <a:cs typeface="游ゴシック体 ボールド"/>
                <a:sym typeface="游ゴシック体 ボールド"/>
              </a:defRPr>
            </a:lvl1pPr>
          </a:lstStyle>
          <a:p>
            <a:pPr/>
            <a:r>
              <a:t>1/3</a:t>
            </a:r>
          </a:p>
        </p:txBody>
      </p:sp>
      <p:sp>
        <p:nvSpPr>
          <p:cNvPr id="848" name="TextBox 24"/>
          <p:cNvSpPr txBox="1"/>
          <p:nvPr/>
        </p:nvSpPr>
        <p:spPr>
          <a:xfrm>
            <a:off x="594359" y="6154420"/>
            <a:ext cx="24688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64748B"/>
                </a:solidFill>
                <a:latin typeface="游ゴシック体 ミディアム"/>
                <a:ea typeface="游ゴシック体 ミディアム"/>
                <a:cs typeface="游ゴシック体 ミディアム"/>
                <a:sym typeface="游ゴシック体 ミディアム"/>
              </a:defRPr>
            </a:lvl1pPr>
          </a:lstStyle>
          <a:p>
            <a:pPr/>
            <a:r>
              <a:t>予約CPA</a:t>
            </a:r>
          </a:p>
        </p:txBody>
      </p:sp>
      <p:sp>
        <p:nvSpPr>
          <p:cNvPr id="849" name="Rounded Rectangle 25"/>
          <p:cNvSpPr/>
          <p:nvPr/>
        </p:nvSpPr>
        <p:spPr>
          <a:xfrm>
            <a:off x="3200400" y="5486400"/>
            <a:ext cx="2468880" cy="960120"/>
          </a:xfrm>
          <a:prstGeom prst="roundRect">
            <a:avLst>
              <a:gd name="adj" fmla="val 12000"/>
            </a:avLst>
          </a:prstGeom>
          <a:solidFill>
            <a:srgbClr val="D1FAE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50" name="TextBox 26"/>
          <p:cNvSpPr txBox="1"/>
          <p:nvPr/>
        </p:nvSpPr>
        <p:spPr>
          <a:xfrm>
            <a:off x="3200399" y="5643879"/>
            <a:ext cx="246888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10B981"/>
                </a:solidFill>
                <a:latin typeface="游ゴシック体 ボールド"/>
                <a:ea typeface="游ゴシック体 ボールド"/>
                <a:cs typeface="游ゴシック体 ボールド"/>
                <a:sym typeface="游ゴシック体 ボールド"/>
              </a:defRPr>
            </a:lvl1pPr>
          </a:lstStyle>
          <a:p>
            <a:pPr/>
            <a:r>
              <a:t>-50%</a:t>
            </a:r>
          </a:p>
        </p:txBody>
      </p:sp>
      <p:sp>
        <p:nvSpPr>
          <p:cNvPr id="851" name="TextBox 27"/>
          <p:cNvSpPr txBox="1"/>
          <p:nvPr/>
        </p:nvSpPr>
        <p:spPr>
          <a:xfrm>
            <a:off x="3200399" y="6154420"/>
            <a:ext cx="24688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64748B"/>
                </a:solidFill>
                <a:latin typeface="游ゴシック体 ミディアム"/>
                <a:ea typeface="游ゴシック体 ミディアム"/>
                <a:cs typeface="游ゴシック体 ミディアム"/>
                <a:sym typeface="游ゴシック体 ミディアム"/>
              </a:defRPr>
            </a:lvl1pPr>
          </a:lstStyle>
          <a:p>
            <a:pPr/>
            <a:r>
              <a:t>来院CPA</a:t>
            </a:r>
          </a:p>
        </p:txBody>
      </p:sp>
      <p:sp>
        <p:nvSpPr>
          <p:cNvPr id="852" name="Rounded Rectangle 28"/>
          <p:cNvSpPr/>
          <p:nvPr/>
        </p:nvSpPr>
        <p:spPr>
          <a:xfrm>
            <a:off x="5943600" y="1828800"/>
            <a:ext cx="5852160" cy="4572000"/>
          </a:xfrm>
          <a:prstGeom prst="roundRect">
            <a:avLst>
              <a:gd name="adj" fmla="val 12000"/>
            </a:avLst>
          </a:prstGeom>
          <a:solidFill>
            <a:srgbClr val="F1F5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53" name="TextBox 29"/>
          <p:cNvSpPr txBox="1"/>
          <p:nvPr/>
        </p:nvSpPr>
        <p:spPr>
          <a:xfrm>
            <a:off x="6217920" y="1965960"/>
            <a:ext cx="5303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4748B"/>
                </a:solidFill>
                <a:latin typeface="游ゴシック体 ボールド"/>
                <a:ea typeface="游ゴシック体 ボールド"/>
                <a:cs typeface="游ゴシック体 ボールド"/>
                <a:sym typeface="游ゴシック体 ボールド"/>
              </a:defRPr>
            </a:lvl1pPr>
          </a:lstStyle>
          <a:p>
            <a:pPr/>
            <a:r>
              <a:t>施策の図解</a:t>
            </a:r>
          </a:p>
        </p:txBody>
      </p:sp>
      <p:sp>
        <p:nvSpPr>
          <p:cNvPr id="854" name="Rectangle 30"/>
          <p:cNvSpPr/>
          <p:nvPr/>
        </p:nvSpPr>
        <p:spPr>
          <a:xfrm>
            <a:off x="6217920" y="2285999"/>
            <a:ext cx="365761" cy="36578"/>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55" name="TextBox 31"/>
          <p:cNvSpPr txBox="1"/>
          <p:nvPr/>
        </p:nvSpPr>
        <p:spPr>
          <a:xfrm>
            <a:off x="6217920" y="2423160"/>
            <a:ext cx="5303521" cy="1460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1B2A4A"/>
                </a:solidFill>
                <a:latin typeface="游ゴシック体 ボールド"/>
                <a:ea typeface="游ゴシック体 ボールド"/>
                <a:cs typeface="游ゴシック体 ボールド"/>
                <a:sym typeface="游ゴシック体 ボールド"/>
              </a:defRPr>
            </a:lvl1pPr>
          </a:lstStyle>
          <a:p>
            <a:pPr/>
            <a:r>
              <a:t>AI技術で動画モデル不足を突破  |  制作ボトルネック解消</a:t>
            </a:r>
          </a:p>
        </p:txBody>
      </p:sp>
      <p:sp>
        <p:nvSpPr>
          <p:cNvPr id="856" name="TextBox 32"/>
          <p:cNvSpPr txBox="1"/>
          <p:nvPr/>
        </p:nvSpPr>
        <p:spPr>
          <a:xfrm>
            <a:off x="6309359" y="2743199"/>
            <a:ext cx="51206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EF4444"/>
                </a:solidFill>
                <a:latin typeface="游ゴシック体 ボールド"/>
                <a:ea typeface="游ゴシック体 ボールド"/>
                <a:cs typeface="游ゴシック体 ボールド"/>
                <a:sym typeface="游ゴシック体 ボールド"/>
              </a:defRPr>
            </a:lvl1pPr>
          </a:lstStyle>
          <a:p>
            <a:pPr/>
            <a:r>
              <a:t>⚠ Before : クリエイティブ制作のボトルネック</a:t>
            </a:r>
          </a:p>
        </p:txBody>
      </p:sp>
      <p:sp>
        <p:nvSpPr>
          <p:cNvPr id="857" name="Rounded Rectangle 33"/>
          <p:cNvSpPr/>
          <p:nvPr/>
        </p:nvSpPr>
        <p:spPr>
          <a:xfrm>
            <a:off x="6309359" y="3017520"/>
            <a:ext cx="5120641" cy="502921"/>
          </a:xfrm>
          <a:prstGeom prst="roundRect">
            <a:avLst>
              <a:gd name="adj" fmla="val 12000"/>
            </a:avLst>
          </a:prstGeom>
          <a:solidFill>
            <a:srgbClr val="FEE2E2"/>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58" name="TextBox 34"/>
          <p:cNvSpPr txBox="1"/>
          <p:nvPr/>
        </p:nvSpPr>
        <p:spPr>
          <a:xfrm>
            <a:off x="6400799" y="3195954"/>
            <a:ext cx="4937762" cy="1460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EF4444"/>
                </a:solidFill>
                <a:latin typeface="游ゴシック体 ボールド"/>
                <a:ea typeface="游ゴシック体 ボールド"/>
                <a:cs typeface="游ゴシック体 ボールド"/>
                <a:sym typeface="游ゴシック体 ボールド"/>
              </a:defRPr>
            </a:lvl1pPr>
          </a:lstStyle>
          <a:p>
            <a:pPr/>
            <a:r>
              <a:t>出演モデル不足  →  動画クリエイティブを量産できない  →  改善が頭打ち</a:t>
            </a:r>
          </a:p>
        </p:txBody>
      </p:sp>
      <p:sp>
        <p:nvSpPr>
          <p:cNvPr id="859" name="Down Arrow 35"/>
          <p:cNvSpPr/>
          <p:nvPr/>
        </p:nvSpPr>
        <p:spPr>
          <a:xfrm>
            <a:off x="8714231" y="3566159"/>
            <a:ext cx="310897" cy="2743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5400" y="10800"/>
                </a:lnTo>
                <a:lnTo>
                  <a:pt x="5400" y="0"/>
                </a:lnTo>
                <a:lnTo>
                  <a:pt x="16200" y="0"/>
                </a:lnTo>
                <a:lnTo>
                  <a:pt x="16200" y="10800"/>
                </a:lnTo>
                <a:lnTo>
                  <a:pt x="21600" y="10800"/>
                </a:lnTo>
                <a:lnTo>
                  <a:pt x="10800" y="21600"/>
                </a:lnTo>
                <a:close/>
              </a:path>
            </a:pathLst>
          </a:custGeom>
          <a:solidFill>
            <a:srgbClr val="F59E0B"/>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60" name="TextBox 36"/>
          <p:cNvSpPr txBox="1"/>
          <p:nvPr/>
        </p:nvSpPr>
        <p:spPr>
          <a:xfrm>
            <a:off x="6309359" y="3931920"/>
            <a:ext cx="512064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8B5CF6"/>
                </a:solidFill>
                <a:latin typeface="游ゴシック体 ボールド"/>
                <a:ea typeface="游ゴシック体 ボールド"/>
                <a:cs typeface="游ゴシック体 ボールド"/>
                <a:sym typeface="游ゴシック体 ボールド"/>
              </a:defRPr>
            </a:lvl1pPr>
          </a:lstStyle>
          <a:p>
            <a:pPr/>
            <a:r>
              <a:t>🤖 After : AI技術で突破</a:t>
            </a:r>
          </a:p>
        </p:txBody>
      </p:sp>
      <p:sp>
        <p:nvSpPr>
          <p:cNvPr id="861" name="Rounded Rectangle 37"/>
          <p:cNvSpPr/>
          <p:nvPr/>
        </p:nvSpPr>
        <p:spPr>
          <a:xfrm>
            <a:off x="6309359" y="4297679"/>
            <a:ext cx="971551" cy="1005841"/>
          </a:xfrm>
          <a:prstGeom prst="roundRect">
            <a:avLst>
              <a:gd name="adj" fmla="val 12000"/>
            </a:avLst>
          </a:prstGeom>
          <a:solidFill>
            <a:srgbClr val="8B5C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62" name="TextBox 38"/>
          <p:cNvSpPr txBox="1"/>
          <p:nvPr/>
        </p:nvSpPr>
        <p:spPr>
          <a:xfrm>
            <a:off x="6309359" y="4641848"/>
            <a:ext cx="97155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FFFFFF"/>
                </a:solidFill>
                <a:latin typeface="游ゴシック体 ボールド"/>
                <a:ea typeface="游ゴシック体 ボールド"/>
                <a:cs typeface="游ゴシック体 ボールド"/>
                <a:sym typeface="游ゴシック体 ボールド"/>
              </a:defRPr>
            </a:pPr>
            <a:r>
              <a:t>AI モデル</a:t>
            </a:r>
          </a:p>
          <a:p>
            <a:pPr algn="ctr">
              <a:defRPr sz="1000">
                <a:solidFill>
                  <a:srgbClr val="FFFFFF"/>
                </a:solidFill>
                <a:latin typeface="游ゴシック体 ボールド"/>
                <a:ea typeface="游ゴシック体 ボールド"/>
                <a:cs typeface="游ゴシック体 ボールド"/>
                <a:sym typeface="游ゴシック体 ボールド"/>
              </a:defRPr>
            </a:pPr>
            <a:r>
              <a:t>生成</a:t>
            </a:r>
          </a:p>
        </p:txBody>
      </p:sp>
      <p:sp>
        <p:nvSpPr>
          <p:cNvPr id="863" name="Right Arrow 39"/>
          <p:cNvSpPr/>
          <p:nvPr/>
        </p:nvSpPr>
        <p:spPr>
          <a:xfrm>
            <a:off x="7372350" y="4663438"/>
            <a:ext cx="228600" cy="274321"/>
          </a:xfrm>
          <a:prstGeom prst="rightArrow">
            <a:avLst>
              <a:gd name="adj1" fmla="val 50000"/>
              <a:gd name="adj2" fmla="val 50000"/>
            </a:avLst>
          </a:prstGeom>
          <a:solidFill>
            <a:srgbClr val="94A3B8"/>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64" name="Rounded Rectangle 40"/>
          <p:cNvSpPr/>
          <p:nvPr/>
        </p:nvSpPr>
        <p:spPr>
          <a:xfrm>
            <a:off x="7692390" y="4297679"/>
            <a:ext cx="971551" cy="1005841"/>
          </a:xfrm>
          <a:prstGeom prst="roundRect">
            <a:avLst>
              <a:gd name="adj" fmla="val 12000"/>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65" name="TextBox 41"/>
          <p:cNvSpPr txBox="1"/>
          <p:nvPr/>
        </p:nvSpPr>
        <p:spPr>
          <a:xfrm>
            <a:off x="7692390" y="4641848"/>
            <a:ext cx="97155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FFFFFF"/>
                </a:solidFill>
                <a:latin typeface="游ゴシック体 ボールド"/>
                <a:ea typeface="游ゴシック体 ボールド"/>
                <a:cs typeface="游ゴシック体 ボールド"/>
                <a:sym typeface="游ゴシック体 ボールド"/>
              </a:defRPr>
            </a:pPr>
            <a:r>
              <a:t>動画</a:t>
            </a:r>
          </a:p>
          <a:p>
            <a:pPr algn="ctr">
              <a:defRPr sz="1000">
                <a:solidFill>
                  <a:srgbClr val="FFFFFF"/>
                </a:solidFill>
                <a:latin typeface="游ゴシック体 ボールド"/>
                <a:ea typeface="游ゴシック体 ボールド"/>
                <a:cs typeface="游ゴシック体 ボールド"/>
                <a:sym typeface="游ゴシック体 ボールド"/>
              </a:defRPr>
            </a:pPr>
            <a:r>
              <a:t>クリエイティブ</a:t>
            </a:r>
          </a:p>
        </p:txBody>
      </p:sp>
      <p:sp>
        <p:nvSpPr>
          <p:cNvPr id="866" name="Right Arrow 42"/>
          <p:cNvSpPr/>
          <p:nvPr/>
        </p:nvSpPr>
        <p:spPr>
          <a:xfrm>
            <a:off x="8755380" y="4663438"/>
            <a:ext cx="228601" cy="274321"/>
          </a:xfrm>
          <a:prstGeom prst="rightArrow">
            <a:avLst>
              <a:gd name="adj1" fmla="val 50000"/>
              <a:gd name="adj2" fmla="val 50000"/>
            </a:avLst>
          </a:prstGeom>
          <a:solidFill>
            <a:srgbClr val="94A3B8"/>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67" name="Rounded Rectangle 43"/>
          <p:cNvSpPr/>
          <p:nvPr/>
        </p:nvSpPr>
        <p:spPr>
          <a:xfrm>
            <a:off x="9075419" y="4297679"/>
            <a:ext cx="971551" cy="1005841"/>
          </a:xfrm>
          <a:prstGeom prst="roundRect">
            <a:avLst>
              <a:gd name="adj" fmla="val 12000"/>
            </a:avLst>
          </a:prstGeom>
          <a:solidFill>
            <a:srgbClr val="F59E0B"/>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68" name="TextBox 44"/>
          <p:cNvSpPr txBox="1"/>
          <p:nvPr/>
        </p:nvSpPr>
        <p:spPr>
          <a:xfrm>
            <a:off x="9075419" y="4641848"/>
            <a:ext cx="97155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FFFFFF"/>
                </a:solidFill>
                <a:latin typeface="游ゴシック体 ボールド"/>
                <a:ea typeface="游ゴシック体 ボールド"/>
                <a:cs typeface="游ゴシック体 ボールド"/>
                <a:sym typeface="游ゴシック体 ボールド"/>
              </a:defRPr>
            </a:pPr>
            <a:r>
              <a:t>量産 × 高速</a:t>
            </a:r>
          </a:p>
          <a:p>
            <a:pPr algn="ctr">
              <a:defRPr sz="1000">
                <a:solidFill>
                  <a:srgbClr val="FFFFFF"/>
                </a:solidFill>
                <a:latin typeface="游ゴシック体 ボールド"/>
                <a:ea typeface="游ゴシック体 ボールド"/>
                <a:cs typeface="游ゴシック体 ボールド"/>
                <a:sym typeface="游ゴシック体 ボールド"/>
              </a:defRPr>
            </a:pPr>
            <a:r>
              <a:t>ABテスト</a:t>
            </a:r>
          </a:p>
        </p:txBody>
      </p:sp>
      <p:sp>
        <p:nvSpPr>
          <p:cNvPr id="869" name="Right Arrow 45"/>
          <p:cNvSpPr/>
          <p:nvPr/>
        </p:nvSpPr>
        <p:spPr>
          <a:xfrm>
            <a:off x="10138409" y="4663438"/>
            <a:ext cx="228601" cy="274321"/>
          </a:xfrm>
          <a:prstGeom prst="rightArrow">
            <a:avLst>
              <a:gd name="adj1" fmla="val 50000"/>
              <a:gd name="adj2" fmla="val 50000"/>
            </a:avLst>
          </a:prstGeom>
          <a:solidFill>
            <a:srgbClr val="94A3B8"/>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70" name="Rounded Rectangle 46"/>
          <p:cNvSpPr/>
          <p:nvPr/>
        </p:nvSpPr>
        <p:spPr>
          <a:xfrm>
            <a:off x="10458450" y="4297679"/>
            <a:ext cx="971550" cy="1005841"/>
          </a:xfrm>
          <a:prstGeom prst="roundRect">
            <a:avLst>
              <a:gd name="adj" fmla="val 12000"/>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71" name="TextBox 47"/>
          <p:cNvSpPr txBox="1"/>
          <p:nvPr/>
        </p:nvSpPr>
        <p:spPr>
          <a:xfrm>
            <a:off x="10458450" y="4641848"/>
            <a:ext cx="971550"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FFFFFF"/>
                </a:solidFill>
                <a:latin typeface="游ゴシック体 ボールド"/>
                <a:ea typeface="游ゴシック体 ボールド"/>
                <a:cs typeface="游ゴシック体 ボールド"/>
                <a:sym typeface="游ゴシック体 ボールド"/>
              </a:defRPr>
            </a:pPr>
            <a:r>
              <a:t>予約CPA 1/3</a:t>
            </a:r>
          </a:p>
          <a:p>
            <a:pPr algn="ctr">
              <a:defRPr sz="1000">
                <a:solidFill>
                  <a:srgbClr val="FFFFFF"/>
                </a:solidFill>
                <a:latin typeface="游ゴシック体 ボールド"/>
                <a:ea typeface="游ゴシック体 ボールド"/>
                <a:cs typeface="游ゴシック体 ボールド"/>
                <a:sym typeface="游ゴシック体 ボールド"/>
              </a:defRPr>
            </a:pPr>
            <a:r>
              <a:t>来院CPA -50%</a:t>
            </a:r>
          </a:p>
        </p:txBody>
      </p:sp>
      <p:sp>
        <p:nvSpPr>
          <p:cNvPr id="872" name="Rounded Rectangle 48"/>
          <p:cNvSpPr/>
          <p:nvPr/>
        </p:nvSpPr>
        <p:spPr>
          <a:xfrm>
            <a:off x="6217920" y="5806440"/>
            <a:ext cx="5303521" cy="502921"/>
          </a:xfrm>
          <a:prstGeom prst="roundRect">
            <a:avLst>
              <a:gd name="adj" fmla="val 12000"/>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73" name="TextBox 49"/>
          <p:cNvSpPr txBox="1"/>
          <p:nvPr/>
        </p:nvSpPr>
        <p:spPr>
          <a:xfrm>
            <a:off x="6217920" y="5994399"/>
            <a:ext cx="5303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FFFFF"/>
                </a:solidFill>
                <a:latin typeface="游ゴシック体 ボールド"/>
                <a:ea typeface="游ゴシック体 ボールド"/>
                <a:cs typeface="游ゴシック体 ボールド"/>
                <a:sym typeface="游ゴシック体 ボールド"/>
              </a:defRPr>
            </a:lvl1pPr>
          </a:lstStyle>
          <a:p>
            <a:pPr/>
            <a:r>
              <a:t>予約CPA  1/3  |  来院CPA  約-50%   ⇒  テクノロジーで制作の限界を突破</a:t>
            </a:r>
          </a:p>
        </p:txBody>
      </p:sp>
      <p:sp>
        <p:nvSpPr>
          <p:cNvPr id="874" name="TextBox 50"/>
          <p:cNvSpPr txBox="1"/>
          <p:nvPr/>
        </p:nvSpPr>
        <p:spPr>
          <a:xfrm>
            <a:off x="457199" y="6565392"/>
            <a:ext cx="112471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94A3B8"/>
                </a:solidFill>
                <a:latin typeface="游ゴシック体 ミディアム"/>
                <a:ea typeface="游ゴシック体 ミディアム"/>
                <a:cs typeface="游ゴシック体 ミディアム"/>
                <a:sym typeface="游ゴシック体 ミディアム"/>
              </a:defRPr>
            </a:lvl1pPr>
          </a:lstStyle>
          <a:p>
            <a:pPr/>
            <a:r>
              <a:t>※ 守秘義務の関係上、社名は非公開としております。詳細は個別にご説明いたします。</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76" name="Rectangle 1"/>
          <p:cNvSpPr/>
          <p:nvPr/>
        </p:nvSpPr>
        <p:spPr>
          <a:xfrm>
            <a:off x="-1" y="0"/>
            <a:ext cx="12188954" cy="685800"/>
          </a:xfrm>
          <a:prstGeom prst="rect">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77" name="TextBox 2"/>
          <p:cNvSpPr txBox="1"/>
          <p:nvPr/>
        </p:nvSpPr>
        <p:spPr>
          <a:xfrm>
            <a:off x="457200" y="164591"/>
            <a:ext cx="73152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FFFFF"/>
                </a:solidFill>
                <a:latin typeface="游ゴシック体 ボールド"/>
                <a:ea typeface="游ゴシック体 ボールド"/>
                <a:cs typeface="游ゴシック体 ボールド"/>
                <a:sym typeface="游ゴシック体 ボールド"/>
              </a:defRPr>
            </a:lvl1pPr>
          </a:lstStyle>
          <a:p>
            <a:pPr/>
            <a:r>
              <a:t>CASE STUDIES</a:t>
            </a:r>
          </a:p>
        </p:txBody>
      </p:sp>
      <p:sp>
        <p:nvSpPr>
          <p:cNvPr id="878" name="TextBox 3"/>
          <p:cNvSpPr txBox="1"/>
          <p:nvPr/>
        </p:nvSpPr>
        <p:spPr>
          <a:xfrm>
            <a:off x="10058400" y="164591"/>
            <a:ext cx="18288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FFFFFF"/>
                </a:solidFill>
                <a:latin typeface="游ゴシック体 ボールド"/>
                <a:ea typeface="游ゴシック体 ボールド"/>
                <a:cs typeface="游ゴシック体 ボールド"/>
                <a:sym typeface="游ゴシック体 ボールド"/>
              </a:defRPr>
            </a:lvl1pPr>
          </a:lstStyle>
          <a:p>
            <a:pPr/>
            <a:r>
              <a:t>12 / 13</a:t>
            </a:r>
          </a:p>
        </p:txBody>
      </p:sp>
      <p:sp>
        <p:nvSpPr>
          <p:cNvPr id="879" name="TextBox 4"/>
          <p:cNvSpPr txBox="1"/>
          <p:nvPr/>
        </p:nvSpPr>
        <p:spPr>
          <a:xfrm>
            <a:off x="457200" y="868680"/>
            <a:ext cx="7772400"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400">
                <a:solidFill>
                  <a:srgbClr val="1B2A4A"/>
                </a:solidFill>
                <a:latin typeface="游ゴシック体 ボールド"/>
                <a:ea typeface="游ゴシック体 ボールド"/>
                <a:cs typeface="游ゴシック体 ボールド"/>
                <a:sym typeface="游ゴシック体 ボールド"/>
              </a:defRPr>
            </a:lvl1pPr>
          </a:lstStyle>
          <a:p>
            <a:pPr/>
            <a:r>
              <a:t>店舗系（着物）</a:t>
            </a:r>
          </a:p>
        </p:txBody>
      </p:sp>
      <p:sp>
        <p:nvSpPr>
          <p:cNvPr id="880" name="TextBox 5"/>
          <p:cNvSpPr txBox="1"/>
          <p:nvPr/>
        </p:nvSpPr>
        <p:spPr>
          <a:xfrm>
            <a:off x="457200" y="1325880"/>
            <a:ext cx="77724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4748B"/>
                </a:solidFill>
                <a:latin typeface="游ゴシック体 ミディアム"/>
                <a:ea typeface="游ゴシック体 ミディアム"/>
                <a:cs typeface="游ゴシック体 ミディアム"/>
                <a:sym typeface="游ゴシック体 ミディアム"/>
              </a:defRPr>
            </a:lvl1pPr>
          </a:lstStyle>
          <a:p>
            <a:pPr/>
            <a:r>
              <a:t>顧客担当 兼 案件統括   |   リスティング / DSP / LINE運用</a:t>
            </a:r>
          </a:p>
        </p:txBody>
      </p:sp>
      <p:sp>
        <p:nvSpPr>
          <p:cNvPr id="881" name="Rectangle 6"/>
          <p:cNvSpPr/>
          <p:nvPr/>
        </p:nvSpPr>
        <p:spPr>
          <a:xfrm>
            <a:off x="457200" y="1645920"/>
            <a:ext cx="457200" cy="45721"/>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82" name="Rectangle 7"/>
          <p:cNvSpPr/>
          <p:nvPr/>
        </p:nvSpPr>
        <p:spPr>
          <a:xfrm>
            <a:off x="914399" y="1645920"/>
            <a:ext cx="10789922"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83" name="Oval 8"/>
          <p:cNvSpPr/>
          <p:nvPr/>
        </p:nvSpPr>
        <p:spPr>
          <a:xfrm>
            <a:off x="457199" y="1874518"/>
            <a:ext cx="274322" cy="274321"/>
          </a:xfrm>
          <a:prstGeom prst="ellipse">
            <a:avLst/>
          </a:prstGeom>
          <a:solidFill>
            <a:srgbClr val="EF4444"/>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84" name="TextBox 9"/>
          <p:cNvSpPr txBox="1"/>
          <p:nvPr/>
        </p:nvSpPr>
        <p:spPr>
          <a:xfrm>
            <a:off x="457199" y="1948178"/>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01</a:t>
            </a:r>
          </a:p>
        </p:txBody>
      </p:sp>
      <p:sp>
        <p:nvSpPr>
          <p:cNvPr id="885" name="TextBox 10"/>
          <p:cNvSpPr txBox="1"/>
          <p:nvPr/>
        </p:nvSpPr>
        <p:spPr>
          <a:xfrm>
            <a:off x="822960" y="1856231"/>
            <a:ext cx="3657601"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課題</a:t>
            </a:r>
          </a:p>
        </p:txBody>
      </p:sp>
      <p:sp>
        <p:nvSpPr>
          <p:cNvPr id="886" name="Rectangle 11"/>
          <p:cNvSpPr/>
          <p:nvPr/>
        </p:nvSpPr>
        <p:spPr>
          <a:xfrm>
            <a:off x="822960" y="2148838"/>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87" name="TextBox 12"/>
          <p:cNvSpPr txBox="1"/>
          <p:nvPr/>
        </p:nvSpPr>
        <p:spPr>
          <a:xfrm>
            <a:off x="594359" y="2331720"/>
            <a:ext cx="5074922" cy="4057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0000"/>
              </a:lnSpc>
              <a:defRPr sz="1100">
                <a:solidFill>
                  <a:srgbClr val="334455"/>
                </a:solidFill>
                <a:latin typeface="游ゴシック体 ミディアム"/>
                <a:ea typeface="游ゴシック体 ミディアム"/>
                <a:cs typeface="游ゴシック体 ミディアム"/>
                <a:sym typeface="游ゴシック体 ミディアム"/>
              </a:defRPr>
            </a:lvl1pPr>
          </a:lstStyle>
          <a:p>
            <a:pPr/>
            <a:r>
              <a:t>定量データだけのLP改善ではCVR改善が頭打ち。ユーザーが「なぜ離脱するのか」が見えていなかった。</a:t>
            </a:r>
          </a:p>
        </p:txBody>
      </p:sp>
      <p:sp>
        <p:nvSpPr>
          <p:cNvPr id="888" name="Oval 13"/>
          <p:cNvSpPr/>
          <p:nvPr/>
        </p:nvSpPr>
        <p:spPr>
          <a:xfrm>
            <a:off x="457199" y="3246120"/>
            <a:ext cx="274322" cy="274321"/>
          </a:xfrm>
          <a:prstGeom prst="ellipse">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89" name="TextBox 14"/>
          <p:cNvSpPr txBox="1"/>
          <p:nvPr/>
        </p:nvSpPr>
        <p:spPr>
          <a:xfrm>
            <a:off x="457199" y="3319780"/>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02</a:t>
            </a:r>
          </a:p>
        </p:txBody>
      </p:sp>
      <p:sp>
        <p:nvSpPr>
          <p:cNvPr id="890" name="TextBox 15"/>
          <p:cNvSpPr txBox="1"/>
          <p:nvPr/>
        </p:nvSpPr>
        <p:spPr>
          <a:xfrm>
            <a:off x="822960" y="3227832"/>
            <a:ext cx="3657601"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アプローチ</a:t>
            </a:r>
          </a:p>
        </p:txBody>
      </p:sp>
      <p:sp>
        <p:nvSpPr>
          <p:cNvPr id="891" name="Rectangle 16"/>
          <p:cNvSpPr/>
          <p:nvPr/>
        </p:nvSpPr>
        <p:spPr>
          <a:xfrm>
            <a:off x="822960" y="3520440"/>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92" name="TextBox 17"/>
          <p:cNvSpPr txBox="1"/>
          <p:nvPr/>
        </p:nvSpPr>
        <p:spPr>
          <a:xfrm>
            <a:off x="594359" y="3703320"/>
            <a:ext cx="5074922" cy="4057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0000"/>
              </a:lnSpc>
              <a:defRPr sz="1100">
                <a:solidFill>
                  <a:srgbClr val="334455"/>
                </a:solidFill>
                <a:latin typeface="游ゴシック体 ミディアム"/>
                <a:ea typeface="游ゴシック体 ミディアム"/>
                <a:cs typeface="游ゴシック体 ミディアム"/>
                <a:sym typeface="游ゴシック体 ミディアム"/>
              </a:defRPr>
            </a:lvl1pPr>
          </a:lstStyle>
          <a:p>
            <a:pPr/>
            <a:r>
              <a:t>定量データに加え、定性的なユーザー行動データ（ヒートマップ・セッション）も活用したLP改善仮説検証を設計・実施。改善サイクルを構築。</a:t>
            </a:r>
          </a:p>
        </p:txBody>
      </p:sp>
      <p:sp>
        <p:nvSpPr>
          <p:cNvPr id="893" name="Oval 18"/>
          <p:cNvSpPr/>
          <p:nvPr/>
        </p:nvSpPr>
        <p:spPr>
          <a:xfrm>
            <a:off x="457199" y="5029199"/>
            <a:ext cx="274322" cy="274322"/>
          </a:xfrm>
          <a:prstGeom prst="ellipse">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94" name="TextBox 19"/>
          <p:cNvSpPr txBox="1"/>
          <p:nvPr/>
        </p:nvSpPr>
        <p:spPr>
          <a:xfrm>
            <a:off x="457199" y="5102859"/>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03</a:t>
            </a:r>
          </a:p>
        </p:txBody>
      </p:sp>
      <p:sp>
        <p:nvSpPr>
          <p:cNvPr id="895" name="TextBox 20"/>
          <p:cNvSpPr txBox="1"/>
          <p:nvPr/>
        </p:nvSpPr>
        <p:spPr>
          <a:xfrm>
            <a:off x="822960" y="5010911"/>
            <a:ext cx="36576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成果</a:t>
            </a:r>
          </a:p>
        </p:txBody>
      </p:sp>
      <p:sp>
        <p:nvSpPr>
          <p:cNvPr id="896" name="Rectangle 21"/>
          <p:cNvSpPr/>
          <p:nvPr/>
        </p:nvSpPr>
        <p:spPr>
          <a:xfrm>
            <a:off x="822960" y="5303520"/>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97" name="Rounded Rectangle 22"/>
          <p:cNvSpPr/>
          <p:nvPr/>
        </p:nvSpPr>
        <p:spPr>
          <a:xfrm>
            <a:off x="594359" y="5486400"/>
            <a:ext cx="2468881" cy="960120"/>
          </a:xfrm>
          <a:prstGeom prst="roundRect">
            <a:avLst>
              <a:gd name="adj" fmla="val 12000"/>
            </a:avLst>
          </a:prstGeom>
          <a:solidFill>
            <a:srgbClr val="D1FAE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898" name="TextBox 23"/>
          <p:cNvSpPr txBox="1"/>
          <p:nvPr/>
        </p:nvSpPr>
        <p:spPr>
          <a:xfrm>
            <a:off x="594359" y="5643879"/>
            <a:ext cx="246888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10B981"/>
                </a:solidFill>
                <a:latin typeface="游ゴシック体 ボールド"/>
                <a:ea typeface="游ゴシック体 ボールド"/>
                <a:cs typeface="游ゴシック体 ボールド"/>
                <a:sym typeface="游ゴシック体 ボールド"/>
              </a:defRPr>
            </a:lvl1pPr>
          </a:lstStyle>
          <a:p>
            <a:pPr/>
            <a:r>
              <a:t>約150%</a:t>
            </a:r>
          </a:p>
        </p:txBody>
      </p:sp>
      <p:sp>
        <p:nvSpPr>
          <p:cNvPr id="899" name="TextBox 24"/>
          <p:cNvSpPr txBox="1"/>
          <p:nvPr/>
        </p:nvSpPr>
        <p:spPr>
          <a:xfrm>
            <a:off x="594359" y="6154420"/>
            <a:ext cx="24688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64748B"/>
                </a:solidFill>
                <a:latin typeface="游ゴシック体 ミディアム"/>
                <a:ea typeface="游ゴシック体 ミディアム"/>
                <a:cs typeface="游ゴシック体 ミディアム"/>
                <a:sym typeface="游ゴシック体 ミディアム"/>
              </a:defRPr>
            </a:lvl1pPr>
          </a:lstStyle>
          <a:p>
            <a:pPr/>
            <a:r>
              <a:t>CVR（対象ページ）</a:t>
            </a:r>
          </a:p>
        </p:txBody>
      </p:sp>
      <p:sp>
        <p:nvSpPr>
          <p:cNvPr id="900" name="Rounded Rectangle 25"/>
          <p:cNvSpPr/>
          <p:nvPr/>
        </p:nvSpPr>
        <p:spPr>
          <a:xfrm>
            <a:off x="3200400" y="5486400"/>
            <a:ext cx="2468880" cy="960120"/>
          </a:xfrm>
          <a:prstGeom prst="roundRect">
            <a:avLst>
              <a:gd name="adj" fmla="val 12000"/>
            </a:avLst>
          </a:prstGeom>
          <a:solidFill>
            <a:srgbClr val="D1FAE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01" name="TextBox 26"/>
          <p:cNvSpPr txBox="1"/>
          <p:nvPr/>
        </p:nvSpPr>
        <p:spPr>
          <a:xfrm>
            <a:off x="3200399" y="5643879"/>
            <a:ext cx="246888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3B82F6"/>
                </a:solidFill>
                <a:latin typeface="游ゴシック体 ボールド"/>
                <a:ea typeface="游ゴシック体 ボールド"/>
                <a:cs typeface="游ゴシック体 ボールド"/>
                <a:sym typeface="游ゴシック体 ボールド"/>
              </a:defRPr>
            </a:lvl1pPr>
          </a:lstStyle>
          <a:p>
            <a:pPr/>
            <a:r>
              <a:t>構築</a:t>
            </a:r>
          </a:p>
        </p:txBody>
      </p:sp>
      <p:sp>
        <p:nvSpPr>
          <p:cNvPr id="902" name="TextBox 27"/>
          <p:cNvSpPr txBox="1"/>
          <p:nvPr/>
        </p:nvSpPr>
        <p:spPr>
          <a:xfrm>
            <a:off x="3200399" y="6154420"/>
            <a:ext cx="24688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64748B"/>
                </a:solidFill>
                <a:latin typeface="游ゴシック体 ミディアム"/>
                <a:ea typeface="游ゴシック体 ミディアム"/>
                <a:cs typeface="游ゴシック体 ミディアム"/>
                <a:sym typeface="游ゴシック体 ミディアム"/>
              </a:defRPr>
            </a:lvl1pPr>
          </a:lstStyle>
          <a:p>
            <a:pPr/>
            <a:r>
              <a:t>改善サイクル</a:t>
            </a:r>
          </a:p>
        </p:txBody>
      </p:sp>
      <p:sp>
        <p:nvSpPr>
          <p:cNvPr id="903" name="Rounded Rectangle 28"/>
          <p:cNvSpPr/>
          <p:nvPr/>
        </p:nvSpPr>
        <p:spPr>
          <a:xfrm>
            <a:off x="5943600" y="1828800"/>
            <a:ext cx="5852160" cy="4572000"/>
          </a:xfrm>
          <a:prstGeom prst="roundRect">
            <a:avLst>
              <a:gd name="adj" fmla="val 12000"/>
            </a:avLst>
          </a:prstGeom>
          <a:solidFill>
            <a:srgbClr val="F1F5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04" name="TextBox 29"/>
          <p:cNvSpPr txBox="1"/>
          <p:nvPr/>
        </p:nvSpPr>
        <p:spPr>
          <a:xfrm>
            <a:off x="6217920" y="1965960"/>
            <a:ext cx="5303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4748B"/>
                </a:solidFill>
                <a:latin typeface="游ゴシック体 ボールド"/>
                <a:ea typeface="游ゴシック体 ボールド"/>
                <a:cs typeface="游ゴシック体 ボールド"/>
                <a:sym typeface="游ゴシック体 ボールド"/>
              </a:defRPr>
            </a:lvl1pPr>
          </a:lstStyle>
          <a:p>
            <a:pPr/>
            <a:r>
              <a:t>施策の図解</a:t>
            </a:r>
          </a:p>
        </p:txBody>
      </p:sp>
      <p:sp>
        <p:nvSpPr>
          <p:cNvPr id="905" name="Rectangle 30"/>
          <p:cNvSpPr/>
          <p:nvPr/>
        </p:nvSpPr>
        <p:spPr>
          <a:xfrm>
            <a:off x="6217920" y="2285999"/>
            <a:ext cx="365761" cy="36578"/>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06" name="TextBox 31"/>
          <p:cNvSpPr txBox="1"/>
          <p:nvPr/>
        </p:nvSpPr>
        <p:spPr>
          <a:xfrm>
            <a:off x="6217920" y="2423160"/>
            <a:ext cx="5303521" cy="1460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1B2A4A"/>
                </a:solidFill>
                <a:latin typeface="游ゴシック体 ボールド"/>
                <a:ea typeface="游ゴシック体 ボールド"/>
                <a:cs typeface="游ゴシック体 ボールド"/>
                <a:sym typeface="游ゴシック体 ボールド"/>
              </a:defRPr>
            </a:lvl1pPr>
          </a:lstStyle>
          <a:p>
            <a:pPr/>
            <a:r>
              <a:t>定量 × 定性データ で LP改善の仮説検証サイクルを設計</a:t>
            </a:r>
          </a:p>
        </p:txBody>
      </p:sp>
      <p:sp>
        <p:nvSpPr>
          <p:cNvPr id="907" name="TextBox 32"/>
          <p:cNvSpPr txBox="1"/>
          <p:nvPr/>
        </p:nvSpPr>
        <p:spPr>
          <a:xfrm>
            <a:off x="6309359" y="2743199"/>
            <a:ext cx="512064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3B82F6"/>
                </a:solidFill>
                <a:latin typeface="游ゴシック体 ボールド"/>
                <a:ea typeface="游ゴシック体 ボールド"/>
                <a:cs typeface="游ゴシック体 ボールド"/>
                <a:sym typeface="游ゴシック体 ボールド"/>
              </a:defRPr>
            </a:lvl1pPr>
          </a:lstStyle>
          <a:p>
            <a:pPr/>
            <a:r>
              <a:t>📊 データドリブンな改善サイクル</a:t>
            </a:r>
          </a:p>
        </p:txBody>
      </p:sp>
      <p:sp>
        <p:nvSpPr>
          <p:cNvPr id="908" name="Rounded Rectangle 33"/>
          <p:cNvSpPr/>
          <p:nvPr/>
        </p:nvSpPr>
        <p:spPr>
          <a:xfrm>
            <a:off x="6309359" y="3063239"/>
            <a:ext cx="2468881" cy="777241"/>
          </a:xfrm>
          <a:prstGeom prst="roundRect">
            <a:avLst>
              <a:gd name="adj" fmla="val 12000"/>
            </a:avLst>
          </a:prstGeom>
          <a:solidFill>
            <a:srgbClr val="DBEAFE"/>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09" name="TextBox 34"/>
          <p:cNvSpPr txBox="1"/>
          <p:nvPr/>
        </p:nvSpPr>
        <p:spPr>
          <a:xfrm>
            <a:off x="6309359" y="3108960"/>
            <a:ext cx="2468881" cy="1460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3B82F6"/>
                </a:solidFill>
                <a:latin typeface="游ゴシック体 ボールド"/>
                <a:ea typeface="游ゴシック体 ボールド"/>
                <a:cs typeface="游ゴシック体 ボールド"/>
                <a:sym typeface="游ゴシック体 ボールド"/>
              </a:defRPr>
            </a:lvl1pPr>
          </a:lstStyle>
          <a:p>
            <a:pPr/>
            <a:r>
              <a:t>【 定量データ 】</a:t>
            </a:r>
          </a:p>
        </p:txBody>
      </p:sp>
      <p:sp>
        <p:nvSpPr>
          <p:cNvPr id="910" name="TextBox 35"/>
          <p:cNvSpPr txBox="1"/>
          <p:nvPr/>
        </p:nvSpPr>
        <p:spPr>
          <a:xfrm>
            <a:off x="6309359" y="3548379"/>
            <a:ext cx="24688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334455"/>
                </a:solidFill>
                <a:latin typeface="游ゴシック体 ミディアム"/>
                <a:ea typeface="游ゴシック体 ミディアム"/>
                <a:cs typeface="游ゴシック体 ミディアム"/>
                <a:sym typeface="游ゴシック体 ミディアム"/>
              </a:defRPr>
            </a:lvl1pPr>
          </a:lstStyle>
          <a:p>
            <a:pPr/>
            <a:r>
              <a:t>GA / 広告管理画面 / CV数 / CVR / 直帰率</a:t>
            </a:r>
          </a:p>
        </p:txBody>
      </p:sp>
      <p:sp>
        <p:nvSpPr>
          <p:cNvPr id="911" name="Rounded Rectangle 36"/>
          <p:cNvSpPr/>
          <p:nvPr/>
        </p:nvSpPr>
        <p:spPr>
          <a:xfrm>
            <a:off x="8961119" y="3063239"/>
            <a:ext cx="2468881" cy="777241"/>
          </a:xfrm>
          <a:prstGeom prst="roundRect">
            <a:avLst>
              <a:gd name="adj" fmla="val 12000"/>
            </a:avLst>
          </a:prstGeom>
          <a:solidFill>
            <a:srgbClr val="EDE9FE"/>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12" name="TextBox 37"/>
          <p:cNvSpPr txBox="1"/>
          <p:nvPr/>
        </p:nvSpPr>
        <p:spPr>
          <a:xfrm>
            <a:off x="8961119" y="3108960"/>
            <a:ext cx="2468881" cy="1460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8B5CF6"/>
                </a:solidFill>
                <a:latin typeface="游ゴシック体 ボールド"/>
                <a:ea typeface="游ゴシック体 ボールド"/>
                <a:cs typeface="游ゴシック体 ボールド"/>
                <a:sym typeface="游ゴシック体 ボールド"/>
              </a:defRPr>
            </a:lvl1pPr>
          </a:lstStyle>
          <a:p>
            <a:pPr/>
            <a:r>
              <a:t>【 定性データ 】</a:t>
            </a:r>
          </a:p>
        </p:txBody>
      </p:sp>
      <p:sp>
        <p:nvSpPr>
          <p:cNvPr id="913" name="TextBox 38"/>
          <p:cNvSpPr txBox="1"/>
          <p:nvPr/>
        </p:nvSpPr>
        <p:spPr>
          <a:xfrm>
            <a:off x="8961119" y="3453129"/>
            <a:ext cx="246888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334455"/>
                </a:solidFill>
                <a:latin typeface="游ゴシック体 ミディアム"/>
                <a:ea typeface="游ゴシック体 ミディアム"/>
                <a:cs typeface="游ゴシック体 ミディアム"/>
                <a:sym typeface="游ゴシック体 ミディアム"/>
              </a:defRPr>
            </a:lvl1pPr>
          </a:lstStyle>
          <a:p>
            <a:pPr/>
            <a:r>
              <a:t>ヒートマップ / セッションリプレイ / ユーザー行動</a:t>
            </a:r>
          </a:p>
        </p:txBody>
      </p:sp>
      <p:sp>
        <p:nvSpPr>
          <p:cNvPr id="914" name="Down Arrow 39"/>
          <p:cNvSpPr/>
          <p:nvPr/>
        </p:nvSpPr>
        <p:spPr>
          <a:xfrm>
            <a:off x="7434071" y="3904488"/>
            <a:ext cx="219457" cy="20116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5400" y="10800"/>
                </a:lnTo>
                <a:lnTo>
                  <a:pt x="5400" y="0"/>
                </a:lnTo>
                <a:lnTo>
                  <a:pt x="16200" y="0"/>
                </a:lnTo>
                <a:lnTo>
                  <a:pt x="16200" y="10800"/>
                </a:lnTo>
                <a:lnTo>
                  <a:pt x="21600" y="10800"/>
                </a:lnTo>
                <a:lnTo>
                  <a:pt x="10800" y="21600"/>
                </a:lnTo>
                <a:close/>
              </a:path>
            </a:pathLst>
          </a:custGeom>
          <a:solidFill>
            <a:srgbClr val="94A3B8"/>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15" name="Down Arrow 40"/>
          <p:cNvSpPr/>
          <p:nvPr/>
        </p:nvSpPr>
        <p:spPr>
          <a:xfrm>
            <a:off x="10085831" y="3904488"/>
            <a:ext cx="219457" cy="20116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5400" y="10800"/>
                </a:lnTo>
                <a:lnTo>
                  <a:pt x="5400" y="0"/>
                </a:lnTo>
                <a:lnTo>
                  <a:pt x="16200" y="0"/>
                </a:lnTo>
                <a:lnTo>
                  <a:pt x="16200" y="10800"/>
                </a:lnTo>
                <a:lnTo>
                  <a:pt x="21600" y="10800"/>
                </a:lnTo>
                <a:lnTo>
                  <a:pt x="10800" y="21600"/>
                </a:lnTo>
                <a:close/>
              </a:path>
            </a:pathLst>
          </a:custGeom>
          <a:solidFill>
            <a:srgbClr val="94A3B8"/>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16" name="Rounded Rectangle 41"/>
          <p:cNvSpPr/>
          <p:nvPr/>
        </p:nvSpPr>
        <p:spPr>
          <a:xfrm>
            <a:off x="6400800" y="4206240"/>
            <a:ext cx="4937760" cy="1508761"/>
          </a:xfrm>
          <a:prstGeom prst="roundRect">
            <a:avLst>
              <a:gd name="adj" fmla="val 12000"/>
            </a:avLst>
          </a:prstGeom>
          <a:solidFill>
            <a:srgbClr val="FEF3C7"/>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17" name="TextBox 42"/>
          <p:cNvSpPr txBox="1"/>
          <p:nvPr/>
        </p:nvSpPr>
        <p:spPr>
          <a:xfrm>
            <a:off x="6400799" y="4251959"/>
            <a:ext cx="493776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000">
                <a:solidFill>
                  <a:srgbClr val="F59E0B"/>
                </a:solidFill>
                <a:latin typeface="游ゴシック体 ボールド"/>
                <a:ea typeface="游ゴシック体 ボールド"/>
                <a:cs typeface="游ゴシック体 ボールド"/>
                <a:sym typeface="游ゴシック体 ボールド"/>
              </a:defRPr>
            </a:lvl1pPr>
          </a:lstStyle>
          <a:p>
            <a:pPr/>
            <a:r>
              <a:t>🔄 仮説検証サイクル</a:t>
            </a:r>
          </a:p>
        </p:txBody>
      </p:sp>
      <p:sp>
        <p:nvSpPr>
          <p:cNvPr id="918" name="Rounded Rectangle 43"/>
          <p:cNvSpPr/>
          <p:nvPr/>
        </p:nvSpPr>
        <p:spPr>
          <a:xfrm>
            <a:off x="6675119" y="4572000"/>
            <a:ext cx="836677" cy="731520"/>
          </a:xfrm>
          <a:prstGeom prst="roundRect">
            <a:avLst>
              <a:gd name="adj" fmla="val 12000"/>
            </a:avLst>
          </a:prstGeom>
          <a:solidFill>
            <a:srgbClr val="F59E0B"/>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19" name="TextBox 44"/>
          <p:cNvSpPr txBox="1"/>
          <p:nvPr/>
        </p:nvSpPr>
        <p:spPr>
          <a:xfrm>
            <a:off x="6675119" y="4864735"/>
            <a:ext cx="836676" cy="14605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FFFFF"/>
                </a:solidFill>
                <a:latin typeface="游ゴシック体 ボールド"/>
                <a:ea typeface="游ゴシック体 ボールド"/>
                <a:cs typeface="游ゴシック体 ボールド"/>
                <a:sym typeface="游ゴシック体 ボールド"/>
              </a:defRPr>
            </a:lvl1pPr>
          </a:lstStyle>
          <a:p>
            <a:pPr/>
            <a:r>
              <a:t>仮説</a:t>
            </a:r>
          </a:p>
        </p:txBody>
      </p:sp>
      <p:sp>
        <p:nvSpPr>
          <p:cNvPr id="920" name="Right Arrow 45"/>
          <p:cNvSpPr/>
          <p:nvPr/>
        </p:nvSpPr>
        <p:spPr>
          <a:xfrm>
            <a:off x="7584947" y="4800600"/>
            <a:ext cx="201169" cy="274321"/>
          </a:xfrm>
          <a:prstGeom prst="rightArrow">
            <a:avLst>
              <a:gd name="adj1" fmla="val 50000"/>
              <a:gd name="adj2" fmla="val 50000"/>
            </a:avLst>
          </a:prstGeom>
          <a:solidFill>
            <a:srgbClr val="94A3B8"/>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21" name="Rounded Rectangle 46"/>
          <p:cNvSpPr/>
          <p:nvPr/>
        </p:nvSpPr>
        <p:spPr>
          <a:xfrm>
            <a:off x="7859268" y="4572000"/>
            <a:ext cx="836677" cy="731520"/>
          </a:xfrm>
          <a:prstGeom prst="roundRect">
            <a:avLst>
              <a:gd name="adj" fmla="val 12000"/>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22" name="TextBox 47"/>
          <p:cNvSpPr txBox="1"/>
          <p:nvPr/>
        </p:nvSpPr>
        <p:spPr>
          <a:xfrm>
            <a:off x="7859268" y="4756785"/>
            <a:ext cx="836676" cy="36195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100">
                <a:solidFill>
                  <a:srgbClr val="FFFFFF"/>
                </a:solidFill>
                <a:latin typeface="游ゴシック体 ボールド"/>
                <a:ea typeface="游ゴシック体 ボールド"/>
                <a:cs typeface="游ゴシック体 ボールド"/>
                <a:sym typeface="游ゴシック体 ボールド"/>
              </a:defRPr>
            </a:pPr>
            <a:r>
              <a:t>AB</a:t>
            </a:r>
          </a:p>
          <a:p>
            <a:pPr algn="ctr">
              <a:defRPr sz="1100">
                <a:solidFill>
                  <a:srgbClr val="FFFFFF"/>
                </a:solidFill>
                <a:latin typeface="游ゴシック体 ボールド"/>
                <a:ea typeface="游ゴシック体 ボールド"/>
                <a:cs typeface="游ゴシック体 ボールド"/>
                <a:sym typeface="游ゴシック体 ボールド"/>
              </a:defRPr>
            </a:pPr>
            <a:r>
              <a:t>テスト</a:t>
            </a:r>
          </a:p>
        </p:txBody>
      </p:sp>
      <p:sp>
        <p:nvSpPr>
          <p:cNvPr id="923" name="Right Arrow 48"/>
          <p:cNvSpPr/>
          <p:nvPr/>
        </p:nvSpPr>
        <p:spPr>
          <a:xfrm>
            <a:off x="8769095" y="4800600"/>
            <a:ext cx="201169" cy="274321"/>
          </a:xfrm>
          <a:prstGeom prst="rightArrow">
            <a:avLst>
              <a:gd name="adj1" fmla="val 50000"/>
              <a:gd name="adj2" fmla="val 50000"/>
            </a:avLst>
          </a:prstGeom>
          <a:solidFill>
            <a:srgbClr val="94A3B8"/>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24" name="Rounded Rectangle 49"/>
          <p:cNvSpPr/>
          <p:nvPr/>
        </p:nvSpPr>
        <p:spPr>
          <a:xfrm>
            <a:off x="9043416" y="4572000"/>
            <a:ext cx="836677" cy="731520"/>
          </a:xfrm>
          <a:prstGeom prst="roundRect">
            <a:avLst>
              <a:gd name="adj" fmla="val 12000"/>
            </a:avLst>
          </a:prstGeom>
          <a:solidFill>
            <a:srgbClr val="8B5C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25" name="TextBox 50"/>
          <p:cNvSpPr txBox="1"/>
          <p:nvPr/>
        </p:nvSpPr>
        <p:spPr>
          <a:xfrm>
            <a:off x="9043416" y="4864735"/>
            <a:ext cx="836676" cy="14605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FFFFF"/>
                </a:solidFill>
                <a:latin typeface="游ゴシック体 ボールド"/>
                <a:ea typeface="游ゴシック体 ボールド"/>
                <a:cs typeface="游ゴシック体 ボールド"/>
                <a:sym typeface="游ゴシック体 ボールド"/>
              </a:defRPr>
            </a:lvl1pPr>
          </a:lstStyle>
          <a:p>
            <a:pPr/>
            <a:r>
              <a:t>検証</a:t>
            </a:r>
          </a:p>
        </p:txBody>
      </p:sp>
      <p:sp>
        <p:nvSpPr>
          <p:cNvPr id="926" name="Right Arrow 51"/>
          <p:cNvSpPr/>
          <p:nvPr/>
        </p:nvSpPr>
        <p:spPr>
          <a:xfrm>
            <a:off x="9953243" y="4800600"/>
            <a:ext cx="201169" cy="274321"/>
          </a:xfrm>
          <a:prstGeom prst="rightArrow">
            <a:avLst>
              <a:gd name="adj1" fmla="val 50000"/>
              <a:gd name="adj2" fmla="val 50000"/>
            </a:avLst>
          </a:prstGeom>
          <a:solidFill>
            <a:srgbClr val="94A3B8"/>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27" name="Rounded Rectangle 52"/>
          <p:cNvSpPr/>
          <p:nvPr/>
        </p:nvSpPr>
        <p:spPr>
          <a:xfrm>
            <a:off x="10227564" y="4572000"/>
            <a:ext cx="836677" cy="731520"/>
          </a:xfrm>
          <a:prstGeom prst="roundRect">
            <a:avLst>
              <a:gd name="adj" fmla="val 12000"/>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28" name="TextBox 53"/>
          <p:cNvSpPr txBox="1"/>
          <p:nvPr/>
        </p:nvSpPr>
        <p:spPr>
          <a:xfrm>
            <a:off x="10227564" y="4864735"/>
            <a:ext cx="836676" cy="14605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FFFFF"/>
                </a:solidFill>
                <a:latin typeface="游ゴシック体 ボールド"/>
                <a:ea typeface="游ゴシック体 ボールド"/>
                <a:cs typeface="游ゴシック体 ボールド"/>
                <a:sym typeface="游ゴシック体 ボールド"/>
              </a:defRPr>
            </a:lvl1pPr>
          </a:lstStyle>
          <a:p>
            <a:pPr/>
            <a:r>
              <a:t>改善</a:t>
            </a:r>
          </a:p>
        </p:txBody>
      </p:sp>
      <p:sp>
        <p:nvSpPr>
          <p:cNvPr id="929" name="Left Arrow 54"/>
          <p:cNvSpPr/>
          <p:nvPr/>
        </p:nvSpPr>
        <p:spPr>
          <a:xfrm>
            <a:off x="6583680" y="5394959"/>
            <a:ext cx="4297681" cy="182881"/>
          </a:xfrm>
          <a:prstGeom prst="leftArrow">
            <a:avLst>
              <a:gd name="adj1" fmla="val 50000"/>
              <a:gd name="adj2" fmla="val 50000"/>
            </a:avLst>
          </a:prstGeom>
          <a:solidFill>
            <a:srgbClr val="F59E0B"/>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30" name="Rounded Rectangle 55"/>
          <p:cNvSpPr/>
          <p:nvPr/>
        </p:nvSpPr>
        <p:spPr>
          <a:xfrm>
            <a:off x="6217920" y="5806440"/>
            <a:ext cx="5303521" cy="502921"/>
          </a:xfrm>
          <a:prstGeom prst="roundRect">
            <a:avLst>
              <a:gd name="adj" fmla="val 12000"/>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31" name="TextBox 56"/>
          <p:cNvSpPr txBox="1"/>
          <p:nvPr/>
        </p:nvSpPr>
        <p:spPr>
          <a:xfrm>
            <a:off x="6217920" y="5994399"/>
            <a:ext cx="5303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FFFFF"/>
                </a:solidFill>
                <a:latin typeface="游ゴシック体 ボールド"/>
                <a:ea typeface="游ゴシック体 ボールド"/>
                <a:cs typeface="游ゴシック体 ボールド"/>
                <a:sym typeface="游ゴシック体 ボールド"/>
              </a:defRPr>
            </a:lvl1pPr>
          </a:lstStyle>
          <a:p>
            <a:pPr/>
            <a:r>
              <a:t>対象ページ CVR  約150%改善  |  データドリブンな改善サイクルを構築</a:t>
            </a:r>
          </a:p>
        </p:txBody>
      </p:sp>
      <p:sp>
        <p:nvSpPr>
          <p:cNvPr id="932" name="TextBox 57"/>
          <p:cNvSpPr txBox="1"/>
          <p:nvPr/>
        </p:nvSpPr>
        <p:spPr>
          <a:xfrm>
            <a:off x="457199" y="6565392"/>
            <a:ext cx="112471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94A3B8"/>
                </a:solidFill>
                <a:latin typeface="游ゴシック体 ミディアム"/>
                <a:ea typeface="游ゴシック体 ミディアム"/>
                <a:cs typeface="游ゴシック体 ミディアム"/>
                <a:sym typeface="游ゴシック体 ミディアム"/>
              </a:defRPr>
            </a:lvl1pPr>
          </a:lstStyle>
          <a:p>
            <a:pPr/>
            <a:r>
              <a:t>※ 守秘義務の関係上、社名は非公開としております。詳細は個別にご説明いたします。</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34" name="Rectangle 1"/>
          <p:cNvSpPr/>
          <p:nvPr/>
        </p:nvSpPr>
        <p:spPr>
          <a:xfrm>
            <a:off x="-1" y="0"/>
            <a:ext cx="12188954" cy="685800"/>
          </a:xfrm>
          <a:prstGeom prst="rect">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35" name="TextBox 2"/>
          <p:cNvSpPr txBox="1"/>
          <p:nvPr/>
        </p:nvSpPr>
        <p:spPr>
          <a:xfrm>
            <a:off x="457200" y="164591"/>
            <a:ext cx="73152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FFFFF"/>
                </a:solidFill>
                <a:latin typeface="游ゴシック体 ボールド"/>
                <a:ea typeface="游ゴシック体 ボールド"/>
                <a:cs typeface="游ゴシック体 ボールド"/>
                <a:sym typeface="游ゴシック体 ボールド"/>
              </a:defRPr>
            </a:lvl1pPr>
          </a:lstStyle>
          <a:p>
            <a:pPr/>
            <a:r>
              <a:t>CASE STUDIES</a:t>
            </a:r>
          </a:p>
        </p:txBody>
      </p:sp>
      <p:sp>
        <p:nvSpPr>
          <p:cNvPr id="936" name="TextBox 3"/>
          <p:cNvSpPr txBox="1"/>
          <p:nvPr/>
        </p:nvSpPr>
        <p:spPr>
          <a:xfrm>
            <a:off x="10058400" y="164591"/>
            <a:ext cx="18288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FFFFFF"/>
                </a:solidFill>
                <a:latin typeface="游ゴシック体 ボールド"/>
                <a:ea typeface="游ゴシック体 ボールド"/>
                <a:cs typeface="游ゴシック体 ボールド"/>
                <a:sym typeface="游ゴシック体 ボールド"/>
              </a:defRPr>
            </a:lvl1pPr>
          </a:lstStyle>
          <a:p>
            <a:pPr/>
            <a:r>
              <a:t>13 / 13</a:t>
            </a:r>
          </a:p>
        </p:txBody>
      </p:sp>
      <p:sp>
        <p:nvSpPr>
          <p:cNvPr id="937" name="TextBox 4"/>
          <p:cNvSpPr txBox="1"/>
          <p:nvPr/>
        </p:nvSpPr>
        <p:spPr>
          <a:xfrm>
            <a:off x="457200" y="868680"/>
            <a:ext cx="7772400"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400">
                <a:solidFill>
                  <a:srgbClr val="1B2A4A"/>
                </a:solidFill>
                <a:latin typeface="游ゴシック体 ボールド"/>
                <a:ea typeface="游ゴシック体 ボールド"/>
                <a:cs typeface="游ゴシック体 ボールド"/>
                <a:sym typeface="游ゴシック体 ボールド"/>
              </a:defRPr>
            </a:lvl1pPr>
          </a:lstStyle>
          <a:p>
            <a:pPr/>
            <a:r>
              <a:t>買取系（商業車）</a:t>
            </a:r>
          </a:p>
        </p:txBody>
      </p:sp>
      <p:sp>
        <p:nvSpPr>
          <p:cNvPr id="938" name="TextBox 5"/>
          <p:cNvSpPr txBox="1"/>
          <p:nvPr/>
        </p:nvSpPr>
        <p:spPr>
          <a:xfrm>
            <a:off x="457200" y="1325880"/>
            <a:ext cx="77724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4748B"/>
                </a:solidFill>
                <a:latin typeface="游ゴシック体 ミディアム"/>
                <a:ea typeface="游ゴシック体 ミディアム"/>
                <a:cs typeface="游ゴシック体 ミディアム"/>
                <a:sym typeface="游ゴシック体 ミディアム"/>
              </a:defRPr>
            </a:lvl1pPr>
          </a:lstStyle>
          <a:p>
            <a:pPr/>
            <a:r>
              <a:t>運用担当   |   リスティング / ディスプレイ</a:t>
            </a:r>
          </a:p>
        </p:txBody>
      </p:sp>
      <p:sp>
        <p:nvSpPr>
          <p:cNvPr id="939" name="Rectangle 6"/>
          <p:cNvSpPr/>
          <p:nvPr/>
        </p:nvSpPr>
        <p:spPr>
          <a:xfrm>
            <a:off x="457200" y="1645920"/>
            <a:ext cx="457200" cy="45721"/>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40" name="Rectangle 7"/>
          <p:cNvSpPr/>
          <p:nvPr/>
        </p:nvSpPr>
        <p:spPr>
          <a:xfrm>
            <a:off x="914399" y="1645920"/>
            <a:ext cx="10789922"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41" name="Oval 8"/>
          <p:cNvSpPr/>
          <p:nvPr/>
        </p:nvSpPr>
        <p:spPr>
          <a:xfrm>
            <a:off x="457199" y="1874518"/>
            <a:ext cx="274322" cy="274321"/>
          </a:xfrm>
          <a:prstGeom prst="ellipse">
            <a:avLst/>
          </a:prstGeom>
          <a:solidFill>
            <a:srgbClr val="EF4444"/>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42" name="TextBox 9"/>
          <p:cNvSpPr txBox="1"/>
          <p:nvPr/>
        </p:nvSpPr>
        <p:spPr>
          <a:xfrm>
            <a:off x="457199" y="1948178"/>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01</a:t>
            </a:r>
          </a:p>
        </p:txBody>
      </p:sp>
      <p:sp>
        <p:nvSpPr>
          <p:cNvPr id="943" name="TextBox 10"/>
          <p:cNvSpPr txBox="1"/>
          <p:nvPr/>
        </p:nvSpPr>
        <p:spPr>
          <a:xfrm>
            <a:off x="822960" y="1856231"/>
            <a:ext cx="3657601"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課題</a:t>
            </a:r>
          </a:p>
        </p:txBody>
      </p:sp>
      <p:sp>
        <p:nvSpPr>
          <p:cNvPr id="944" name="Rectangle 11"/>
          <p:cNvSpPr/>
          <p:nvPr/>
        </p:nvSpPr>
        <p:spPr>
          <a:xfrm>
            <a:off x="822960" y="2148838"/>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45" name="TextBox 12"/>
          <p:cNvSpPr txBox="1"/>
          <p:nvPr/>
        </p:nvSpPr>
        <p:spPr>
          <a:xfrm>
            <a:off x="594359" y="2331720"/>
            <a:ext cx="5074922" cy="4057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0000"/>
              </a:lnSpc>
              <a:defRPr sz="1100">
                <a:solidFill>
                  <a:srgbClr val="334455"/>
                </a:solidFill>
                <a:latin typeface="游ゴシック体 ミディアム"/>
                <a:ea typeface="游ゴシック体 ミディアム"/>
                <a:cs typeface="游ゴシック体 ミディアム"/>
                <a:sym typeface="游ゴシック体 ミディアム"/>
              </a:defRPr>
            </a:lvl1pPr>
          </a:lstStyle>
          <a:p>
            <a:pPr/>
            <a:r>
              <a:t>問合せから買取への転換率が安定せず、単価と運用費のバランスが取れない状況。商材特性も独自性が高かった。</a:t>
            </a:r>
          </a:p>
        </p:txBody>
      </p:sp>
      <p:sp>
        <p:nvSpPr>
          <p:cNvPr id="946" name="Oval 13"/>
          <p:cNvSpPr/>
          <p:nvPr/>
        </p:nvSpPr>
        <p:spPr>
          <a:xfrm>
            <a:off x="457199" y="3246120"/>
            <a:ext cx="274322" cy="274321"/>
          </a:xfrm>
          <a:prstGeom prst="ellipse">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47" name="TextBox 14"/>
          <p:cNvSpPr txBox="1"/>
          <p:nvPr/>
        </p:nvSpPr>
        <p:spPr>
          <a:xfrm>
            <a:off x="457199" y="3319780"/>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02</a:t>
            </a:r>
          </a:p>
        </p:txBody>
      </p:sp>
      <p:sp>
        <p:nvSpPr>
          <p:cNvPr id="948" name="TextBox 15"/>
          <p:cNvSpPr txBox="1"/>
          <p:nvPr/>
        </p:nvSpPr>
        <p:spPr>
          <a:xfrm>
            <a:off x="822960" y="3227832"/>
            <a:ext cx="3657601"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アプローチ</a:t>
            </a:r>
          </a:p>
        </p:txBody>
      </p:sp>
      <p:sp>
        <p:nvSpPr>
          <p:cNvPr id="949" name="Rectangle 16"/>
          <p:cNvSpPr/>
          <p:nvPr/>
        </p:nvSpPr>
        <p:spPr>
          <a:xfrm>
            <a:off x="822960" y="3520440"/>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50" name="TextBox 17"/>
          <p:cNvSpPr txBox="1"/>
          <p:nvPr/>
        </p:nvSpPr>
        <p:spPr>
          <a:xfrm>
            <a:off x="594359" y="3703320"/>
            <a:ext cx="5074922" cy="4057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0000"/>
              </a:lnSpc>
              <a:defRPr sz="1100">
                <a:solidFill>
                  <a:srgbClr val="334455"/>
                </a:solidFill>
                <a:latin typeface="游ゴシック体 ミディアム"/>
                <a:ea typeface="游ゴシック体 ミディアム"/>
                <a:cs typeface="游ゴシック体 ミディアム"/>
                <a:sym typeface="游ゴシック体 ミディアム"/>
              </a:defRPr>
            </a:lvl1pPr>
          </a:lstStyle>
          <a:p>
            <a:pPr/>
            <a:r>
              <a:t>市場・商材特性を深く分析した運用設計を構築。クリエイティブ・地域・デバイスを多角的に最適化し、転換率向上を実現。</a:t>
            </a:r>
          </a:p>
        </p:txBody>
      </p:sp>
      <p:sp>
        <p:nvSpPr>
          <p:cNvPr id="951" name="Oval 18"/>
          <p:cNvSpPr/>
          <p:nvPr/>
        </p:nvSpPr>
        <p:spPr>
          <a:xfrm>
            <a:off x="457199" y="5029199"/>
            <a:ext cx="274322" cy="274322"/>
          </a:xfrm>
          <a:prstGeom prst="ellipse">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52" name="TextBox 19"/>
          <p:cNvSpPr txBox="1"/>
          <p:nvPr/>
        </p:nvSpPr>
        <p:spPr>
          <a:xfrm>
            <a:off x="457199" y="5102859"/>
            <a:ext cx="2743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FFFFF"/>
                </a:solidFill>
                <a:latin typeface="游ゴシック体 ボールド"/>
                <a:ea typeface="游ゴシック体 ボールド"/>
                <a:cs typeface="游ゴシック体 ボールド"/>
                <a:sym typeface="游ゴシック体 ボールド"/>
              </a:defRPr>
            </a:lvl1pPr>
          </a:lstStyle>
          <a:p>
            <a:pPr/>
            <a:r>
              <a:t>03</a:t>
            </a:r>
          </a:p>
        </p:txBody>
      </p:sp>
      <p:sp>
        <p:nvSpPr>
          <p:cNvPr id="953" name="TextBox 20"/>
          <p:cNvSpPr txBox="1"/>
          <p:nvPr/>
        </p:nvSpPr>
        <p:spPr>
          <a:xfrm>
            <a:off x="822960" y="5010911"/>
            <a:ext cx="36576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1B2A4A"/>
                </a:solidFill>
                <a:latin typeface="游ゴシック体 ボールド"/>
                <a:ea typeface="游ゴシック体 ボールド"/>
                <a:cs typeface="游ゴシック体 ボールド"/>
                <a:sym typeface="游ゴシック体 ボールド"/>
              </a:defRPr>
            </a:lvl1pPr>
          </a:lstStyle>
          <a:p>
            <a:pPr/>
            <a:r>
              <a:t>成果</a:t>
            </a:r>
          </a:p>
        </p:txBody>
      </p:sp>
      <p:sp>
        <p:nvSpPr>
          <p:cNvPr id="954" name="Rectangle 21"/>
          <p:cNvSpPr/>
          <p:nvPr/>
        </p:nvSpPr>
        <p:spPr>
          <a:xfrm>
            <a:off x="822960" y="5303520"/>
            <a:ext cx="4572001" cy="18289"/>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55" name="Rounded Rectangle 22"/>
          <p:cNvSpPr/>
          <p:nvPr/>
        </p:nvSpPr>
        <p:spPr>
          <a:xfrm>
            <a:off x="594359" y="5486400"/>
            <a:ext cx="2468881" cy="960120"/>
          </a:xfrm>
          <a:prstGeom prst="roundRect">
            <a:avLst>
              <a:gd name="adj" fmla="val 12000"/>
            </a:avLst>
          </a:prstGeom>
          <a:solidFill>
            <a:srgbClr val="D1FAE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56" name="TextBox 23"/>
          <p:cNvSpPr txBox="1"/>
          <p:nvPr/>
        </p:nvSpPr>
        <p:spPr>
          <a:xfrm>
            <a:off x="594359" y="5643879"/>
            <a:ext cx="246888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10B981"/>
                </a:solidFill>
                <a:latin typeface="游ゴシック体 ボールド"/>
                <a:ea typeface="游ゴシック体 ボールド"/>
                <a:cs typeface="游ゴシック体 ボールド"/>
                <a:sym typeface="游ゴシック体 ボールド"/>
              </a:defRPr>
            </a:lvl1pPr>
          </a:lstStyle>
          <a:p>
            <a:pPr/>
            <a:r>
              <a:t>+20%</a:t>
            </a:r>
          </a:p>
        </p:txBody>
      </p:sp>
      <p:sp>
        <p:nvSpPr>
          <p:cNvPr id="957" name="TextBox 24"/>
          <p:cNvSpPr txBox="1"/>
          <p:nvPr/>
        </p:nvSpPr>
        <p:spPr>
          <a:xfrm>
            <a:off x="594359" y="6154420"/>
            <a:ext cx="24688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64748B"/>
                </a:solidFill>
                <a:latin typeface="游ゴシック体 ミディアム"/>
                <a:ea typeface="游ゴシック体 ミディアム"/>
                <a:cs typeface="游ゴシック体 ミディアム"/>
                <a:sym typeface="游ゴシック体 ミディアム"/>
              </a:defRPr>
            </a:lvl1pPr>
          </a:lstStyle>
          <a:p>
            <a:pPr/>
            <a:r>
              <a:t>買取単価</a:t>
            </a:r>
          </a:p>
        </p:txBody>
      </p:sp>
      <p:sp>
        <p:nvSpPr>
          <p:cNvPr id="958" name="Rounded Rectangle 25"/>
          <p:cNvSpPr/>
          <p:nvPr/>
        </p:nvSpPr>
        <p:spPr>
          <a:xfrm>
            <a:off x="3200400" y="5486400"/>
            <a:ext cx="2468880" cy="960120"/>
          </a:xfrm>
          <a:prstGeom prst="roundRect">
            <a:avLst>
              <a:gd name="adj" fmla="val 12000"/>
            </a:avLst>
          </a:prstGeom>
          <a:solidFill>
            <a:srgbClr val="D1FAE5"/>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59" name="TextBox 26"/>
          <p:cNvSpPr txBox="1"/>
          <p:nvPr/>
        </p:nvSpPr>
        <p:spPr>
          <a:xfrm>
            <a:off x="3200399" y="5643879"/>
            <a:ext cx="246888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F59E0B"/>
                </a:solidFill>
                <a:latin typeface="游ゴシック体 ボールド"/>
                <a:ea typeface="游ゴシック体 ボールド"/>
                <a:cs typeface="游ゴシック体 ボールド"/>
                <a:sym typeface="游ゴシック体 ボールド"/>
              </a:defRPr>
            </a:lvl1pPr>
          </a:lstStyle>
          <a:p>
            <a:pPr/>
            <a:r>
              <a:t>約3倍</a:t>
            </a:r>
          </a:p>
        </p:txBody>
      </p:sp>
      <p:sp>
        <p:nvSpPr>
          <p:cNvPr id="960" name="TextBox 27"/>
          <p:cNvSpPr txBox="1"/>
          <p:nvPr/>
        </p:nvSpPr>
        <p:spPr>
          <a:xfrm>
            <a:off x="3200399" y="6154420"/>
            <a:ext cx="24688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64748B"/>
                </a:solidFill>
                <a:latin typeface="游ゴシック体 ミディアム"/>
                <a:ea typeface="游ゴシック体 ミディアム"/>
                <a:cs typeface="游ゴシック体 ミディアム"/>
                <a:sym typeface="游ゴシック体 ミディアム"/>
              </a:defRPr>
            </a:lvl1pPr>
          </a:lstStyle>
          <a:p>
            <a:pPr/>
            <a:r>
              <a:t>運用費 拡大</a:t>
            </a:r>
          </a:p>
        </p:txBody>
      </p:sp>
      <p:sp>
        <p:nvSpPr>
          <p:cNvPr id="961" name="Rounded Rectangle 28"/>
          <p:cNvSpPr/>
          <p:nvPr/>
        </p:nvSpPr>
        <p:spPr>
          <a:xfrm>
            <a:off x="5943600" y="1828800"/>
            <a:ext cx="5852160" cy="4572000"/>
          </a:xfrm>
          <a:prstGeom prst="roundRect">
            <a:avLst>
              <a:gd name="adj" fmla="val 12000"/>
            </a:avLst>
          </a:prstGeom>
          <a:solidFill>
            <a:srgbClr val="F1F5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62" name="TextBox 29"/>
          <p:cNvSpPr txBox="1"/>
          <p:nvPr/>
        </p:nvSpPr>
        <p:spPr>
          <a:xfrm>
            <a:off x="6217920" y="1965960"/>
            <a:ext cx="5303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4748B"/>
                </a:solidFill>
                <a:latin typeface="游ゴシック体 ボールド"/>
                <a:ea typeface="游ゴシック体 ボールド"/>
                <a:cs typeface="游ゴシック体 ボールド"/>
                <a:sym typeface="游ゴシック体 ボールド"/>
              </a:defRPr>
            </a:lvl1pPr>
          </a:lstStyle>
          <a:p>
            <a:pPr/>
            <a:r>
              <a:t>施策の図解</a:t>
            </a:r>
          </a:p>
        </p:txBody>
      </p:sp>
      <p:sp>
        <p:nvSpPr>
          <p:cNvPr id="963" name="Rectangle 30"/>
          <p:cNvSpPr/>
          <p:nvPr/>
        </p:nvSpPr>
        <p:spPr>
          <a:xfrm>
            <a:off x="6217920" y="2285999"/>
            <a:ext cx="365761" cy="36578"/>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64" name="TextBox 31"/>
          <p:cNvSpPr txBox="1"/>
          <p:nvPr/>
        </p:nvSpPr>
        <p:spPr>
          <a:xfrm>
            <a:off x="6217920" y="2423160"/>
            <a:ext cx="5303521" cy="1460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1B2A4A"/>
                </a:solidFill>
                <a:latin typeface="游ゴシック体 ボールド"/>
                <a:ea typeface="游ゴシック体 ボールド"/>
                <a:cs typeface="游ゴシック体 ボールド"/>
                <a:sym typeface="游ゴシック体 ボールド"/>
              </a:defRPr>
            </a:lvl1pPr>
          </a:lstStyle>
          <a:p>
            <a:pPr/>
            <a:r>
              <a:t>市場・商材分析 × 多軸最適化マトリクス</a:t>
            </a:r>
          </a:p>
        </p:txBody>
      </p:sp>
      <p:sp>
        <p:nvSpPr>
          <p:cNvPr id="965" name="TextBox 32"/>
          <p:cNvSpPr txBox="1"/>
          <p:nvPr/>
        </p:nvSpPr>
        <p:spPr>
          <a:xfrm>
            <a:off x="6309359" y="2743199"/>
            <a:ext cx="5120641" cy="14171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3B82F6"/>
                </a:solidFill>
                <a:latin typeface="游ゴシック体 ボールド"/>
                <a:ea typeface="游ゴシック体 ボールド"/>
                <a:cs typeface="游ゴシック体 ボールド"/>
                <a:sym typeface="游ゴシック体 ボールド"/>
              </a:defRPr>
            </a:lvl1pPr>
          </a:lstStyle>
          <a:p>
            <a:pPr/>
            <a:r>
              <a:t>⚙ 多角的に最適化した 3軸</a:t>
            </a:r>
          </a:p>
        </p:txBody>
      </p:sp>
      <p:sp>
        <p:nvSpPr>
          <p:cNvPr id="966" name="Rounded Rectangle 33"/>
          <p:cNvSpPr/>
          <p:nvPr/>
        </p:nvSpPr>
        <p:spPr>
          <a:xfrm>
            <a:off x="6309359" y="3063239"/>
            <a:ext cx="1645921" cy="1188721"/>
          </a:xfrm>
          <a:prstGeom prst="roundRect">
            <a:avLst>
              <a:gd name="adj" fmla="val 12000"/>
            </a:avLst>
          </a:prstGeom>
          <a:solidFill>
            <a:srgbClr val="8B5C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67" name="TextBox 34"/>
          <p:cNvSpPr txBox="1"/>
          <p:nvPr/>
        </p:nvSpPr>
        <p:spPr>
          <a:xfrm>
            <a:off x="6309359" y="3210559"/>
            <a:ext cx="1645921"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solidFill>
                  <a:srgbClr val="FFFFFF"/>
                </a:solidFill>
                <a:latin typeface="游ゴシック体 ボールド"/>
                <a:ea typeface="游ゴシック体 ボールド"/>
                <a:cs typeface="游ゴシック体 ボールド"/>
                <a:sym typeface="游ゴシック体 ボールド"/>
              </a:defRPr>
            </a:lvl1pPr>
          </a:lstStyle>
          <a:p>
            <a:pPr/>
            <a:r>
              <a:t>🎨 クリエイティブ</a:t>
            </a:r>
          </a:p>
        </p:txBody>
      </p:sp>
      <p:sp>
        <p:nvSpPr>
          <p:cNvPr id="968" name="TextBox 35"/>
          <p:cNvSpPr txBox="1"/>
          <p:nvPr/>
        </p:nvSpPr>
        <p:spPr>
          <a:xfrm>
            <a:off x="6309359" y="3727449"/>
            <a:ext cx="164592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FFFFFF"/>
                </a:solidFill>
                <a:latin typeface="游ゴシック体 ミディアム"/>
                <a:ea typeface="游ゴシック体 ミディアム"/>
                <a:cs typeface="游ゴシック体 ミディアム"/>
                <a:sym typeface="游ゴシック体 ミディアム"/>
              </a:defRPr>
            </a:pPr>
            <a:r>
              <a:t>商材特性に合わせた</a:t>
            </a:r>
          </a:p>
          <a:p>
            <a:pPr algn="ctr">
              <a:defRPr sz="1000">
                <a:solidFill>
                  <a:srgbClr val="FFFFFF"/>
                </a:solidFill>
                <a:latin typeface="游ゴシック体 ミディアム"/>
                <a:ea typeface="游ゴシック体 ミディアム"/>
                <a:cs typeface="游ゴシック体 ミディアム"/>
                <a:sym typeface="游ゴシック体 ミディアム"/>
              </a:defRPr>
            </a:pPr>
            <a:r>
              <a:t>訴求軸 × 画像/コピー</a:t>
            </a:r>
          </a:p>
        </p:txBody>
      </p:sp>
      <p:sp>
        <p:nvSpPr>
          <p:cNvPr id="969" name="Rounded Rectangle 36"/>
          <p:cNvSpPr/>
          <p:nvPr/>
        </p:nvSpPr>
        <p:spPr>
          <a:xfrm>
            <a:off x="8046719" y="3063239"/>
            <a:ext cx="1645921" cy="1188721"/>
          </a:xfrm>
          <a:prstGeom prst="roundRect">
            <a:avLst>
              <a:gd name="adj" fmla="val 12000"/>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70" name="TextBox 37"/>
          <p:cNvSpPr txBox="1"/>
          <p:nvPr/>
        </p:nvSpPr>
        <p:spPr>
          <a:xfrm>
            <a:off x="8046719" y="3210559"/>
            <a:ext cx="1645921"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solidFill>
                  <a:srgbClr val="FFFFFF"/>
                </a:solidFill>
                <a:latin typeface="游ゴシック体 ボールド"/>
                <a:ea typeface="游ゴシック体 ボールド"/>
                <a:cs typeface="游ゴシック体 ボールド"/>
                <a:sym typeface="游ゴシック体 ボールド"/>
              </a:defRPr>
            </a:lvl1pPr>
          </a:lstStyle>
          <a:p>
            <a:pPr/>
            <a:r>
              <a:t>🗺 地域</a:t>
            </a:r>
          </a:p>
        </p:txBody>
      </p:sp>
      <p:sp>
        <p:nvSpPr>
          <p:cNvPr id="971" name="TextBox 38"/>
          <p:cNvSpPr txBox="1"/>
          <p:nvPr/>
        </p:nvSpPr>
        <p:spPr>
          <a:xfrm>
            <a:off x="8046719" y="3727449"/>
            <a:ext cx="164592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FFFFFF"/>
                </a:solidFill>
                <a:latin typeface="游ゴシック体 ミディアム"/>
                <a:ea typeface="游ゴシック体 ミディアム"/>
                <a:cs typeface="游ゴシック体 ミディアム"/>
                <a:sym typeface="游ゴシック体 ミディアム"/>
              </a:defRPr>
            </a:pPr>
            <a:r>
              <a:t>商業車需要の高い</a:t>
            </a:r>
          </a:p>
          <a:p>
            <a:pPr algn="ctr">
              <a:defRPr sz="1000">
                <a:solidFill>
                  <a:srgbClr val="FFFFFF"/>
                </a:solidFill>
                <a:latin typeface="游ゴシック体 ミディアム"/>
                <a:ea typeface="游ゴシック体 ミディアム"/>
                <a:cs typeface="游ゴシック体 ミディアム"/>
                <a:sym typeface="游ゴシック体 ミディアム"/>
              </a:defRPr>
            </a:pPr>
            <a:r>
              <a:t>エリア別 配信制御</a:t>
            </a:r>
          </a:p>
        </p:txBody>
      </p:sp>
      <p:sp>
        <p:nvSpPr>
          <p:cNvPr id="972" name="Rounded Rectangle 39"/>
          <p:cNvSpPr/>
          <p:nvPr/>
        </p:nvSpPr>
        <p:spPr>
          <a:xfrm>
            <a:off x="9784080" y="3063239"/>
            <a:ext cx="1645921" cy="1188721"/>
          </a:xfrm>
          <a:prstGeom prst="roundRect">
            <a:avLst>
              <a:gd name="adj" fmla="val 12000"/>
            </a:avLst>
          </a:prstGeom>
          <a:solidFill>
            <a:srgbClr val="10B98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73" name="TextBox 40"/>
          <p:cNvSpPr txBox="1"/>
          <p:nvPr/>
        </p:nvSpPr>
        <p:spPr>
          <a:xfrm>
            <a:off x="9784080" y="3210559"/>
            <a:ext cx="1645921"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solidFill>
                  <a:srgbClr val="FFFFFF"/>
                </a:solidFill>
                <a:latin typeface="游ゴシック体 ボールド"/>
                <a:ea typeface="游ゴシック体 ボールド"/>
                <a:cs typeface="游ゴシック体 ボールド"/>
                <a:sym typeface="游ゴシック体 ボールド"/>
              </a:defRPr>
            </a:lvl1pPr>
          </a:lstStyle>
          <a:p>
            <a:pPr/>
            <a:r>
              <a:t>📱 デバイス</a:t>
            </a:r>
          </a:p>
        </p:txBody>
      </p:sp>
      <p:sp>
        <p:nvSpPr>
          <p:cNvPr id="974" name="TextBox 41"/>
          <p:cNvSpPr txBox="1"/>
          <p:nvPr/>
        </p:nvSpPr>
        <p:spPr>
          <a:xfrm>
            <a:off x="9784080" y="3727449"/>
            <a:ext cx="164592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FFFFFF"/>
                </a:solidFill>
                <a:latin typeface="游ゴシック体 ミディアム"/>
                <a:ea typeface="游ゴシック体 ミディアム"/>
                <a:cs typeface="游ゴシック体 ミディアム"/>
                <a:sym typeface="游ゴシック体 ミディアム"/>
              </a:defRPr>
            </a:pPr>
            <a:r>
              <a:t>デバイス別CVR・</a:t>
            </a:r>
          </a:p>
          <a:p>
            <a:pPr algn="ctr">
              <a:defRPr sz="1000">
                <a:solidFill>
                  <a:srgbClr val="FFFFFF"/>
                </a:solidFill>
                <a:latin typeface="游ゴシック体 ミディアム"/>
                <a:ea typeface="游ゴシック体 ミディアム"/>
                <a:cs typeface="游ゴシック体 ミディアム"/>
                <a:sym typeface="游ゴシック体 ミディアム"/>
              </a:defRPr>
            </a:pPr>
            <a:r>
              <a:t>入札比率の最適化</a:t>
            </a:r>
          </a:p>
        </p:txBody>
      </p:sp>
      <p:sp>
        <p:nvSpPr>
          <p:cNvPr id="975" name="Down Arrow 42"/>
          <p:cNvSpPr/>
          <p:nvPr/>
        </p:nvSpPr>
        <p:spPr>
          <a:xfrm>
            <a:off x="7013447" y="4297679"/>
            <a:ext cx="237744" cy="20116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5400" y="10800"/>
                </a:lnTo>
                <a:lnTo>
                  <a:pt x="5400" y="0"/>
                </a:lnTo>
                <a:lnTo>
                  <a:pt x="16200" y="0"/>
                </a:lnTo>
                <a:lnTo>
                  <a:pt x="16200" y="10800"/>
                </a:lnTo>
                <a:lnTo>
                  <a:pt x="21600" y="10800"/>
                </a:lnTo>
                <a:lnTo>
                  <a:pt x="10800" y="21600"/>
                </a:lnTo>
                <a:close/>
              </a:path>
            </a:pathLst>
          </a:custGeom>
          <a:solidFill>
            <a:srgbClr val="94A3B8"/>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76" name="Down Arrow 43"/>
          <p:cNvSpPr/>
          <p:nvPr/>
        </p:nvSpPr>
        <p:spPr>
          <a:xfrm>
            <a:off x="8750807" y="4297679"/>
            <a:ext cx="237744" cy="20116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5400" y="10800"/>
                </a:lnTo>
                <a:lnTo>
                  <a:pt x="5400" y="0"/>
                </a:lnTo>
                <a:lnTo>
                  <a:pt x="16200" y="0"/>
                </a:lnTo>
                <a:lnTo>
                  <a:pt x="16200" y="10800"/>
                </a:lnTo>
                <a:lnTo>
                  <a:pt x="21600" y="10800"/>
                </a:lnTo>
                <a:lnTo>
                  <a:pt x="10800" y="21600"/>
                </a:lnTo>
                <a:close/>
              </a:path>
            </a:pathLst>
          </a:custGeom>
          <a:solidFill>
            <a:srgbClr val="94A3B8"/>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77" name="Down Arrow 44"/>
          <p:cNvSpPr/>
          <p:nvPr/>
        </p:nvSpPr>
        <p:spPr>
          <a:xfrm>
            <a:off x="10488168" y="4297679"/>
            <a:ext cx="237744" cy="20116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5400" y="10800"/>
                </a:lnTo>
                <a:lnTo>
                  <a:pt x="5400" y="0"/>
                </a:lnTo>
                <a:lnTo>
                  <a:pt x="16200" y="0"/>
                </a:lnTo>
                <a:lnTo>
                  <a:pt x="16200" y="10800"/>
                </a:lnTo>
                <a:lnTo>
                  <a:pt x="21600" y="10800"/>
                </a:lnTo>
                <a:lnTo>
                  <a:pt x="10800" y="21600"/>
                </a:lnTo>
                <a:close/>
              </a:path>
            </a:pathLst>
          </a:custGeom>
          <a:solidFill>
            <a:srgbClr val="94A3B8"/>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78" name="Rounded Rectangle 45"/>
          <p:cNvSpPr/>
          <p:nvPr/>
        </p:nvSpPr>
        <p:spPr>
          <a:xfrm>
            <a:off x="6400800" y="4572000"/>
            <a:ext cx="4937760" cy="457200"/>
          </a:xfrm>
          <a:prstGeom prst="roundRect">
            <a:avLst>
              <a:gd name="adj" fmla="val 12000"/>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79" name="TextBox 46"/>
          <p:cNvSpPr txBox="1"/>
          <p:nvPr/>
        </p:nvSpPr>
        <p:spPr>
          <a:xfrm>
            <a:off x="6400799" y="4727575"/>
            <a:ext cx="4937762" cy="14605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FFFFF"/>
                </a:solidFill>
                <a:latin typeface="游ゴシック体 ボールド"/>
                <a:ea typeface="游ゴシック体 ボールド"/>
                <a:cs typeface="游ゴシック体 ボールド"/>
                <a:sym typeface="游ゴシック体 ボールド"/>
              </a:defRPr>
            </a:lvl1pPr>
          </a:lstStyle>
          <a:p>
            <a:pPr/>
            <a:r>
              <a:t>問合せ  →  買取  の転換率向上を主目的に統合最適化</a:t>
            </a:r>
          </a:p>
        </p:txBody>
      </p:sp>
      <p:sp>
        <p:nvSpPr>
          <p:cNvPr id="980" name="Rounded Rectangle 47"/>
          <p:cNvSpPr/>
          <p:nvPr/>
        </p:nvSpPr>
        <p:spPr>
          <a:xfrm>
            <a:off x="6217920" y="5806440"/>
            <a:ext cx="5303521" cy="502921"/>
          </a:xfrm>
          <a:prstGeom prst="roundRect">
            <a:avLst>
              <a:gd name="adj" fmla="val 12000"/>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81" name="TextBox 48"/>
          <p:cNvSpPr txBox="1"/>
          <p:nvPr/>
        </p:nvSpPr>
        <p:spPr>
          <a:xfrm>
            <a:off x="6217920" y="5994399"/>
            <a:ext cx="5303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FFFFF"/>
                </a:solidFill>
                <a:latin typeface="游ゴシック体 ボールド"/>
                <a:ea typeface="游ゴシック体 ボールド"/>
                <a:cs typeface="游ゴシック体 ボールド"/>
                <a:sym typeface="游ゴシック体 ボールド"/>
              </a:defRPr>
            </a:lvl1pPr>
          </a:lstStyle>
          <a:p>
            <a:pPr/>
            <a:r>
              <a:t>市場・商材分析  ×  多軸最適化  ⇒  買取単価 +20%  |  運用費 約3倍</a:t>
            </a:r>
          </a:p>
        </p:txBody>
      </p:sp>
      <p:sp>
        <p:nvSpPr>
          <p:cNvPr id="982" name="TextBox 49"/>
          <p:cNvSpPr txBox="1"/>
          <p:nvPr/>
        </p:nvSpPr>
        <p:spPr>
          <a:xfrm>
            <a:off x="457199" y="6565392"/>
            <a:ext cx="112471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94A3B8"/>
                </a:solidFill>
                <a:latin typeface="游ゴシック体 ミディアム"/>
                <a:ea typeface="游ゴシック体 ミディアム"/>
                <a:cs typeface="游ゴシック体 ミディアム"/>
                <a:sym typeface="游ゴシック体 ミディアム"/>
              </a:defRPr>
            </a:lvl1pPr>
          </a:lstStyle>
          <a:p>
            <a:pPr/>
            <a:r>
              <a:t>※ 守秘義務の関係上、社名は非公開としております。詳細は個別にご説明いたします。</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84" name="Rectangle 1"/>
          <p:cNvSpPr/>
          <p:nvPr/>
        </p:nvSpPr>
        <p:spPr>
          <a:xfrm>
            <a:off x="-1" y="-1"/>
            <a:ext cx="12191697" cy="822962"/>
          </a:xfrm>
          <a:prstGeom prst="rect">
            <a:avLst/>
          </a:prstGeom>
          <a:solidFill>
            <a:srgbClr val="1B2A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85" name="TextBox 2"/>
          <p:cNvSpPr txBox="1"/>
          <p:nvPr/>
        </p:nvSpPr>
        <p:spPr>
          <a:xfrm>
            <a:off x="777239" y="137159"/>
            <a:ext cx="9052561" cy="447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800">
                <a:solidFill>
                  <a:srgbClr val="FFFFFF"/>
                </a:solidFill>
                <a:latin typeface="游ゴシック体 ボールド"/>
                <a:ea typeface="游ゴシック体 ボールド"/>
                <a:cs typeface="游ゴシック体 ボールド"/>
                <a:sym typeface="游ゴシック体 ボールド"/>
              </a:defRPr>
            </a:lvl1pPr>
          </a:lstStyle>
          <a:p>
            <a:pPr/>
            <a:r>
              <a:t>SERVICE MENU</a:t>
            </a:r>
          </a:p>
        </p:txBody>
      </p:sp>
      <p:sp>
        <p:nvSpPr>
          <p:cNvPr id="986" name="Rectangle 3"/>
          <p:cNvSpPr/>
          <p:nvPr/>
        </p:nvSpPr>
        <p:spPr>
          <a:xfrm>
            <a:off x="548639" y="1188720"/>
            <a:ext cx="5394962" cy="2377440"/>
          </a:xfrm>
          <a:prstGeom prst="rect">
            <a:avLst/>
          </a:prstGeom>
          <a:solidFill>
            <a:srgbClr val="F1F5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87" name="Rectangle 4"/>
          <p:cNvSpPr/>
          <p:nvPr/>
        </p:nvSpPr>
        <p:spPr>
          <a:xfrm>
            <a:off x="548640" y="1188720"/>
            <a:ext cx="63501" cy="2377440"/>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88" name="TextBox 5"/>
          <p:cNvSpPr txBox="1"/>
          <p:nvPr/>
        </p:nvSpPr>
        <p:spPr>
          <a:xfrm>
            <a:off x="960119" y="1463039"/>
            <a:ext cx="4480562" cy="34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1B2A4A"/>
                </a:solidFill>
                <a:latin typeface="+mj-lt"/>
                <a:ea typeface="+mj-ea"/>
                <a:cs typeface="+mj-cs"/>
                <a:sym typeface="Helvetica"/>
              </a:defRPr>
            </a:lvl1pPr>
          </a:lstStyle>
          <a:p>
            <a:pPr>
              <a:defRPr b="0">
                <a:latin typeface="游ゴシック体 ボールド"/>
                <a:ea typeface="游ゴシック体 ボールド"/>
                <a:cs typeface="游ゴシック体 ボールド"/>
                <a:sym typeface="游ゴシック体 ボールド"/>
              </a:defRPr>
            </a:pPr>
            <a:r>
              <a:rPr b="1">
                <a:latin typeface="+mj-lt"/>
                <a:ea typeface="+mj-ea"/>
                <a:cs typeface="+mj-cs"/>
                <a:sym typeface="Helvetica"/>
              </a:rPr>
              <a:t>広告運用代行・改善</a:t>
            </a:r>
          </a:p>
        </p:txBody>
      </p:sp>
      <p:sp>
        <p:nvSpPr>
          <p:cNvPr id="989" name="Rectangle 6"/>
          <p:cNvSpPr/>
          <p:nvPr/>
        </p:nvSpPr>
        <p:spPr>
          <a:xfrm>
            <a:off x="914400" y="2011679"/>
            <a:ext cx="4114800" cy="25401"/>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90" name="TextBox 7"/>
          <p:cNvSpPr txBox="1"/>
          <p:nvPr/>
        </p:nvSpPr>
        <p:spPr>
          <a:xfrm>
            <a:off x="960119" y="2194560"/>
            <a:ext cx="4480562" cy="83439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300">
                <a:solidFill>
                  <a:srgbClr val="64748B"/>
                </a:solidFill>
                <a:latin typeface="游ゴシック体 ミディアム"/>
                <a:ea typeface="游ゴシック体 ミディアム"/>
                <a:cs typeface="游ゴシック体 ミディアム"/>
                <a:sym typeface="游ゴシック体 ミディアム"/>
              </a:defRPr>
            </a:pPr>
            <a:r>
              <a:rPr>
                <a:latin typeface="+mj-lt"/>
                <a:ea typeface="+mj-ea"/>
                <a:cs typeface="+mj-cs"/>
                <a:sym typeface="Helvetica"/>
              </a:rPr>
              <a:t>リスティング広告、</a:t>
            </a:r>
            <a:r>
              <a:t>SNS</a:t>
            </a:r>
            <a:r>
              <a:rPr>
                <a:latin typeface="+mj-lt"/>
                <a:ea typeface="+mj-ea"/>
                <a:cs typeface="+mj-cs"/>
                <a:sym typeface="Helvetica"/>
              </a:rPr>
              <a:t>広告、ディスプレイ広告等の</a:t>
            </a:r>
            <a:br>
              <a:rPr>
                <a:latin typeface="+mj-lt"/>
                <a:ea typeface="+mj-ea"/>
                <a:cs typeface="+mj-cs"/>
                <a:sym typeface="Helvetica"/>
              </a:rPr>
            </a:br>
            <a:r>
              <a:rPr>
                <a:latin typeface="+mj-lt"/>
                <a:ea typeface="+mj-ea"/>
                <a:cs typeface="+mj-cs"/>
                <a:sym typeface="Helvetica"/>
              </a:rPr>
              <a:t>運用代行および既存アカウントの改善。</a:t>
            </a:r>
            <a:br>
              <a:rPr>
                <a:latin typeface="+mj-lt"/>
                <a:ea typeface="+mj-ea"/>
                <a:cs typeface="+mj-cs"/>
                <a:sym typeface="Helvetica"/>
              </a:rPr>
            </a:br>
            <a:r>
              <a:rPr>
                <a:latin typeface="+mj-lt"/>
                <a:ea typeface="+mj-ea"/>
                <a:cs typeface="+mj-cs"/>
                <a:sym typeface="Helvetica"/>
              </a:rPr>
              <a:t>媒体選定から入稿・運用・レポーティングまで一貫対応。</a:t>
            </a:r>
          </a:p>
        </p:txBody>
      </p:sp>
      <p:sp>
        <p:nvSpPr>
          <p:cNvPr id="991" name="Rectangle 8"/>
          <p:cNvSpPr/>
          <p:nvPr/>
        </p:nvSpPr>
        <p:spPr>
          <a:xfrm>
            <a:off x="6309358" y="1188720"/>
            <a:ext cx="5394962" cy="2377440"/>
          </a:xfrm>
          <a:prstGeom prst="rect">
            <a:avLst/>
          </a:prstGeom>
          <a:solidFill>
            <a:srgbClr val="F1F5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92" name="Rectangle 9"/>
          <p:cNvSpPr/>
          <p:nvPr/>
        </p:nvSpPr>
        <p:spPr>
          <a:xfrm>
            <a:off x="6309359" y="1188720"/>
            <a:ext cx="63501" cy="2377440"/>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93" name="TextBox 10"/>
          <p:cNvSpPr txBox="1"/>
          <p:nvPr/>
        </p:nvSpPr>
        <p:spPr>
          <a:xfrm>
            <a:off x="6720838" y="1463039"/>
            <a:ext cx="4480561" cy="34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1B2A4A"/>
                </a:solidFill>
                <a:latin typeface="+mj-lt"/>
                <a:ea typeface="+mj-ea"/>
                <a:cs typeface="+mj-cs"/>
                <a:sym typeface="Helvetica"/>
              </a:defRPr>
            </a:lvl1pPr>
          </a:lstStyle>
          <a:p>
            <a:pPr>
              <a:defRPr b="0">
                <a:latin typeface="游ゴシック体 ボールド"/>
                <a:ea typeface="游ゴシック体 ボールド"/>
                <a:cs typeface="游ゴシック体 ボールド"/>
                <a:sym typeface="游ゴシック体 ボールド"/>
              </a:defRPr>
            </a:pPr>
            <a:r>
              <a:rPr b="1">
                <a:latin typeface="+mj-lt"/>
                <a:ea typeface="+mj-ea"/>
                <a:cs typeface="+mj-cs"/>
                <a:sym typeface="Helvetica"/>
              </a:rPr>
              <a:t>マーケティング戦略立案</a:t>
            </a:r>
          </a:p>
        </p:txBody>
      </p:sp>
      <p:sp>
        <p:nvSpPr>
          <p:cNvPr id="994" name="Rectangle 11"/>
          <p:cNvSpPr/>
          <p:nvPr/>
        </p:nvSpPr>
        <p:spPr>
          <a:xfrm>
            <a:off x="6675118" y="2011679"/>
            <a:ext cx="4114801" cy="25401"/>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95" name="TextBox 12"/>
          <p:cNvSpPr txBox="1"/>
          <p:nvPr/>
        </p:nvSpPr>
        <p:spPr>
          <a:xfrm>
            <a:off x="6720838" y="2194560"/>
            <a:ext cx="4480561" cy="83439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300">
                <a:solidFill>
                  <a:srgbClr val="64748B"/>
                </a:solidFill>
                <a:latin typeface="游ゴシック体 ミディアム"/>
                <a:ea typeface="游ゴシック体 ミディアム"/>
                <a:cs typeface="游ゴシック体 ミディアム"/>
                <a:sym typeface="游ゴシック体 ミディアム"/>
              </a:defRPr>
            </a:pPr>
            <a:r>
              <a:rPr>
                <a:latin typeface="+mj-lt"/>
                <a:ea typeface="+mj-ea"/>
                <a:cs typeface="+mj-cs"/>
                <a:sym typeface="Helvetica"/>
              </a:rPr>
              <a:t>事業構造の理解に基づくマーケティング戦略の設計。</a:t>
            </a:r>
            <a:br>
              <a:rPr>
                <a:latin typeface="+mj-lt"/>
                <a:ea typeface="+mj-ea"/>
                <a:cs typeface="+mj-cs"/>
                <a:sym typeface="Helvetica"/>
              </a:rPr>
            </a:br>
            <a:r>
              <a:rPr>
                <a:latin typeface="+mj-lt"/>
                <a:ea typeface="+mj-ea"/>
                <a:cs typeface="+mj-cs"/>
                <a:sym typeface="Helvetica"/>
              </a:rPr>
              <a:t>広告に限らず、</a:t>
            </a:r>
            <a:r>
              <a:t>CRM/SFA</a:t>
            </a:r>
            <a:r>
              <a:rPr>
                <a:latin typeface="+mj-lt"/>
                <a:ea typeface="+mj-ea"/>
                <a:cs typeface="+mj-cs"/>
                <a:sym typeface="Helvetica"/>
              </a:rPr>
              <a:t>・</a:t>
            </a:r>
            <a:r>
              <a:t>LP</a:t>
            </a:r>
            <a:r>
              <a:rPr>
                <a:latin typeface="+mj-lt"/>
                <a:ea typeface="+mj-ea"/>
                <a:cs typeface="+mj-cs"/>
                <a:sym typeface="Helvetica"/>
              </a:rPr>
              <a:t>・</a:t>
            </a:r>
            <a:r>
              <a:t>SEO</a:t>
            </a:r>
            <a:r>
              <a:rPr>
                <a:latin typeface="+mj-lt"/>
                <a:ea typeface="+mj-ea"/>
                <a:cs typeface="+mj-cs"/>
                <a:sym typeface="Helvetica"/>
              </a:rPr>
              <a:t>・</a:t>
            </a:r>
            <a:r>
              <a:t>SNS</a:t>
            </a:r>
            <a:r>
              <a:rPr>
                <a:latin typeface="+mj-lt"/>
                <a:ea typeface="+mj-ea"/>
                <a:cs typeface="+mj-cs"/>
                <a:sym typeface="Helvetica"/>
              </a:rPr>
              <a:t>など</a:t>
            </a:r>
            <a:br>
              <a:rPr>
                <a:latin typeface="+mj-lt"/>
                <a:ea typeface="+mj-ea"/>
                <a:cs typeface="+mj-cs"/>
                <a:sym typeface="Helvetica"/>
              </a:rPr>
            </a:br>
            <a:r>
              <a:rPr>
                <a:latin typeface="+mj-lt"/>
                <a:ea typeface="+mj-ea"/>
                <a:cs typeface="+mj-cs"/>
                <a:sym typeface="Helvetica"/>
              </a:rPr>
              <a:t>統合的なデジタルマーケティング施策を提案。</a:t>
            </a:r>
          </a:p>
        </p:txBody>
      </p:sp>
      <p:sp>
        <p:nvSpPr>
          <p:cNvPr id="996" name="Rectangle 13"/>
          <p:cNvSpPr/>
          <p:nvPr/>
        </p:nvSpPr>
        <p:spPr>
          <a:xfrm>
            <a:off x="548639" y="3840479"/>
            <a:ext cx="5394962" cy="2377441"/>
          </a:xfrm>
          <a:prstGeom prst="rect">
            <a:avLst/>
          </a:prstGeom>
          <a:solidFill>
            <a:srgbClr val="F1F5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97" name="Rectangle 14"/>
          <p:cNvSpPr/>
          <p:nvPr/>
        </p:nvSpPr>
        <p:spPr>
          <a:xfrm>
            <a:off x="548640" y="3840479"/>
            <a:ext cx="63501" cy="2377441"/>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98" name="TextBox 15"/>
          <p:cNvSpPr txBox="1"/>
          <p:nvPr/>
        </p:nvSpPr>
        <p:spPr>
          <a:xfrm>
            <a:off x="960119" y="4114800"/>
            <a:ext cx="4480562" cy="3454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1B2A4A"/>
                </a:solidFill>
                <a:latin typeface="+mj-lt"/>
                <a:ea typeface="+mj-ea"/>
                <a:cs typeface="+mj-cs"/>
                <a:sym typeface="Helvetica"/>
              </a:defRPr>
            </a:lvl1pPr>
          </a:lstStyle>
          <a:p>
            <a:pPr>
              <a:defRPr b="0">
                <a:latin typeface="游ゴシック体 ボールド"/>
                <a:ea typeface="游ゴシック体 ボールド"/>
                <a:cs typeface="游ゴシック体 ボールド"/>
                <a:sym typeface="游ゴシック体 ボールド"/>
              </a:defRPr>
            </a:pPr>
            <a:r>
              <a:rPr b="1">
                <a:latin typeface="+mj-lt"/>
                <a:ea typeface="+mj-ea"/>
                <a:cs typeface="+mj-cs"/>
                <a:sym typeface="Helvetica"/>
              </a:rPr>
              <a:t>データ分析・レポーティング</a:t>
            </a:r>
          </a:p>
        </p:txBody>
      </p:sp>
      <p:sp>
        <p:nvSpPr>
          <p:cNvPr id="999" name="Rectangle 16"/>
          <p:cNvSpPr/>
          <p:nvPr/>
        </p:nvSpPr>
        <p:spPr>
          <a:xfrm>
            <a:off x="914400" y="4663440"/>
            <a:ext cx="4114800" cy="25401"/>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000" name="TextBox 17"/>
          <p:cNvSpPr txBox="1"/>
          <p:nvPr/>
        </p:nvSpPr>
        <p:spPr>
          <a:xfrm>
            <a:off x="960119" y="4846320"/>
            <a:ext cx="4480562" cy="83439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300">
                <a:solidFill>
                  <a:srgbClr val="64748B"/>
                </a:solidFill>
                <a:latin typeface="游ゴシック体 ミディアム"/>
                <a:ea typeface="游ゴシック体 ミディアム"/>
                <a:cs typeface="游ゴシック体 ミディアム"/>
                <a:sym typeface="游ゴシック体 ミディアム"/>
              </a:defRPr>
            </a:pPr>
            <a:r>
              <a:rPr>
                <a:latin typeface="+mj-lt"/>
                <a:ea typeface="+mj-ea"/>
                <a:cs typeface="+mj-cs"/>
                <a:sym typeface="Helvetica"/>
              </a:rPr>
              <a:t>広告データ・アクセスデータの分析と可視化。</a:t>
            </a:r>
            <a:br>
              <a:rPr>
                <a:latin typeface="+mj-lt"/>
                <a:ea typeface="+mj-ea"/>
                <a:cs typeface="+mj-cs"/>
                <a:sym typeface="Helvetica"/>
              </a:rPr>
            </a:br>
            <a:r>
              <a:rPr>
                <a:latin typeface="+mj-lt"/>
                <a:ea typeface="+mj-ea"/>
                <a:cs typeface="+mj-cs"/>
                <a:sym typeface="Helvetica"/>
              </a:rPr>
              <a:t>データドリブンな意思決定を支援し、</a:t>
            </a:r>
            <a:br>
              <a:rPr>
                <a:latin typeface="+mj-lt"/>
                <a:ea typeface="+mj-ea"/>
                <a:cs typeface="+mj-cs"/>
                <a:sym typeface="Helvetica"/>
              </a:rPr>
            </a:br>
            <a:r>
              <a:t>PDCA</a:t>
            </a:r>
            <a:r>
              <a:rPr>
                <a:latin typeface="+mj-lt"/>
                <a:ea typeface="+mj-ea"/>
                <a:cs typeface="+mj-cs"/>
                <a:sym typeface="Helvetica"/>
              </a:rPr>
              <a:t>サイクルの高速化を実現。</a:t>
            </a:r>
          </a:p>
        </p:txBody>
      </p:sp>
      <p:sp>
        <p:nvSpPr>
          <p:cNvPr id="1001" name="Rectangle 18"/>
          <p:cNvSpPr/>
          <p:nvPr/>
        </p:nvSpPr>
        <p:spPr>
          <a:xfrm>
            <a:off x="6309358" y="3840479"/>
            <a:ext cx="5394962" cy="2377441"/>
          </a:xfrm>
          <a:prstGeom prst="rect">
            <a:avLst/>
          </a:prstGeom>
          <a:solidFill>
            <a:srgbClr val="F1F5F9"/>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002" name="Rectangle 19"/>
          <p:cNvSpPr/>
          <p:nvPr/>
        </p:nvSpPr>
        <p:spPr>
          <a:xfrm>
            <a:off x="6309359" y="3840479"/>
            <a:ext cx="63501" cy="2377441"/>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003" name="TextBox 20"/>
          <p:cNvSpPr txBox="1"/>
          <p:nvPr/>
        </p:nvSpPr>
        <p:spPr>
          <a:xfrm>
            <a:off x="6720838" y="4114800"/>
            <a:ext cx="4480561" cy="3454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000">
                <a:solidFill>
                  <a:srgbClr val="1B2A4A"/>
                </a:solidFill>
                <a:latin typeface="游ゴシック体 ボールド"/>
                <a:ea typeface="游ゴシック体 ボールド"/>
                <a:cs typeface="游ゴシック体 ボールド"/>
                <a:sym typeface="游ゴシック体 ボールド"/>
              </a:defRPr>
            </a:pPr>
            <a:r>
              <a:t>AI</a:t>
            </a:r>
            <a:r>
              <a:rPr b="1">
                <a:latin typeface="+mj-lt"/>
                <a:ea typeface="+mj-ea"/>
                <a:cs typeface="+mj-cs"/>
                <a:sym typeface="Helvetica"/>
              </a:rPr>
              <a:t>活用コンサルティング</a:t>
            </a:r>
          </a:p>
        </p:txBody>
      </p:sp>
      <p:sp>
        <p:nvSpPr>
          <p:cNvPr id="1004" name="Rectangle 21"/>
          <p:cNvSpPr/>
          <p:nvPr/>
        </p:nvSpPr>
        <p:spPr>
          <a:xfrm>
            <a:off x="6675118" y="4663440"/>
            <a:ext cx="4114801" cy="25401"/>
          </a:xfrm>
          <a:prstGeom prst="rect">
            <a:avLst/>
          </a:prstGeom>
          <a:solidFill>
            <a:srgbClr val="E2E8F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005" name="TextBox 22"/>
          <p:cNvSpPr txBox="1"/>
          <p:nvPr/>
        </p:nvSpPr>
        <p:spPr>
          <a:xfrm>
            <a:off x="6720838" y="4846320"/>
            <a:ext cx="4480561" cy="83439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300">
                <a:solidFill>
                  <a:srgbClr val="64748B"/>
                </a:solidFill>
                <a:latin typeface="游ゴシック体 ミディアム"/>
                <a:ea typeface="游ゴシック体 ミディアム"/>
                <a:cs typeface="游ゴシック体 ミディアム"/>
                <a:sym typeface="游ゴシック体 ミディアム"/>
              </a:defRPr>
            </a:pPr>
            <a:r>
              <a:rPr>
                <a:latin typeface="+mj-lt"/>
                <a:ea typeface="+mj-ea"/>
                <a:cs typeface="+mj-cs"/>
                <a:sym typeface="Helvetica"/>
              </a:rPr>
              <a:t>マーケティング業務における</a:t>
            </a:r>
            <a:r>
              <a:t>AI</a:t>
            </a:r>
            <a:r>
              <a:rPr>
                <a:latin typeface="+mj-lt"/>
                <a:ea typeface="+mj-ea"/>
                <a:cs typeface="+mj-cs"/>
                <a:sym typeface="Helvetica"/>
              </a:rPr>
              <a:t>活用の導入支援。</a:t>
            </a:r>
            <a:br>
              <a:rPr>
                <a:latin typeface="+mj-lt"/>
                <a:ea typeface="+mj-ea"/>
                <a:cs typeface="+mj-cs"/>
                <a:sym typeface="Helvetica"/>
              </a:rPr>
            </a:br>
            <a:r>
              <a:rPr>
                <a:latin typeface="+mj-lt"/>
                <a:ea typeface="+mj-ea"/>
                <a:cs typeface="+mj-cs"/>
                <a:sym typeface="Helvetica"/>
              </a:rPr>
              <a:t>業務効率化・コスト削減・クリエイティブ制作の</a:t>
            </a:r>
            <a:br>
              <a:rPr>
                <a:latin typeface="+mj-lt"/>
                <a:ea typeface="+mj-ea"/>
                <a:cs typeface="+mj-cs"/>
                <a:sym typeface="Helvetica"/>
              </a:rPr>
            </a:br>
            <a:r>
              <a:rPr>
                <a:latin typeface="+mj-lt"/>
                <a:ea typeface="+mj-ea"/>
                <a:cs typeface="+mj-cs"/>
                <a:sym typeface="Helvetica"/>
              </a:rPr>
              <a:t>高速化を</a:t>
            </a:r>
            <a:r>
              <a:t>AI</a:t>
            </a:r>
            <a:r>
              <a:rPr>
                <a:latin typeface="+mj-lt"/>
                <a:ea typeface="+mj-ea"/>
                <a:cs typeface="+mj-cs"/>
                <a:sym typeface="Helvetica"/>
              </a:rPr>
              <a:t>ツールで実現。</a:t>
            </a:r>
          </a:p>
        </p:txBody>
      </p:sp>
      <p:sp>
        <p:nvSpPr>
          <p:cNvPr id="1006" name="Rectangle 23"/>
          <p:cNvSpPr/>
          <p:nvPr/>
        </p:nvSpPr>
        <p:spPr>
          <a:xfrm>
            <a:off x="3200399" y="6399022"/>
            <a:ext cx="5760722" cy="12700"/>
          </a:xfrm>
          <a:prstGeom prst="rect">
            <a:avLst/>
          </a:prstGeom>
          <a:solidFill>
            <a:srgbClr val="3B82F6"/>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007" name="TextBox 24"/>
          <p:cNvSpPr txBox="1"/>
          <p:nvPr/>
        </p:nvSpPr>
        <p:spPr>
          <a:xfrm>
            <a:off x="45719" y="6446520"/>
            <a:ext cx="12100257" cy="2692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1400">
                <a:solidFill>
                  <a:srgbClr val="1B2A4A"/>
                </a:solidFill>
                <a:latin typeface="+mj-lt"/>
                <a:ea typeface="+mj-ea"/>
                <a:cs typeface="+mj-cs"/>
                <a:sym typeface="Helvetica"/>
              </a:defRPr>
            </a:lvl1pPr>
          </a:lstStyle>
          <a:p>
            <a:pPr>
              <a:defRPr b="0">
                <a:latin typeface="游ゴシック体 ボールド"/>
                <a:ea typeface="游ゴシック体 ボールド"/>
                <a:cs typeface="游ゴシック体 ボールド"/>
                <a:sym typeface="游ゴシック体 ボールド"/>
              </a:defRPr>
            </a:pPr>
            <a:r>
              <a:rPr b="1">
                <a:latin typeface="+mj-lt"/>
                <a:ea typeface="+mj-ea"/>
                <a:cs typeface="+mj-cs"/>
                <a:sym typeface="Helvetica"/>
              </a:rPr>
              <a:t>まずはお気軽にご相談ください</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